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5" r:id="rId4"/>
    <p:sldMasterId id="2147483696" r:id="rId5"/>
    <p:sldMasterId id="2147483697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307" r:id="rId70"/>
    <p:sldId id="308" r:id="rId71"/>
    <p:sldId id="309" r:id="rId72"/>
    <p:sldId id="310" r:id="rId73"/>
  </p:sldIdLst>
  <p:sldSz cy="5143500" cx="9144000"/>
  <p:notesSz cx="6858000" cy="9144000"/>
  <p:embeddedFontLst>
    <p:embeddedFont>
      <p:font typeface="Roboto"/>
      <p:regular r:id="rId59"/>
      <p:bold r:id="rId60"/>
      <p:italic r:id="rId61"/>
      <p:boldItalic r:id="rId62"/>
    </p:embeddedFont>
    <p:embeddedFont>
      <p:font typeface="Proxima Nova"/>
      <p:regular r:id="rId63"/>
      <p:bold r:id="rId64"/>
      <p:italic r:id="rId65"/>
      <p:boldItalic r:id="rId66"/>
    </p:embeddedFont>
    <p:embeddedFont>
      <p:font typeface="Russo One"/>
      <p:regular r:id="rId67"/>
    </p:embeddedFont>
    <p:embeddedFont>
      <p:font typeface="Space Grotesk"/>
      <p:regular r:id="rId68"/>
      <p:bold r:id="rId6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4F5F033-BF0B-4492-AA63-D4A9614A0893}">
  <a:tblStyle styleId="{64F5F033-BF0B-4492-AA63-D4A9614A089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4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59" Type="http://schemas.openxmlformats.org/officeDocument/2006/relationships/font" Target="fonts/Roboto-regular.fntdata"/><Relationship Id="rId60" Type="http://schemas.openxmlformats.org/officeDocument/2006/relationships/font" Target="fonts/Roboto-bold.fntdata"/><Relationship Id="rId61" Type="http://schemas.openxmlformats.org/officeDocument/2006/relationships/font" Target="fonts/Roboto-italic.fntdata"/><Relationship Id="rId62" Type="http://schemas.openxmlformats.org/officeDocument/2006/relationships/font" Target="fonts/Roboto-boldItalic.fntdata"/><Relationship Id="rId63" Type="http://schemas.openxmlformats.org/officeDocument/2006/relationships/font" Target="fonts/ProximaNova-regular.fntdata"/><Relationship Id="rId64" Type="http://schemas.openxmlformats.org/officeDocument/2006/relationships/font" Target="fonts/ProximaNova-bold.fntdata"/><Relationship Id="rId65" Type="http://schemas.openxmlformats.org/officeDocument/2006/relationships/font" Target="fonts/ProximaNova-italic.fntdata"/><Relationship Id="rId66" Type="http://schemas.openxmlformats.org/officeDocument/2006/relationships/font" Target="fonts/ProximaNova-boldItalic.fntdata"/><Relationship Id="rId67" Type="http://schemas.openxmlformats.org/officeDocument/2006/relationships/font" Target="fonts/RussoOne-regular.fntdata"/><Relationship Id="rId68" Type="http://schemas.openxmlformats.org/officeDocument/2006/relationships/font" Target="fonts/SpaceGrotesk-regular.fntdata"/><Relationship Id="rId69" Type="http://schemas.openxmlformats.org/officeDocument/2006/relationships/font" Target="fonts/SpaceGrotesk-bold.fntdata"/><Relationship Id="rId70" Type="http://schemas.openxmlformats.org/officeDocument/2006/relationships/slide" Target="slides/slide52.xml"/><Relationship Id="rId71" Type="http://schemas.openxmlformats.org/officeDocument/2006/relationships/slide" Target="slides/slide53.xml"/><Relationship Id="rId72" Type="http://schemas.openxmlformats.org/officeDocument/2006/relationships/slide" Target="slides/slide54.xml"/><Relationship Id="rId73" Type="http://schemas.openxmlformats.org/officeDocument/2006/relationships/slide" Target="slides/slide5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hdefe09e0727a939_1_2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9" name="Google Shape;659;hdefe09e0727a939_1_2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hdefe09e0727a939_1_2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hdefe09e0727a939_1_3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4" name="Google Shape;674;hdefe09e0727a939_1_3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hdefe09e0727a939_1_3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hdefe09e0727a939_1_7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1" name="Google Shape;711;hdefe09e0727a939_1_7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hdefe09e0727a939_1_7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hdefe09e0727a939_1_10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8" name="Google Shape;748;hdefe09e0727a939_1_10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hdefe09e0727a939_1_10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hdefe09e0727a939_1_15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9" name="Google Shape;799;hdefe09e0727a939_1_15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hdefe09e0727a939_1_15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hdefe09e0727a939_1_19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2" name="Google Shape;832;hdefe09e0727a939_1_19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hdefe09e0727a939_1_19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hdefe09e0727a939_1_21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2" name="Google Shape;862;hdefe09e0727a939_1_21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hdefe09e0727a939_1_21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hdefe09e0727a939_1_26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6" name="Google Shape;906;hdefe09e0727a939_1_26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hdefe09e0727a939_1_26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hdefe09e0727a939_1_30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8" name="Google Shape;948;hdefe09e0727a939_1_30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hdefe09e0727a939_1_30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hdefe09e0727a939_1_34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5" name="Google Shape;995;hdefe09e0727a939_1_34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hdefe09e0727a939_1_34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hdefe09e0727a939_1_37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1" name="Google Shape;1021;hdefe09e0727a939_1_37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" name="Google Shape;1022;hdefe09e0727a939_1_37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hdefe09e0727a939_1_42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1" name="Google Shape;1071;hdefe09e0727a939_1_42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2" name="Google Shape;1072;hdefe09e0727a939_1_42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h7eb5e41b5f41dbd1_1_5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0" name="Google Shape;1100;h7eb5e41b5f41dbd1_1_5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Member  2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h7eb5e41b5f41dbd1_1_5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8" name="Google Shape;1138;h7eb5e41b5f41dbd1_1_5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Member 2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h7eb5e41b5f41dbd1_1_5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3" name="Google Shape;1173;h7eb5e41b5f41dbd1_1_5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Member 2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h7eb5e41b5f41dbd1_1_6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7" name="Google Shape;1207;h7eb5e41b5f41dbd1_1_6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Member 2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4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Google Shape;1275;h200d945b4442b860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6" name="Google Shape;1276;h200d945b4442b86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Member 3 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4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h200d945b4442b860_1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6" name="Google Shape;1286;h200d945b4442b860_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Member 3 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h3ab6cfe6ee8aee5e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5" name="Google Shape;1295;h3ab6cfe6ee8aee5e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Member 3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6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h671d4c2787732ec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Member 4</a:t>
            </a:r>
            <a:endParaRPr/>
          </a:p>
        </p:txBody>
      </p:sp>
      <p:sp>
        <p:nvSpPr>
          <p:cNvPr id="1308" name="Google Shape;1308;h671d4c2787732ec6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Google Shape;1330;h671d4c2787732ec6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Member 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1" name="Google Shape;1331;h671d4c2787732ec6_0_2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3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Google Shape;1364;h671d4c2787732ec6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Member 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5" name="Google Shape;1365;h671d4c2787732ec6_0_2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Google Shape;1391;h671d4c2787732ec6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Member 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2" name="Google Shape;1392;h671d4c2787732ec6_0_2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9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h671d4c2787732ec6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Member 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1" name="Google Shape;1411;h671d4c2787732ec6_0_2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7" name="Shape 1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Google Shape;1428;h671d4c2787732ec6_0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Member 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9" name="Google Shape;1429;h671d4c2787732ec6_0_3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5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Google Shape;1446;h671d4c2787732ec6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Member 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7" name="Google Shape;1447;h671d4c2787732ec6_0_3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5" name="Shape 1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" name="Google Shape;1476;h671d4c2787732ec6_0_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Member 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7" name="Google Shape;1477;h671d4c2787732ec6_0_3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1" name="Shape 1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Google Shape;1502;h1ec32d34f700da39_4_29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3" name="Google Shape;1503;h1ec32d34f700da39_4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MEMBER 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4" name="Shape 1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" name="Google Shape;1515;h1ec32d34f700da39_4_30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6" name="Google Shape;1516;h1ec32d34f700da39_4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MEMBER 5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2" name="Shape 1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Google Shape;1533;h1ec32d34f700da39_4_32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4" name="Google Shape;1534;h1ec32d34f700da39_4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MEMBER 5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3" name="Shape 1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Google Shape;1544;h1ec32d34f700da39_4_33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5" name="Google Shape;1545;h1ec32d34f700da39_4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MEMBER 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Member 6 - Dirty COW (CVE-2016-5195).</a:t>
            </a:r>
          </a:p>
          <a:p>
            <a:r>
              <a:t>Member 5's race was inside a root-owned program; this one is inside the kernel itself.</a:t>
            </a:r>
          </a:p>
          <a:p>
            <a:r>
              <a:t>Walk through the four lines, then switch to the live demo.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Live demo in the SEED VM as seed (VM: ISSD-Member6-SEED12).</a:t>
            </a:r>
          </a:p>
          <a:p>
            <a:r>
              <a:t>Prep script already created /zzz before class - see Member6/live-demo/DEMO_SCRIPT.md.</a:t>
            </a:r>
          </a:p>
          <a:p>
            <a:r>
              <a:t>Type the six commands slowly; every one is on the demo cheat-sheet.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Both are real runs from 9 October (evidence retained with hashes).</a:t>
            </a:r>
          </a:p>
          <a:p>
            <a:r>
              <a:t>Task 1: whole file became 111111******333333, root:root 0644 kept.</a:t>
            </a:r>
          </a:p>
          <a:p>
            <a:r>
              <a:t>Task 2: only the four UID digits changed; id -u printed 0, whoami root.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 defences: patch, update, limit, monitor.</a:t>
            </a:r>
          </a:p>
          <a:p>
            <a:r>
              <a:t>Deleting the spare template slides was this member's job as the last presenter.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1036125" y="1185500"/>
            <a:ext cx="7071900" cy="218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677750" y="3457600"/>
            <a:ext cx="5788500" cy="3936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 rot="5400000">
            <a:off x="7918485" y="4171013"/>
            <a:ext cx="91479" cy="1049003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2" name="Google Shape;12;p2"/>
          <p:cNvSpPr/>
          <p:nvPr/>
        </p:nvSpPr>
        <p:spPr>
          <a:xfrm rot="5400000">
            <a:off x="8637262" y="4604034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3" name="Google Shape;13;p2"/>
          <p:cNvSpPr/>
          <p:nvPr/>
        </p:nvSpPr>
        <p:spPr>
          <a:xfrm rot="5400000">
            <a:off x="816619" y="-100198"/>
            <a:ext cx="91479" cy="1188688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" name="Google Shape;14;p2"/>
          <p:cNvSpPr/>
          <p:nvPr/>
        </p:nvSpPr>
        <p:spPr>
          <a:xfrm rot="5400000">
            <a:off x="1593927" y="402685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" name="Google Shape;15;p2"/>
          <p:cNvSpPr/>
          <p:nvPr/>
        </p:nvSpPr>
        <p:spPr>
          <a:xfrm rot="5400000">
            <a:off x="1914062" y="5398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" name="Google Shape;16;p2"/>
          <p:cNvSpPr/>
          <p:nvPr/>
        </p:nvSpPr>
        <p:spPr>
          <a:xfrm rot="5400000">
            <a:off x="2005512" y="448422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7" name="Google Shape;17;p2"/>
          <p:cNvSpPr/>
          <p:nvPr/>
        </p:nvSpPr>
        <p:spPr>
          <a:xfrm rot="5400000">
            <a:off x="1822612" y="35694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2986550" y="1841900"/>
            <a:ext cx="5493000" cy="15795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20" name="Google Shape;20;p3"/>
          <p:cNvSpPr txBox="1"/>
          <p:nvPr>
            <p:ph hasCustomPrompt="1" idx="2" type="title"/>
          </p:nvPr>
        </p:nvSpPr>
        <p:spPr>
          <a:xfrm>
            <a:off x="1082250" y="1867588"/>
            <a:ext cx="1268400" cy="1269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9pPr>
          </a:lstStyle>
          <a:p>
            <a:r>
              <a:t>xx%</a:t>
            </a: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3300200" y="3421400"/>
            <a:ext cx="5179500" cy="47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/>
          <p:nvPr/>
        </p:nvSpPr>
        <p:spPr>
          <a:xfrm rot="5400000">
            <a:off x="8196035" y="3987363"/>
            <a:ext cx="91479" cy="1049003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3" name="Google Shape;23;p3"/>
          <p:cNvSpPr/>
          <p:nvPr/>
        </p:nvSpPr>
        <p:spPr>
          <a:xfrm rot="5400000">
            <a:off x="8914812" y="4420384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4" name="Google Shape;24;p3"/>
          <p:cNvSpPr/>
          <p:nvPr/>
        </p:nvSpPr>
        <p:spPr>
          <a:xfrm rot="5400000">
            <a:off x="816619" y="-109685"/>
            <a:ext cx="91479" cy="1188688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5" name="Google Shape;25;p3"/>
          <p:cNvSpPr/>
          <p:nvPr/>
        </p:nvSpPr>
        <p:spPr>
          <a:xfrm rot="5400000">
            <a:off x="1593927" y="393197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6" name="Google Shape;26;p3"/>
          <p:cNvSpPr/>
          <p:nvPr/>
        </p:nvSpPr>
        <p:spPr>
          <a:xfrm rot="5400000">
            <a:off x="1914062" y="530409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7" name="Google Shape;27;p3"/>
          <p:cNvSpPr/>
          <p:nvPr/>
        </p:nvSpPr>
        <p:spPr>
          <a:xfrm rot="5400000">
            <a:off x="2005512" y="438934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8" name="Google Shape;28;p3"/>
          <p:cNvSpPr/>
          <p:nvPr/>
        </p:nvSpPr>
        <p:spPr>
          <a:xfrm rot="5400000">
            <a:off x="1822612" y="347459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720000" y="1370025"/>
            <a:ext cx="7704000" cy="319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9pPr>
          </a:lstStyle>
          <a:p/>
        </p:txBody>
      </p:sp>
      <p:sp>
        <p:nvSpPr>
          <p:cNvPr id="32" name="Google Shape;32;p4"/>
          <p:cNvSpPr/>
          <p:nvPr/>
        </p:nvSpPr>
        <p:spPr>
          <a:xfrm rot="5400000">
            <a:off x="93645" y="684547"/>
            <a:ext cx="91479" cy="28758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3" name="Google Shape;33;p4"/>
          <p:cNvSpPr/>
          <p:nvPr/>
        </p:nvSpPr>
        <p:spPr>
          <a:xfrm rot="5400000">
            <a:off x="649087" y="69114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4" name="Google Shape;34;p4"/>
          <p:cNvSpPr/>
          <p:nvPr/>
        </p:nvSpPr>
        <p:spPr>
          <a:xfrm rot="5400000">
            <a:off x="420402" y="736885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5" name="Google Shape;35;p4"/>
          <p:cNvSpPr/>
          <p:nvPr/>
        </p:nvSpPr>
        <p:spPr>
          <a:xfrm rot="5400000">
            <a:off x="831987" y="782622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6" name="Google Shape;36;p4"/>
          <p:cNvSpPr/>
          <p:nvPr/>
        </p:nvSpPr>
        <p:spPr>
          <a:xfrm rot="5400000">
            <a:off x="740537" y="8740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7" name="Google Shape;37;p4"/>
          <p:cNvSpPr/>
          <p:nvPr/>
        </p:nvSpPr>
        <p:spPr>
          <a:xfrm rot="5400000">
            <a:off x="8880022" y="609252"/>
            <a:ext cx="91479" cy="43822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8" name="Google Shape;38;p4"/>
          <p:cNvSpPr/>
          <p:nvPr/>
        </p:nvSpPr>
        <p:spPr>
          <a:xfrm rot="5400000">
            <a:off x="8567543" y="643959"/>
            <a:ext cx="91479" cy="185861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9" name="Google Shape;39;p4"/>
          <p:cNvSpPr/>
          <p:nvPr/>
        </p:nvSpPr>
        <p:spPr>
          <a:xfrm rot="5400000">
            <a:off x="8428651" y="78267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0" name="Google Shape;40;p4"/>
          <p:cNvSpPr/>
          <p:nvPr/>
        </p:nvSpPr>
        <p:spPr>
          <a:xfrm rot="5400000">
            <a:off x="8236926" y="78267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1" name="Google Shape;41;p4"/>
          <p:cNvSpPr/>
          <p:nvPr/>
        </p:nvSpPr>
        <p:spPr>
          <a:xfrm rot="5400000">
            <a:off x="8520076" y="87414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 txBox="1"/>
          <p:nvPr>
            <p:ph idx="1" type="subTitle"/>
          </p:nvPr>
        </p:nvSpPr>
        <p:spPr>
          <a:xfrm>
            <a:off x="2399250" y="1448200"/>
            <a:ext cx="5254500" cy="42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44" name="Google Shape;44;p5"/>
          <p:cNvSpPr txBox="1"/>
          <p:nvPr>
            <p:ph idx="2" type="subTitle"/>
          </p:nvPr>
        </p:nvSpPr>
        <p:spPr>
          <a:xfrm>
            <a:off x="2399250" y="3051625"/>
            <a:ext cx="5254500" cy="42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45" name="Google Shape;45;p5"/>
          <p:cNvSpPr txBox="1"/>
          <p:nvPr>
            <p:ph idx="3" type="subTitle"/>
          </p:nvPr>
        </p:nvSpPr>
        <p:spPr>
          <a:xfrm>
            <a:off x="2399250" y="1814000"/>
            <a:ext cx="5254500" cy="10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4" type="subTitle"/>
          </p:nvPr>
        </p:nvSpPr>
        <p:spPr>
          <a:xfrm>
            <a:off x="2399250" y="3417425"/>
            <a:ext cx="5254500" cy="10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8" name="Google Shape;48;p5"/>
          <p:cNvSpPr/>
          <p:nvPr/>
        </p:nvSpPr>
        <p:spPr>
          <a:xfrm rot="5400000">
            <a:off x="8879160" y="574877"/>
            <a:ext cx="91479" cy="43822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9" name="Google Shape;49;p5"/>
          <p:cNvSpPr/>
          <p:nvPr/>
        </p:nvSpPr>
        <p:spPr>
          <a:xfrm rot="5400000">
            <a:off x="8478731" y="792534"/>
            <a:ext cx="91479" cy="185861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0" name="Google Shape;50;p5"/>
          <p:cNvSpPr/>
          <p:nvPr/>
        </p:nvSpPr>
        <p:spPr>
          <a:xfrm rot="5400000">
            <a:off x="98045" y="650222"/>
            <a:ext cx="91479" cy="28758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1" name="Google Shape;51;p5"/>
          <p:cNvSpPr/>
          <p:nvPr/>
        </p:nvSpPr>
        <p:spPr>
          <a:xfrm rot="5400000">
            <a:off x="439487" y="656822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2" name="Google Shape;52;p5"/>
          <p:cNvSpPr/>
          <p:nvPr/>
        </p:nvSpPr>
        <p:spPr>
          <a:xfrm rot="5400000">
            <a:off x="210802" y="519585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3" name="Google Shape;53;p5"/>
          <p:cNvSpPr/>
          <p:nvPr/>
        </p:nvSpPr>
        <p:spPr>
          <a:xfrm rot="5400000">
            <a:off x="713837" y="7482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4" name="Google Shape;54;p5"/>
          <p:cNvSpPr/>
          <p:nvPr/>
        </p:nvSpPr>
        <p:spPr>
          <a:xfrm rot="5400000">
            <a:off x="530937" y="83974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5" name="Google Shape;55;p5"/>
          <p:cNvSpPr/>
          <p:nvPr/>
        </p:nvSpPr>
        <p:spPr>
          <a:xfrm rot="5400000">
            <a:off x="8340139" y="74829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6" name="Google Shape;56;p5"/>
          <p:cNvSpPr/>
          <p:nvPr/>
        </p:nvSpPr>
        <p:spPr>
          <a:xfrm rot="5400000">
            <a:off x="8705739" y="74829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7" name="Google Shape;57;p5"/>
          <p:cNvSpPr/>
          <p:nvPr/>
        </p:nvSpPr>
        <p:spPr>
          <a:xfrm rot="5400000">
            <a:off x="8522939" y="65682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8" name="Google Shape;58;p5"/>
          <p:cNvSpPr/>
          <p:nvPr/>
        </p:nvSpPr>
        <p:spPr>
          <a:xfrm rot="5400000">
            <a:off x="622387" y="8397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9" name="Google Shape;59;p5"/>
          <p:cNvSpPr/>
          <p:nvPr/>
        </p:nvSpPr>
        <p:spPr>
          <a:xfrm rot="5400000">
            <a:off x="287562" y="8397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0" name="Google Shape;60;p5"/>
          <p:cNvSpPr/>
          <p:nvPr/>
        </p:nvSpPr>
        <p:spPr>
          <a:xfrm rot="5400000">
            <a:off x="8614339" y="83974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3" name="Google Shape;63;p6"/>
          <p:cNvSpPr/>
          <p:nvPr/>
        </p:nvSpPr>
        <p:spPr>
          <a:xfrm rot="5400000">
            <a:off x="8880022" y="609252"/>
            <a:ext cx="91479" cy="43822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4" name="Google Shape;64;p6"/>
          <p:cNvSpPr/>
          <p:nvPr/>
        </p:nvSpPr>
        <p:spPr>
          <a:xfrm rot="5400000">
            <a:off x="8567543" y="643959"/>
            <a:ext cx="91479" cy="185861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5" name="Google Shape;65;p6"/>
          <p:cNvSpPr/>
          <p:nvPr/>
        </p:nvSpPr>
        <p:spPr>
          <a:xfrm rot="5400000">
            <a:off x="93645" y="684547"/>
            <a:ext cx="91479" cy="28758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6" name="Google Shape;66;p6"/>
          <p:cNvSpPr/>
          <p:nvPr/>
        </p:nvSpPr>
        <p:spPr>
          <a:xfrm rot="5400000">
            <a:off x="649087" y="69114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7" name="Google Shape;67;p6"/>
          <p:cNvSpPr/>
          <p:nvPr/>
        </p:nvSpPr>
        <p:spPr>
          <a:xfrm rot="5400000">
            <a:off x="420402" y="736885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8" name="Google Shape;68;p6"/>
          <p:cNvSpPr/>
          <p:nvPr/>
        </p:nvSpPr>
        <p:spPr>
          <a:xfrm rot="5400000">
            <a:off x="831987" y="782622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9" name="Google Shape;69;p6"/>
          <p:cNvSpPr/>
          <p:nvPr/>
        </p:nvSpPr>
        <p:spPr>
          <a:xfrm rot="5400000">
            <a:off x="740537" y="8740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70" name="Google Shape;70;p6"/>
          <p:cNvSpPr/>
          <p:nvPr/>
        </p:nvSpPr>
        <p:spPr>
          <a:xfrm rot="5400000">
            <a:off x="8428651" y="78267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71" name="Google Shape;71;p6"/>
          <p:cNvSpPr/>
          <p:nvPr/>
        </p:nvSpPr>
        <p:spPr>
          <a:xfrm rot="5400000">
            <a:off x="8236926" y="78267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72" name="Google Shape;72;p6"/>
          <p:cNvSpPr/>
          <p:nvPr/>
        </p:nvSpPr>
        <p:spPr>
          <a:xfrm rot="5400000">
            <a:off x="8520076" y="87414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4491100" y="1576150"/>
            <a:ext cx="3939600" cy="29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6" name="Google Shape;76;p7"/>
          <p:cNvSpPr/>
          <p:nvPr>
            <p:ph idx="2" type="pic"/>
          </p:nvPr>
        </p:nvSpPr>
        <p:spPr>
          <a:xfrm>
            <a:off x="720000" y="1374425"/>
            <a:ext cx="3232800" cy="3232800"/>
          </a:xfrm>
          <a:prstGeom prst="snip1Rect">
            <a:avLst>
              <a:gd fmla="val 16667" name="adj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7"/>
          <p:cNvSpPr/>
          <p:nvPr/>
        </p:nvSpPr>
        <p:spPr>
          <a:xfrm rot="5400000">
            <a:off x="93645" y="684547"/>
            <a:ext cx="91479" cy="28758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78" name="Google Shape;78;p7"/>
          <p:cNvSpPr/>
          <p:nvPr/>
        </p:nvSpPr>
        <p:spPr>
          <a:xfrm rot="5400000">
            <a:off x="649087" y="69114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79" name="Google Shape;79;p7"/>
          <p:cNvSpPr/>
          <p:nvPr/>
        </p:nvSpPr>
        <p:spPr>
          <a:xfrm rot="5400000">
            <a:off x="420402" y="736885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80" name="Google Shape;80;p7"/>
          <p:cNvSpPr/>
          <p:nvPr/>
        </p:nvSpPr>
        <p:spPr>
          <a:xfrm rot="5400000">
            <a:off x="831987" y="782622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81" name="Google Shape;81;p7"/>
          <p:cNvSpPr/>
          <p:nvPr/>
        </p:nvSpPr>
        <p:spPr>
          <a:xfrm rot="5400000">
            <a:off x="740537" y="8740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82" name="Google Shape;82;p7"/>
          <p:cNvSpPr/>
          <p:nvPr/>
        </p:nvSpPr>
        <p:spPr>
          <a:xfrm rot="5400000">
            <a:off x="8880022" y="609252"/>
            <a:ext cx="91479" cy="43822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83" name="Google Shape;83;p7"/>
          <p:cNvSpPr/>
          <p:nvPr/>
        </p:nvSpPr>
        <p:spPr>
          <a:xfrm rot="5400000">
            <a:off x="8567543" y="643959"/>
            <a:ext cx="91479" cy="185861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84" name="Google Shape;84;p7"/>
          <p:cNvSpPr/>
          <p:nvPr/>
        </p:nvSpPr>
        <p:spPr>
          <a:xfrm rot="5400000">
            <a:off x="8428651" y="78267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85" name="Google Shape;85;p7"/>
          <p:cNvSpPr/>
          <p:nvPr/>
        </p:nvSpPr>
        <p:spPr>
          <a:xfrm rot="5400000">
            <a:off x="8236926" y="78267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86" name="Google Shape;86;p7"/>
          <p:cNvSpPr/>
          <p:nvPr/>
        </p:nvSpPr>
        <p:spPr>
          <a:xfrm rot="5400000">
            <a:off x="8520076" y="87414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8"/>
          <p:cNvSpPr txBox="1"/>
          <p:nvPr>
            <p:ph type="title"/>
          </p:nvPr>
        </p:nvSpPr>
        <p:spPr>
          <a:xfrm>
            <a:off x="988975" y="1307100"/>
            <a:ext cx="7166100" cy="25293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89" name="Google Shape;89;p8"/>
          <p:cNvSpPr/>
          <p:nvPr/>
        </p:nvSpPr>
        <p:spPr>
          <a:xfrm rot="5400000">
            <a:off x="7918485" y="4171013"/>
            <a:ext cx="91479" cy="1049003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90" name="Google Shape;90;p8"/>
          <p:cNvSpPr/>
          <p:nvPr/>
        </p:nvSpPr>
        <p:spPr>
          <a:xfrm rot="5400000">
            <a:off x="8637262" y="4604034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91" name="Google Shape;91;p8"/>
          <p:cNvSpPr/>
          <p:nvPr/>
        </p:nvSpPr>
        <p:spPr>
          <a:xfrm rot="5400000">
            <a:off x="816619" y="-100198"/>
            <a:ext cx="91479" cy="1188688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92" name="Google Shape;92;p8"/>
          <p:cNvSpPr/>
          <p:nvPr/>
        </p:nvSpPr>
        <p:spPr>
          <a:xfrm rot="5400000">
            <a:off x="1593927" y="402685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93" name="Google Shape;93;p8"/>
          <p:cNvSpPr/>
          <p:nvPr/>
        </p:nvSpPr>
        <p:spPr>
          <a:xfrm rot="5400000">
            <a:off x="1914062" y="5398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94" name="Google Shape;94;p8"/>
          <p:cNvSpPr/>
          <p:nvPr/>
        </p:nvSpPr>
        <p:spPr>
          <a:xfrm rot="5400000">
            <a:off x="2005512" y="448422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95" name="Google Shape;95;p8"/>
          <p:cNvSpPr/>
          <p:nvPr/>
        </p:nvSpPr>
        <p:spPr>
          <a:xfrm rot="5400000">
            <a:off x="1822612" y="35694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9"/>
          <p:cNvSpPr txBox="1"/>
          <p:nvPr>
            <p:ph idx="1" type="subTitle"/>
          </p:nvPr>
        </p:nvSpPr>
        <p:spPr>
          <a:xfrm>
            <a:off x="877589" y="1681900"/>
            <a:ext cx="3597000" cy="23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9" name="Google Shape;99;p9"/>
          <p:cNvSpPr txBox="1"/>
          <p:nvPr>
            <p:ph idx="2" type="subTitle"/>
          </p:nvPr>
        </p:nvSpPr>
        <p:spPr>
          <a:xfrm>
            <a:off x="4675336" y="1681900"/>
            <a:ext cx="3597000" cy="23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9"/>
          <p:cNvSpPr/>
          <p:nvPr/>
        </p:nvSpPr>
        <p:spPr>
          <a:xfrm rot="5400000">
            <a:off x="8879160" y="574877"/>
            <a:ext cx="91479" cy="43822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01" name="Google Shape;101;p9"/>
          <p:cNvSpPr/>
          <p:nvPr/>
        </p:nvSpPr>
        <p:spPr>
          <a:xfrm rot="5400000">
            <a:off x="8478731" y="792534"/>
            <a:ext cx="91479" cy="185861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02" name="Google Shape;102;p9"/>
          <p:cNvSpPr/>
          <p:nvPr/>
        </p:nvSpPr>
        <p:spPr>
          <a:xfrm rot="5400000">
            <a:off x="98045" y="650222"/>
            <a:ext cx="91479" cy="28758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03" name="Google Shape;103;p9"/>
          <p:cNvSpPr/>
          <p:nvPr/>
        </p:nvSpPr>
        <p:spPr>
          <a:xfrm rot="5400000">
            <a:off x="439487" y="656822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04" name="Google Shape;104;p9"/>
          <p:cNvSpPr/>
          <p:nvPr/>
        </p:nvSpPr>
        <p:spPr>
          <a:xfrm rot="5400000">
            <a:off x="210802" y="519585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05" name="Google Shape;105;p9"/>
          <p:cNvSpPr/>
          <p:nvPr/>
        </p:nvSpPr>
        <p:spPr>
          <a:xfrm rot="5400000">
            <a:off x="713837" y="7482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06" name="Google Shape;106;p9"/>
          <p:cNvSpPr/>
          <p:nvPr/>
        </p:nvSpPr>
        <p:spPr>
          <a:xfrm rot="5400000">
            <a:off x="530937" y="83974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07" name="Google Shape;107;p9"/>
          <p:cNvSpPr/>
          <p:nvPr/>
        </p:nvSpPr>
        <p:spPr>
          <a:xfrm rot="5400000">
            <a:off x="8340139" y="74829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08" name="Google Shape;108;p9"/>
          <p:cNvSpPr/>
          <p:nvPr/>
        </p:nvSpPr>
        <p:spPr>
          <a:xfrm rot="5400000">
            <a:off x="8705739" y="74829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09" name="Google Shape;109;p9"/>
          <p:cNvSpPr/>
          <p:nvPr/>
        </p:nvSpPr>
        <p:spPr>
          <a:xfrm rot="5400000">
            <a:off x="8522939" y="65682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10" name="Google Shape;110;p9"/>
          <p:cNvSpPr/>
          <p:nvPr/>
        </p:nvSpPr>
        <p:spPr>
          <a:xfrm rot="5400000">
            <a:off x="622387" y="8397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11" name="Google Shape;111;p9"/>
          <p:cNvSpPr/>
          <p:nvPr/>
        </p:nvSpPr>
        <p:spPr>
          <a:xfrm rot="5400000">
            <a:off x="287562" y="8397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12" name="Google Shape;112;p9"/>
          <p:cNvSpPr/>
          <p:nvPr/>
        </p:nvSpPr>
        <p:spPr>
          <a:xfrm rot="5400000">
            <a:off x="8614339" y="83974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0"/>
          <p:cNvSpPr/>
          <p:nvPr>
            <p:ph idx="2" type="pic"/>
          </p:nvPr>
        </p:nvSpPr>
        <p:spPr>
          <a:xfrm>
            <a:off x="0" y="-5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5" name="Google Shape;115;p10"/>
          <p:cNvSpPr txBox="1"/>
          <p:nvPr>
            <p:ph type="title"/>
          </p:nvPr>
        </p:nvSpPr>
        <p:spPr>
          <a:xfrm>
            <a:off x="713375" y="3628600"/>
            <a:ext cx="7717500" cy="94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1"/>
          <p:cNvSpPr txBox="1"/>
          <p:nvPr>
            <p:ph hasCustomPrompt="1" type="title"/>
          </p:nvPr>
        </p:nvSpPr>
        <p:spPr>
          <a:xfrm>
            <a:off x="1284000" y="1776700"/>
            <a:ext cx="6576000" cy="79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18" name="Google Shape;118;p11"/>
          <p:cNvSpPr txBox="1"/>
          <p:nvPr>
            <p:ph idx="1" type="subTitle"/>
          </p:nvPr>
        </p:nvSpPr>
        <p:spPr>
          <a:xfrm>
            <a:off x="1284000" y="3138200"/>
            <a:ext cx="6576000" cy="374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19" name="Google Shape;119;p11"/>
          <p:cNvSpPr/>
          <p:nvPr/>
        </p:nvSpPr>
        <p:spPr>
          <a:xfrm rot="5400000">
            <a:off x="7918485" y="4171013"/>
            <a:ext cx="91479" cy="1049003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20" name="Google Shape;120;p11"/>
          <p:cNvSpPr/>
          <p:nvPr/>
        </p:nvSpPr>
        <p:spPr>
          <a:xfrm rot="5400000">
            <a:off x="8637262" y="4604034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21" name="Google Shape;121;p11"/>
          <p:cNvSpPr/>
          <p:nvPr/>
        </p:nvSpPr>
        <p:spPr>
          <a:xfrm rot="5400000">
            <a:off x="816619" y="-100198"/>
            <a:ext cx="91479" cy="1188688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22" name="Google Shape;122;p11"/>
          <p:cNvSpPr/>
          <p:nvPr/>
        </p:nvSpPr>
        <p:spPr>
          <a:xfrm rot="5400000">
            <a:off x="1593927" y="402685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23" name="Google Shape;123;p11"/>
          <p:cNvSpPr/>
          <p:nvPr/>
        </p:nvSpPr>
        <p:spPr>
          <a:xfrm rot="5400000">
            <a:off x="1914062" y="5398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24" name="Google Shape;124;p11"/>
          <p:cNvSpPr/>
          <p:nvPr/>
        </p:nvSpPr>
        <p:spPr>
          <a:xfrm rot="5400000">
            <a:off x="2005512" y="448422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25" name="Google Shape;125;p11"/>
          <p:cNvSpPr/>
          <p:nvPr/>
        </p:nvSpPr>
        <p:spPr>
          <a:xfrm rot="5400000">
            <a:off x="1822612" y="35694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0" name="Google Shape;130;p14"/>
          <p:cNvSpPr/>
          <p:nvPr/>
        </p:nvSpPr>
        <p:spPr>
          <a:xfrm rot="5400000">
            <a:off x="8879160" y="574877"/>
            <a:ext cx="91479" cy="43822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31" name="Google Shape;131;p14"/>
          <p:cNvSpPr/>
          <p:nvPr/>
        </p:nvSpPr>
        <p:spPr>
          <a:xfrm rot="5400000">
            <a:off x="8478731" y="792534"/>
            <a:ext cx="91479" cy="185861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32" name="Google Shape;132;p14"/>
          <p:cNvSpPr/>
          <p:nvPr/>
        </p:nvSpPr>
        <p:spPr>
          <a:xfrm rot="5400000">
            <a:off x="98045" y="650222"/>
            <a:ext cx="91479" cy="28758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33" name="Google Shape;133;p14"/>
          <p:cNvSpPr/>
          <p:nvPr/>
        </p:nvSpPr>
        <p:spPr>
          <a:xfrm rot="5400000">
            <a:off x="439487" y="656822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34" name="Google Shape;134;p14"/>
          <p:cNvSpPr/>
          <p:nvPr/>
        </p:nvSpPr>
        <p:spPr>
          <a:xfrm rot="5400000">
            <a:off x="210802" y="519585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35" name="Google Shape;135;p14"/>
          <p:cNvSpPr/>
          <p:nvPr/>
        </p:nvSpPr>
        <p:spPr>
          <a:xfrm rot="5400000">
            <a:off x="713837" y="7482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36" name="Google Shape;136;p14"/>
          <p:cNvSpPr/>
          <p:nvPr/>
        </p:nvSpPr>
        <p:spPr>
          <a:xfrm rot="5400000">
            <a:off x="530937" y="83974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37" name="Google Shape;137;p14"/>
          <p:cNvSpPr/>
          <p:nvPr/>
        </p:nvSpPr>
        <p:spPr>
          <a:xfrm rot="5400000">
            <a:off x="8340139" y="74829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38" name="Google Shape;138;p14"/>
          <p:cNvSpPr/>
          <p:nvPr/>
        </p:nvSpPr>
        <p:spPr>
          <a:xfrm rot="5400000">
            <a:off x="8705739" y="74829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39" name="Google Shape;139;p14"/>
          <p:cNvSpPr/>
          <p:nvPr/>
        </p:nvSpPr>
        <p:spPr>
          <a:xfrm rot="5400000">
            <a:off x="8522939" y="65682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0" name="Google Shape;140;p14"/>
          <p:cNvSpPr/>
          <p:nvPr/>
        </p:nvSpPr>
        <p:spPr>
          <a:xfrm rot="5400000">
            <a:off x="622387" y="8397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1" name="Google Shape;141;p14"/>
          <p:cNvSpPr/>
          <p:nvPr/>
        </p:nvSpPr>
        <p:spPr>
          <a:xfrm rot="5400000">
            <a:off x="287562" y="8397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2" name="Google Shape;142;p14"/>
          <p:cNvSpPr/>
          <p:nvPr/>
        </p:nvSpPr>
        <p:spPr>
          <a:xfrm rot="5400000">
            <a:off x="8614339" y="83974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">
  <p:cSld name="CUSTOM_1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5"/>
          <p:cNvSpPr txBox="1"/>
          <p:nvPr>
            <p:ph idx="1" type="subTitle"/>
          </p:nvPr>
        </p:nvSpPr>
        <p:spPr>
          <a:xfrm>
            <a:off x="1510775" y="3995200"/>
            <a:ext cx="6122400" cy="61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15"/>
          <p:cNvSpPr txBox="1"/>
          <p:nvPr>
            <p:ph type="title"/>
          </p:nvPr>
        </p:nvSpPr>
        <p:spPr>
          <a:xfrm>
            <a:off x="7151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6" name="Google Shape;146;p15"/>
          <p:cNvSpPr/>
          <p:nvPr/>
        </p:nvSpPr>
        <p:spPr>
          <a:xfrm rot="5400000">
            <a:off x="93645" y="684547"/>
            <a:ext cx="91479" cy="28758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7" name="Google Shape;147;p15"/>
          <p:cNvSpPr/>
          <p:nvPr/>
        </p:nvSpPr>
        <p:spPr>
          <a:xfrm rot="5400000">
            <a:off x="649087" y="69114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8" name="Google Shape;148;p15"/>
          <p:cNvSpPr/>
          <p:nvPr/>
        </p:nvSpPr>
        <p:spPr>
          <a:xfrm rot="5400000">
            <a:off x="420402" y="736885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9" name="Google Shape;149;p15"/>
          <p:cNvSpPr/>
          <p:nvPr/>
        </p:nvSpPr>
        <p:spPr>
          <a:xfrm rot="5400000">
            <a:off x="831987" y="782622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0" name="Google Shape;150;p15"/>
          <p:cNvSpPr/>
          <p:nvPr/>
        </p:nvSpPr>
        <p:spPr>
          <a:xfrm rot="5400000">
            <a:off x="740537" y="8740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1" name="Google Shape;151;p15"/>
          <p:cNvSpPr/>
          <p:nvPr/>
        </p:nvSpPr>
        <p:spPr>
          <a:xfrm rot="5400000">
            <a:off x="8880022" y="609252"/>
            <a:ext cx="91479" cy="43822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2" name="Google Shape;152;p15"/>
          <p:cNvSpPr/>
          <p:nvPr/>
        </p:nvSpPr>
        <p:spPr>
          <a:xfrm rot="5400000">
            <a:off x="8567543" y="643959"/>
            <a:ext cx="91479" cy="185861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3" name="Google Shape;153;p15"/>
          <p:cNvSpPr/>
          <p:nvPr/>
        </p:nvSpPr>
        <p:spPr>
          <a:xfrm rot="5400000">
            <a:off x="8428651" y="78267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4" name="Google Shape;154;p15"/>
          <p:cNvSpPr/>
          <p:nvPr/>
        </p:nvSpPr>
        <p:spPr>
          <a:xfrm rot="5400000">
            <a:off x="8236926" y="78267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5" name="Google Shape;155;p15"/>
          <p:cNvSpPr/>
          <p:nvPr/>
        </p:nvSpPr>
        <p:spPr>
          <a:xfrm rot="5400000">
            <a:off x="8520076" y="87414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"/>
          <p:cNvSpPr txBox="1"/>
          <p:nvPr>
            <p:ph idx="1" type="subTitle"/>
          </p:nvPr>
        </p:nvSpPr>
        <p:spPr>
          <a:xfrm>
            <a:off x="720000" y="3275725"/>
            <a:ext cx="2469000" cy="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16"/>
          <p:cNvSpPr txBox="1"/>
          <p:nvPr>
            <p:ph idx="2" type="subTitle"/>
          </p:nvPr>
        </p:nvSpPr>
        <p:spPr>
          <a:xfrm>
            <a:off x="3337500" y="3274789"/>
            <a:ext cx="2469000" cy="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16"/>
          <p:cNvSpPr txBox="1"/>
          <p:nvPr>
            <p:ph idx="3" type="subTitle"/>
          </p:nvPr>
        </p:nvSpPr>
        <p:spPr>
          <a:xfrm>
            <a:off x="5961725" y="3275725"/>
            <a:ext cx="2469000" cy="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61" name="Google Shape;161;p16"/>
          <p:cNvSpPr txBox="1"/>
          <p:nvPr>
            <p:ph idx="4" type="subTitle"/>
          </p:nvPr>
        </p:nvSpPr>
        <p:spPr>
          <a:xfrm>
            <a:off x="720000" y="2904075"/>
            <a:ext cx="24690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162" name="Google Shape;162;p16"/>
          <p:cNvSpPr txBox="1"/>
          <p:nvPr>
            <p:ph idx="5" type="subTitle"/>
          </p:nvPr>
        </p:nvSpPr>
        <p:spPr>
          <a:xfrm>
            <a:off x="5961725" y="2904075"/>
            <a:ext cx="24690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163" name="Google Shape;163;p16"/>
          <p:cNvSpPr txBox="1"/>
          <p:nvPr>
            <p:ph idx="6" type="subTitle"/>
          </p:nvPr>
        </p:nvSpPr>
        <p:spPr>
          <a:xfrm>
            <a:off x="3337500" y="2904063"/>
            <a:ext cx="24690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164" name="Google Shape;164;p16"/>
          <p:cNvSpPr/>
          <p:nvPr/>
        </p:nvSpPr>
        <p:spPr>
          <a:xfrm rot="5400000">
            <a:off x="93645" y="684547"/>
            <a:ext cx="91479" cy="28758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5" name="Google Shape;165;p16"/>
          <p:cNvSpPr/>
          <p:nvPr/>
        </p:nvSpPr>
        <p:spPr>
          <a:xfrm rot="5400000">
            <a:off x="649087" y="69114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6" name="Google Shape;166;p16"/>
          <p:cNvSpPr/>
          <p:nvPr/>
        </p:nvSpPr>
        <p:spPr>
          <a:xfrm rot="5400000">
            <a:off x="420402" y="736885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7" name="Google Shape;167;p16"/>
          <p:cNvSpPr/>
          <p:nvPr/>
        </p:nvSpPr>
        <p:spPr>
          <a:xfrm rot="5400000">
            <a:off x="831987" y="782622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8" name="Google Shape;168;p16"/>
          <p:cNvSpPr/>
          <p:nvPr/>
        </p:nvSpPr>
        <p:spPr>
          <a:xfrm rot="5400000">
            <a:off x="740537" y="8740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9" name="Google Shape;169;p16"/>
          <p:cNvSpPr/>
          <p:nvPr/>
        </p:nvSpPr>
        <p:spPr>
          <a:xfrm rot="5400000">
            <a:off x="8880022" y="609252"/>
            <a:ext cx="91479" cy="43822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70" name="Google Shape;170;p16"/>
          <p:cNvSpPr/>
          <p:nvPr/>
        </p:nvSpPr>
        <p:spPr>
          <a:xfrm rot="5400000">
            <a:off x="8567543" y="643959"/>
            <a:ext cx="91479" cy="185861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71" name="Google Shape;171;p16"/>
          <p:cNvSpPr/>
          <p:nvPr/>
        </p:nvSpPr>
        <p:spPr>
          <a:xfrm rot="5400000">
            <a:off x="8428651" y="78267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72" name="Google Shape;172;p16"/>
          <p:cNvSpPr/>
          <p:nvPr/>
        </p:nvSpPr>
        <p:spPr>
          <a:xfrm rot="5400000">
            <a:off x="8236926" y="78267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73" name="Google Shape;173;p16"/>
          <p:cNvSpPr/>
          <p:nvPr/>
        </p:nvSpPr>
        <p:spPr>
          <a:xfrm rot="5400000">
            <a:off x="8520076" y="87414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2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6" name="Google Shape;176;p17"/>
          <p:cNvSpPr txBox="1"/>
          <p:nvPr>
            <p:ph hasCustomPrompt="1" idx="2" type="title"/>
          </p:nvPr>
        </p:nvSpPr>
        <p:spPr>
          <a:xfrm>
            <a:off x="771550" y="1658449"/>
            <a:ext cx="733500" cy="7335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7" name="Google Shape;177;p17"/>
          <p:cNvSpPr txBox="1"/>
          <p:nvPr>
            <p:ph hasCustomPrompt="1" idx="3" type="title"/>
          </p:nvPr>
        </p:nvSpPr>
        <p:spPr>
          <a:xfrm>
            <a:off x="772598" y="3244798"/>
            <a:ext cx="731400" cy="7314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8" name="Google Shape;178;p17"/>
          <p:cNvSpPr txBox="1"/>
          <p:nvPr>
            <p:ph hasCustomPrompt="1" idx="4" type="title"/>
          </p:nvPr>
        </p:nvSpPr>
        <p:spPr>
          <a:xfrm>
            <a:off x="4735151" y="1659492"/>
            <a:ext cx="731400" cy="7314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9" name="Google Shape;179;p17"/>
          <p:cNvSpPr txBox="1"/>
          <p:nvPr>
            <p:ph hasCustomPrompt="1" idx="5" type="title"/>
          </p:nvPr>
        </p:nvSpPr>
        <p:spPr>
          <a:xfrm>
            <a:off x="4735151" y="3244800"/>
            <a:ext cx="731400" cy="7314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0" name="Google Shape;180;p17"/>
          <p:cNvSpPr/>
          <p:nvPr/>
        </p:nvSpPr>
        <p:spPr>
          <a:xfrm rot="5400000">
            <a:off x="93645" y="684547"/>
            <a:ext cx="91479" cy="28758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1" name="Google Shape;181;p17"/>
          <p:cNvSpPr/>
          <p:nvPr/>
        </p:nvSpPr>
        <p:spPr>
          <a:xfrm rot="5400000">
            <a:off x="649087" y="69114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2" name="Google Shape;182;p17"/>
          <p:cNvSpPr/>
          <p:nvPr/>
        </p:nvSpPr>
        <p:spPr>
          <a:xfrm rot="5400000">
            <a:off x="420402" y="736885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3" name="Google Shape;183;p17"/>
          <p:cNvSpPr/>
          <p:nvPr/>
        </p:nvSpPr>
        <p:spPr>
          <a:xfrm rot="5400000">
            <a:off x="831987" y="782622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4" name="Google Shape;184;p17"/>
          <p:cNvSpPr/>
          <p:nvPr/>
        </p:nvSpPr>
        <p:spPr>
          <a:xfrm rot="5400000">
            <a:off x="740537" y="8740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5" name="Google Shape;185;p17"/>
          <p:cNvSpPr/>
          <p:nvPr/>
        </p:nvSpPr>
        <p:spPr>
          <a:xfrm rot="5400000">
            <a:off x="8880022" y="609252"/>
            <a:ext cx="91479" cy="43822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6" name="Google Shape;186;p17"/>
          <p:cNvSpPr/>
          <p:nvPr/>
        </p:nvSpPr>
        <p:spPr>
          <a:xfrm rot="5400000">
            <a:off x="8567543" y="643959"/>
            <a:ext cx="91479" cy="185861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7" name="Google Shape;187;p17"/>
          <p:cNvSpPr/>
          <p:nvPr/>
        </p:nvSpPr>
        <p:spPr>
          <a:xfrm rot="5400000">
            <a:off x="8428651" y="78267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8" name="Google Shape;188;p17"/>
          <p:cNvSpPr/>
          <p:nvPr/>
        </p:nvSpPr>
        <p:spPr>
          <a:xfrm rot="5400000">
            <a:off x="8236926" y="78267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9" name="Google Shape;189;p17"/>
          <p:cNvSpPr/>
          <p:nvPr/>
        </p:nvSpPr>
        <p:spPr>
          <a:xfrm rot="5400000">
            <a:off x="8520076" y="87414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90" name="Google Shape;190;p17"/>
          <p:cNvSpPr txBox="1"/>
          <p:nvPr>
            <p:ph idx="1" type="subTitle"/>
          </p:nvPr>
        </p:nvSpPr>
        <p:spPr>
          <a:xfrm>
            <a:off x="1653975" y="2259988"/>
            <a:ext cx="2521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17"/>
          <p:cNvSpPr txBox="1"/>
          <p:nvPr>
            <p:ph idx="6" type="subTitle"/>
          </p:nvPr>
        </p:nvSpPr>
        <p:spPr>
          <a:xfrm>
            <a:off x="5613775" y="2255438"/>
            <a:ext cx="2521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17"/>
          <p:cNvSpPr txBox="1"/>
          <p:nvPr>
            <p:ph idx="7" type="subTitle"/>
          </p:nvPr>
        </p:nvSpPr>
        <p:spPr>
          <a:xfrm>
            <a:off x="1654077" y="3847613"/>
            <a:ext cx="2521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17"/>
          <p:cNvSpPr txBox="1"/>
          <p:nvPr>
            <p:ph idx="8" type="subTitle"/>
          </p:nvPr>
        </p:nvSpPr>
        <p:spPr>
          <a:xfrm>
            <a:off x="5613775" y="3847613"/>
            <a:ext cx="2521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17"/>
          <p:cNvSpPr txBox="1"/>
          <p:nvPr>
            <p:ph idx="9" type="subTitle"/>
          </p:nvPr>
        </p:nvSpPr>
        <p:spPr>
          <a:xfrm>
            <a:off x="1703550" y="1609203"/>
            <a:ext cx="2834400" cy="76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195" name="Google Shape;195;p17"/>
          <p:cNvSpPr txBox="1"/>
          <p:nvPr>
            <p:ph idx="13" type="subTitle"/>
          </p:nvPr>
        </p:nvSpPr>
        <p:spPr>
          <a:xfrm>
            <a:off x="1703650" y="3196903"/>
            <a:ext cx="2834400" cy="76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196" name="Google Shape;196;p17"/>
          <p:cNvSpPr txBox="1"/>
          <p:nvPr>
            <p:ph idx="14" type="subTitle"/>
          </p:nvPr>
        </p:nvSpPr>
        <p:spPr>
          <a:xfrm>
            <a:off x="5613775" y="1604603"/>
            <a:ext cx="2834700" cy="76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197" name="Google Shape;197;p17"/>
          <p:cNvSpPr txBox="1"/>
          <p:nvPr>
            <p:ph idx="15" type="subTitle"/>
          </p:nvPr>
        </p:nvSpPr>
        <p:spPr>
          <a:xfrm>
            <a:off x="5663450" y="3196903"/>
            <a:ext cx="2834700" cy="76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8"/>
          <p:cNvSpPr txBox="1"/>
          <p:nvPr>
            <p:ph idx="1" type="subTitle"/>
          </p:nvPr>
        </p:nvSpPr>
        <p:spPr>
          <a:xfrm>
            <a:off x="719975" y="2286475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18"/>
          <p:cNvSpPr txBox="1"/>
          <p:nvPr>
            <p:ph idx="2" type="subTitle"/>
          </p:nvPr>
        </p:nvSpPr>
        <p:spPr>
          <a:xfrm>
            <a:off x="3419244" y="2286475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18"/>
          <p:cNvSpPr txBox="1"/>
          <p:nvPr>
            <p:ph idx="3" type="subTitle"/>
          </p:nvPr>
        </p:nvSpPr>
        <p:spPr>
          <a:xfrm>
            <a:off x="719975" y="4024675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18"/>
          <p:cNvSpPr txBox="1"/>
          <p:nvPr>
            <p:ph idx="4" type="subTitle"/>
          </p:nvPr>
        </p:nvSpPr>
        <p:spPr>
          <a:xfrm>
            <a:off x="3419244" y="4024675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18"/>
          <p:cNvSpPr txBox="1"/>
          <p:nvPr>
            <p:ph idx="5" type="subTitle"/>
          </p:nvPr>
        </p:nvSpPr>
        <p:spPr>
          <a:xfrm>
            <a:off x="6118520" y="2286475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18"/>
          <p:cNvSpPr txBox="1"/>
          <p:nvPr>
            <p:ph idx="6" type="subTitle"/>
          </p:nvPr>
        </p:nvSpPr>
        <p:spPr>
          <a:xfrm>
            <a:off x="6118520" y="4024675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06" name="Google Shape;206;p18"/>
          <p:cNvSpPr txBox="1"/>
          <p:nvPr>
            <p:ph idx="7" type="subTitle"/>
          </p:nvPr>
        </p:nvSpPr>
        <p:spPr>
          <a:xfrm>
            <a:off x="719975" y="2047025"/>
            <a:ext cx="23055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207" name="Google Shape;207;p18"/>
          <p:cNvSpPr txBox="1"/>
          <p:nvPr>
            <p:ph idx="8" type="subTitle"/>
          </p:nvPr>
        </p:nvSpPr>
        <p:spPr>
          <a:xfrm>
            <a:off x="3419244" y="2047025"/>
            <a:ext cx="23055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208" name="Google Shape;208;p18"/>
          <p:cNvSpPr txBox="1"/>
          <p:nvPr>
            <p:ph idx="9" type="subTitle"/>
          </p:nvPr>
        </p:nvSpPr>
        <p:spPr>
          <a:xfrm>
            <a:off x="6118520" y="2047025"/>
            <a:ext cx="23055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209" name="Google Shape;209;p18"/>
          <p:cNvSpPr txBox="1"/>
          <p:nvPr>
            <p:ph idx="13" type="subTitle"/>
          </p:nvPr>
        </p:nvSpPr>
        <p:spPr>
          <a:xfrm>
            <a:off x="719975" y="3785275"/>
            <a:ext cx="23055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210" name="Google Shape;210;p18"/>
          <p:cNvSpPr txBox="1"/>
          <p:nvPr>
            <p:ph idx="14" type="subTitle"/>
          </p:nvPr>
        </p:nvSpPr>
        <p:spPr>
          <a:xfrm>
            <a:off x="3419250" y="3785275"/>
            <a:ext cx="23055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211" name="Google Shape;211;p18"/>
          <p:cNvSpPr txBox="1"/>
          <p:nvPr>
            <p:ph idx="15" type="subTitle"/>
          </p:nvPr>
        </p:nvSpPr>
        <p:spPr>
          <a:xfrm>
            <a:off x="6118525" y="3785275"/>
            <a:ext cx="23055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212" name="Google Shape;212;p18"/>
          <p:cNvSpPr/>
          <p:nvPr/>
        </p:nvSpPr>
        <p:spPr>
          <a:xfrm rot="5400000">
            <a:off x="8879160" y="574877"/>
            <a:ext cx="91479" cy="43822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3" name="Google Shape;213;p18"/>
          <p:cNvSpPr/>
          <p:nvPr/>
        </p:nvSpPr>
        <p:spPr>
          <a:xfrm rot="5400000">
            <a:off x="8478731" y="792534"/>
            <a:ext cx="91479" cy="185861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4" name="Google Shape;214;p18"/>
          <p:cNvSpPr/>
          <p:nvPr/>
        </p:nvSpPr>
        <p:spPr>
          <a:xfrm rot="5400000">
            <a:off x="98045" y="650222"/>
            <a:ext cx="91479" cy="28758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5" name="Google Shape;215;p18"/>
          <p:cNvSpPr/>
          <p:nvPr/>
        </p:nvSpPr>
        <p:spPr>
          <a:xfrm rot="5400000">
            <a:off x="439487" y="656822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6" name="Google Shape;216;p18"/>
          <p:cNvSpPr/>
          <p:nvPr/>
        </p:nvSpPr>
        <p:spPr>
          <a:xfrm rot="5400000">
            <a:off x="210802" y="519585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7" name="Google Shape;217;p18"/>
          <p:cNvSpPr/>
          <p:nvPr/>
        </p:nvSpPr>
        <p:spPr>
          <a:xfrm rot="5400000">
            <a:off x="713837" y="7482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8" name="Google Shape;218;p18"/>
          <p:cNvSpPr/>
          <p:nvPr/>
        </p:nvSpPr>
        <p:spPr>
          <a:xfrm rot="5400000">
            <a:off x="530937" y="83974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9" name="Google Shape;219;p18"/>
          <p:cNvSpPr/>
          <p:nvPr/>
        </p:nvSpPr>
        <p:spPr>
          <a:xfrm rot="5400000">
            <a:off x="8340139" y="74829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20" name="Google Shape;220;p18"/>
          <p:cNvSpPr/>
          <p:nvPr/>
        </p:nvSpPr>
        <p:spPr>
          <a:xfrm rot="5400000">
            <a:off x="8705739" y="74829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21" name="Google Shape;221;p18"/>
          <p:cNvSpPr/>
          <p:nvPr/>
        </p:nvSpPr>
        <p:spPr>
          <a:xfrm rot="5400000">
            <a:off x="8522939" y="65682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22" name="Google Shape;222;p18"/>
          <p:cNvSpPr/>
          <p:nvPr/>
        </p:nvSpPr>
        <p:spPr>
          <a:xfrm rot="5400000">
            <a:off x="622387" y="8397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23" name="Google Shape;223;p18"/>
          <p:cNvSpPr/>
          <p:nvPr/>
        </p:nvSpPr>
        <p:spPr>
          <a:xfrm rot="5400000">
            <a:off x="287562" y="8397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24" name="Google Shape;224;p18"/>
          <p:cNvSpPr/>
          <p:nvPr/>
        </p:nvSpPr>
        <p:spPr>
          <a:xfrm rot="5400000">
            <a:off x="8614339" y="83974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9"/>
          <p:cNvSpPr txBox="1"/>
          <p:nvPr>
            <p:ph hasCustomPrompt="1" type="title"/>
          </p:nvPr>
        </p:nvSpPr>
        <p:spPr>
          <a:xfrm>
            <a:off x="1848000" y="2858566"/>
            <a:ext cx="5448000" cy="75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27" name="Google Shape;227;p19"/>
          <p:cNvSpPr txBox="1"/>
          <p:nvPr>
            <p:ph idx="1" type="subTitle"/>
          </p:nvPr>
        </p:nvSpPr>
        <p:spPr>
          <a:xfrm>
            <a:off x="1848000" y="3613363"/>
            <a:ext cx="5448000" cy="309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19"/>
          <p:cNvSpPr txBox="1"/>
          <p:nvPr>
            <p:ph hasCustomPrompt="1" idx="2" type="title"/>
          </p:nvPr>
        </p:nvSpPr>
        <p:spPr>
          <a:xfrm>
            <a:off x="1407675" y="1192025"/>
            <a:ext cx="3562200" cy="75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29" name="Google Shape;229;p19"/>
          <p:cNvSpPr txBox="1"/>
          <p:nvPr>
            <p:ph idx="3" type="subTitle"/>
          </p:nvPr>
        </p:nvSpPr>
        <p:spPr>
          <a:xfrm>
            <a:off x="5214675" y="1192025"/>
            <a:ext cx="2548200" cy="7548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19"/>
          <p:cNvSpPr/>
          <p:nvPr/>
        </p:nvSpPr>
        <p:spPr>
          <a:xfrm rot="5400000">
            <a:off x="7918485" y="4213238"/>
            <a:ext cx="91479" cy="1049003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31" name="Google Shape;231;p19"/>
          <p:cNvSpPr/>
          <p:nvPr/>
        </p:nvSpPr>
        <p:spPr>
          <a:xfrm rot="5400000">
            <a:off x="7571468" y="4369684"/>
            <a:ext cx="91479" cy="185861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32" name="Google Shape;232;p19"/>
          <p:cNvSpPr/>
          <p:nvPr/>
        </p:nvSpPr>
        <p:spPr>
          <a:xfrm rot="5400000">
            <a:off x="8637262" y="4646259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33" name="Google Shape;233;p19"/>
          <p:cNvSpPr/>
          <p:nvPr/>
        </p:nvSpPr>
        <p:spPr>
          <a:xfrm rot="5400000">
            <a:off x="7432576" y="450839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34" name="Google Shape;234;p19"/>
          <p:cNvSpPr/>
          <p:nvPr/>
        </p:nvSpPr>
        <p:spPr>
          <a:xfrm rot="5400000">
            <a:off x="758937" y="45936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35" name="Google Shape;235;p19"/>
          <p:cNvSpPr/>
          <p:nvPr/>
        </p:nvSpPr>
        <p:spPr>
          <a:xfrm rot="5400000">
            <a:off x="667487" y="4502222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36" name="Google Shape;236;p19"/>
          <p:cNvSpPr/>
          <p:nvPr/>
        </p:nvSpPr>
        <p:spPr>
          <a:xfrm rot="5400000">
            <a:off x="576037" y="46974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37" name="Google Shape;237;p19"/>
          <p:cNvSpPr/>
          <p:nvPr/>
        </p:nvSpPr>
        <p:spPr>
          <a:xfrm rot="5400000">
            <a:off x="7240851" y="450839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38" name="Google Shape;238;p19"/>
          <p:cNvSpPr/>
          <p:nvPr/>
        </p:nvSpPr>
        <p:spPr>
          <a:xfrm rot="5400000">
            <a:off x="7149426" y="459987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39" name="Google Shape;239;p19"/>
          <p:cNvSpPr/>
          <p:nvPr/>
        </p:nvSpPr>
        <p:spPr>
          <a:xfrm rot="5400000">
            <a:off x="8339326" y="35634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40" name="Google Shape;240;p19"/>
          <p:cNvSpPr/>
          <p:nvPr/>
        </p:nvSpPr>
        <p:spPr>
          <a:xfrm rot="5400000">
            <a:off x="8247901" y="44782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41" name="Google Shape;241;p19"/>
          <p:cNvSpPr/>
          <p:nvPr/>
        </p:nvSpPr>
        <p:spPr>
          <a:xfrm rot="5400000">
            <a:off x="816619" y="-100198"/>
            <a:ext cx="91479" cy="1188688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42" name="Google Shape;242;p19"/>
          <p:cNvSpPr/>
          <p:nvPr/>
        </p:nvSpPr>
        <p:spPr>
          <a:xfrm rot="5400000">
            <a:off x="1593927" y="402685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43" name="Google Shape;243;p19"/>
          <p:cNvSpPr/>
          <p:nvPr/>
        </p:nvSpPr>
        <p:spPr>
          <a:xfrm rot="5400000">
            <a:off x="1914062" y="5398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44" name="Google Shape;244;p19"/>
          <p:cNvSpPr/>
          <p:nvPr/>
        </p:nvSpPr>
        <p:spPr>
          <a:xfrm rot="5400000">
            <a:off x="2005512" y="448422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45" name="Google Shape;245;p19"/>
          <p:cNvSpPr/>
          <p:nvPr/>
        </p:nvSpPr>
        <p:spPr>
          <a:xfrm rot="5400000">
            <a:off x="1822612" y="35694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46" name="Google Shape;246;p19"/>
          <p:cNvSpPr/>
          <p:nvPr/>
        </p:nvSpPr>
        <p:spPr>
          <a:xfrm rot="5400000">
            <a:off x="8156476" y="26607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0"/>
          <p:cNvSpPr txBox="1"/>
          <p:nvPr>
            <p:ph type="title"/>
          </p:nvPr>
        </p:nvSpPr>
        <p:spPr>
          <a:xfrm>
            <a:off x="1384400" y="540000"/>
            <a:ext cx="6375300" cy="12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8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49" name="Google Shape;249;p20"/>
          <p:cNvSpPr txBox="1"/>
          <p:nvPr>
            <p:ph idx="1" type="subTitle"/>
          </p:nvPr>
        </p:nvSpPr>
        <p:spPr>
          <a:xfrm>
            <a:off x="2099050" y="1771800"/>
            <a:ext cx="4945800" cy="12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20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CREDITS: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This presentation template was created by </a:t>
            </a:r>
            <a:r>
              <a:rPr b="1" lang="en" sz="12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2"/>
              </a:rPr>
              <a:t>Slidesgo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1" sz="1200" u="sng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1" name="Google Shape;251;p20"/>
          <p:cNvSpPr/>
          <p:nvPr/>
        </p:nvSpPr>
        <p:spPr>
          <a:xfrm rot="5400000">
            <a:off x="7918485" y="4171013"/>
            <a:ext cx="91479" cy="1049003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52" name="Google Shape;252;p20"/>
          <p:cNvSpPr/>
          <p:nvPr/>
        </p:nvSpPr>
        <p:spPr>
          <a:xfrm rot="5400000">
            <a:off x="8637262" y="4604034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53" name="Google Shape;253;p20"/>
          <p:cNvSpPr/>
          <p:nvPr/>
        </p:nvSpPr>
        <p:spPr>
          <a:xfrm rot="5400000">
            <a:off x="816619" y="-100198"/>
            <a:ext cx="91479" cy="1188688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54" name="Google Shape;254;p20"/>
          <p:cNvSpPr/>
          <p:nvPr/>
        </p:nvSpPr>
        <p:spPr>
          <a:xfrm rot="5400000">
            <a:off x="1593927" y="402685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55" name="Google Shape;255;p20"/>
          <p:cNvSpPr/>
          <p:nvPr/>
        </p:nvSpPr>
        <p:spPr>
          <a:xfrm rot="5400000">
            <a:off x="1914062" y="5398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56" name="Google Shape;256;p20"/>
          <p:cNvSpPr/>
          <p:nvPr/>
        </p:nvSpPr>
        <p:spPr>
          <a:xfrm rot="5400000">
            <a:off x="2005512" y="448422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57" name="Google Shape;257;p20"/>
          <p:cNvSpPr/>
          <p:nvPr/>
        </p:nvSpPr>
        <p:spPr>
          <a:xfrm rot="5400000">
            <a:off x="1822612" y="35694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1"/>
          <p:cNvSpPr/>
          <p:nvPr/>
        </p:nvSpPr>
        <p:spPr>
          <a:xfrm rot="5400000">
            <a:off x="7918485" y="4171013"/>
            <a:ext cx="91479" cy="1049003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60" name="Google Shape;260;p21"/>
          <p:cNvSpPr/>
          <p:nvPr/>
        </p:nvSpPr>
        <p:spPr>
          <a:xfrm rot="5400000">
            <a:off x="7571468" y="4327459"/>
            <a:ext cx="91479" cy="185861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61" name="Google Shape;261;p21"/>
          <p:cNvSpPr/>
          <p:nvPr/>
        </p:nvSpPr>
        <p:spPr>
          <a:xfrm rot="5400000">
            <a:off x="8637262" y="4604034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62" name="Google Shape;262;p21"/>
          <p:cNvSpPr/>
          <p:nvPr/>
        </p:nvSpPr>
        <p:spPr>
          <a:xfrm rot="5400000">
            <a:off x="7432576" y="446617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63" name="Google Shape;263;p21"/>
          <p:cNvSpPr/>
          <p:nvPr/>
        </p:nvSpPr>
        <p:spPr>
          <a:xfrm rot="5400000">
            <a:off x="1548137" y="4094184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64" name="Google Shape;264;p21"/>
          <p:cNvSpPr/>
          <p:nvPr/>
        </p:nvSpPr>
        <p:spPr>
          <a:xfrm rot="5400000">
            <a:off x="1456687" y="4002709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65" name="Google Shape;265;p21"/>
          <p:cNvSpPr/>
          <p:nvPr/>
        </p:nvSpPr>
        <p:spPr>
          <a:xfrm rot="5400000">
            <a:off x="1365237" y="4197984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66" name="Google Shape;266;p21"/>
          <p:cNvSpPr/>
          <p:nvPr/>
        </p:nvSpPr>
        <p:spPr>
          <a:xfrm rot="5400000">
            <a:off x="7240851" y="446617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67" name="Google Shape;267;p21"/>
          <p:cNvSpPr/>
          <p:nvPr/>
        </p:nvSpPr>
        <p:spPr>
          <a:xfrm rot="5400000">
            <a:off x="7149426" y="455764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68" name="Google Shape;268;p21"/>
          <p:cNvSpPr/>
          <p:nvPr/>
        </p:nvSpPr>
        <p:spPr>
          <a:xfrm rot="5400000">
            <a:off x="7942526" y="53872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69" name="Google Shape;269;p21"/>
          <p:cNvSpPr/>
          <p:nvPr/>
        </p:nvSpPr>
        <p:spPr>
          <a:xfrm rot="5400000">
            <a:off x="7851101" y="63019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70" name="Google Shape;270;p21"/>
          <p:cNvSpPr/>
          <p:nvPr/>
        </p:nvSpPr>
        <p:spPr>
          <a:xfrm rot="5400000">
            <a:off x="816619" y="-100198"/>
            <a:ext cx="91479" cy="1188688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71" name="Google Shape;271;p21"/>
          <p:cNvSpPr/>
          <p:nvPr/>
        </p:nvSpPr>
        <p:spPr>
          <a:xfrm rot="5400000">
            <a:off x="1593927" y="402685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72" name="Google Shape;272;p21"/>
          <p:cNvSpPr/>
          <p:nvPr/>
        </p:nvSpPr>
        <p:spPr>
          <a:xfrm rot="5400000">
            <a:off x="1914062" y="5398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73" name="Google Shape;273;p21"/>
          <p:cNvSpPr/>
          <p:nvPr/>
        </p:nvSpPr>
        <p:spPr>
          <a:xfrm rot="5400000">
            <a:off x="2005512" y="448422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74" name="Google Shape;274;p21"/>
          <p:cNvSpPr/>
          <p:nvPr/>
        </p:nvSpPr>
        <p:spPr>
          <a:xfrm rot="5400000">
            <a:off x="1822612" y="35694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75" name="Google Shape;275;p21"/>
          <p:cNvSpPr/>
          <p:nvPr/>
        </p:nvSpPr>
        <p:spPr>
          <a:xfrm rot="5400000">
            <a:off x="5528643" y="639534"/>
            <a:ext cx="91479" cy="185861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76" name="Google Shape;276;p21"/>
          <p:cNvSpPr/>
          <p:nvPr/>
        </p:nvSpPr>
        <p:spPr>
          <a:xfrm rot="5400000">
            <a:off x="5389751" y="77824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77" name="Google Shape;277;p21"/>
          <p:cNvSpPr/>
          <p:nvPr/>
        </p:nvSpPr>
        <p:spPr>
          <a:xfrm rot="5400000">
            <a:off x="3957552" y="4237435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78" name="Google Shape;278;p21"/>
          <p:cNvSpPr/>
          <p:nvPr/>
        </p:nvSpPr>
        <p:spPr>
          <a:xfrm rot="5400000">
            <a:off x="4277687" y="437464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79" name="Google Shape;279;p21"/>
          <p:cNvSpPr/>
          <p:nvPr/>
        </p:nvSpPr>
        <p:spPr>
          <a:xfrm rot="5400000">
            <a:off x="7759676" y="44844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2"/>
          <p:cNvSpPr/>
          <p:nvPr/>
        </p:nvSpPr>
        <p:spPr>
          <a:xfrm rot="5400000">
            <a:off x="7918485" y="4213238"/>
            <a:ext cx="91479" cy="1049003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82" name="Google Shape;282;p22"/>
          <p:cNvSpPr/>
          <p:nvPr/>
        </p:nvSpPr>
        <p:spPr>
          <a:xfrm rot="5400000">
            <a:off x="7571468" y="4369684"/>
            <a:ext cx="91479" cy="185861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83" name="Google Shape;283;p22"/>
          <p:cNvSpPr/>
          <p:nvPr/>
        </p:nvSpPr>
        <p:spPr>
          <a:xfrm rot="5400000">
            <a:off x="8637262" y="4646259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84" name="Google Shape;284;p22"/>
          <p:cNvSpPr/>
          <p:nvPr/>
        </p:nvSpPr>
        <p:spPr>
          <a:xfrm rot="5400000">
            <a:off x="7432576" y="450839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85" name="Google Shape;285;p22"/>
          <p:cNvSpPr/>
          <p:nvPr/>
        </p:nvSpPr>
        <p:spPr>
          <a:xfrm rot="5400000">
            <a:off x="758937" y="45936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86" name="Google Shape;286;p22"/>
          <p:cNvSpPr/>
          <p:nvPr/>
        </p:nvSpPr>
        <p:spPr>
          <a:xfrm rot="5400000">
            <a:off x="667487" y="4502222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87" name="Google Shape;287;p22"/>
          <p:cNvSpPr/>
          <p:nvPr/>
        </p:nvSpPr>
        <p:spPr>
          <a:xfrm rot="5400000">
            <a:off x="576037" y="46974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88" name="Google Shape;288;p22"/>
          <p:cNvSpPr/>
          <p:nvPr/>
        </p:nvSpPr>
        <p:spPr>
          <a:xfrm rot="5400000">
            <a:off x="7240851" y="450839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89" name="Google Shape;289;p22"/>
          <p:cNvSpPr/>
          <p:nvPr/>
        </p:nvSpPr>
        <p:spPr>
          <a:xfrm rot="5400000">
            <a:off x="7149426" y="459987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90" name="Google Shape;290;p22"/>
          <p:cNvSpPr/>
          <p:nvPr/>
        </p:nvSpPr>
        <p:spPr>
          <a:xfrm rot="5400000">
            <a:off x="8339326" y="35634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91" name="Google Shape;291;p22"/>
          <p:cNvSpPr/>
          <p:nvPr/>
        </p:nvSpPr>
        <p:spPr>
          <a:xfrm rot="5400000">
            <a:off x="8247901" y="44782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92" name="Google Shape;292;p22"/>
          <p:cNvSpPr/>
          <p:nvPr/>
        </p:nvSpPr>
        <p:spPr>
          <a:xfrm rot="5400000">
            <a:off x="816619" y="-100198"/>
            <a:ext cx="91479" cy="1188688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93" name="Google Shape;293;p22"/>
          <p:cNvSpPr/>
          <p:nvPr/>
        </p:nvSpPr>
        <p:spPr>
          <a:xfrm rot="5400000">
            <a:off x="1593927" y="402685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94" name="Google Shape;294;p22"/>
          <p:cNvSpPr/>
          <p:nvPr/>
        </p:nvSpPr>
        <p:spPr>
          <a:xfrm rot="5400000">
            <a:off x="1914062" y="5398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95" name="Google Shape;295;p22"/>
          <p:cNvSpPr/>
          <p:nvPr/>
        </p:nvSpPr>
        <p:spPr>
          <a:xfrm rot="5400000">
            <a:off x="2005512" y="448422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96" name="Google Shape;296;p22"/>
          <p:cNvSpPr/>
          <p:nvPr/>
        </p:nvSpPr>
        <p:spPr>
          <a:xfrm rot="5400000">
            <a:off x="1822612" y="35694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97" name="Google Shape;297;p22"/>
          <p:cNvSpPr/>
          <p:nvPr/>
        </p:nvSpPr>
        <p:spPr>
          <a:xfrm rot="5400000">
            <a:off x="8156476" y="26607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BLANK_1_1_1_2_1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3"/>
          <p:cNvSpPr txBox="1"/>
          <p:nvPr>
            <p:ph idx="1" type="subTitle"/>
          </p:nvPr>
        </p:nvSpPr>
        <p:spPr>
          <a:xfrm>
            <a:off x="720000" y="3275725"/>
            <a:ext cx="2469000" cy="7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0" name="Google Shape;300;p23"/>
          <p:cNvSpPr txBox="1"/>
          <p:nvPr>
            <p:ph idx="2" type="subTitle"/>
          </p:nvPr>
        </p:nvSpPr>
        <p:spPr>
          <a:xfrm>
            <a:off x="3337500" y="3274789"/>
            <a:ext cx="2469000" cy="7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1" name="Google Shape;301;p23"/>
          <p:cNvSpPr txBox="1"/>
          <p:nvPr>
            <p:ph idx="3" type="subTitle"/>
          </p:nvPr>
        </p:nvSpPr>
        <p:spPr>
          <a:xfrm>
            <a:off x="5961725" y="3275725"/>
            <a:ext cx="2469000" cy="7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2" name="Google Shape;302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03" name="Google Shape;303;p23"/>
          <p:cNvSpPr txBox="1"/>
          <p:nvPr>
            <p:ph idx="4" type="subTitle"/>
          </p:nvPr>
        </p:nvSpPr>
        <p:spPr>
          <a:xfrm>
            <a:off x="720000" y="2904075"/>
            <a:ext cx="24690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304" name="Google Shape;304;p23"/>
          <p:cNvSpPr txBox="1"/>
          <p:nvPr>
            <p:ph idx="5" type="subTitle"/>
          </p:nvPr>
        </p:nvSpPr>
        <p:spPr>
          <a:xfrm>
            <a:off x="5961725" y="2904075"/>
            <a:ext cx="24690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305" name="Google Shape;305;p23"/>
          <p:cNvSpPr txBox="1"/>
          <p:nvPr>
            <p:ph idx="6" type="subTitle"/>
          </p:nvPr>
        </p:nvSpPr>
        <p:spPr>
          <a:xfrm>
            <a:off x="3337500" y="2904063"/>
            <a:ext cx="24690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306" name="Google Shape;306;p23"/>
          <p:cNvSpPr/>
          <p:nvPr/>
        </p:nvSpPr>
        <p:spPr>
          <a:xfrm rot="5400000">
            <a:off x="93645" y="684547"/>
            <a:ext cx="91479" cy="28758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07" name="Google Shape;307;p23"/>
          <p:cNvSpPr/>
          <p:nvPr/>
        </p:nvSpPr>
        <p:spPr>
          <a:xfrm rot="5400000">
            <a:off x="649087" y="69114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08" name="Google Shape;308;p23"/>
          <p:cNvSpPr/>
          <p:nvPr/>
        </p:nvSpPr>
        <p:spPr>
          <a:xfrm rot="5400000">
            <a:off x="420402" y="736885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09" name="Google Shape;309;p23"/>
          <p:cNvSpPr/>
          <p:nvPr/>
        </p:nvSpPr>
        <p:spPr>
          <a:xfrm rot="5400000">
            <a:off x="831987" y="782622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10" name="Google Shape;310;p23"/>
          <p:cNvSpPr/>
          <p:nvPr/>
        </p:nvSpPr>
        <p:spPr>
          <a:xfrm rot="5400000">
            <a:off x="740537" y="8740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11" name="Google Shape;311;p23"/>
          <p:cNvSpPr/>
          <p:nvPr/>
        </p:nvSpPr>
        <p:spPr>
          <a:xfrm rot="5400000">
            <a:off x="8880022" y="609252"/>
            <a:ext cx="91479" cy="43822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12" name="Google Shape;312;p23"/>
          <p:cNvSpPr/>
          <p:nvPr/>
        </p:nvSpPr>
        <p:spPr>
          <a:xfrm rot="5400000">
            <a:off x="8567543" y="643959"/>
            <a:ext cx="91479" cy="185861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13" name="Google Shape;313;p23"/>
          <p:cNvSpPr/>
          <p:nvPr/>
        </p:nvSpPr>
        <p:spPr>
          <a:xfrm rot="5400000">
            <a:off x="8428651" y="78267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14" name="Google Shape;314;p23"/>
          <p:cNvSpPr/>
          <p:nvPr/>
        </p:nvSpPr>
        <p:spPr>
          <a:xfrm rot="5400000">
            <a:off x="8236926" y="78267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15" name="Google Shape;315;p23"/>
          <p:cNvSpPr/>
          <p:nvPr/>
        </p:nvSpPr>
        <p:spPr>
          <a:xfrm rot="5400000">
            <a:off x="8520076" y="87414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1">
  <p:cSld name="BLANK_1_1_1_1_1_2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4"/>
          <p:cNvSpPr txBox="1"/>
          <p:nvPr>
            <p:ph idx="1" type="subTitle"/>
          </p:nvPr>
        </p:nvSpPr>
        <p:spPr>
          <a:xfrm>
            <a:off x="719975" y="2286475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8" name="Google Shape;318;p24"/>
          <p:cNvSpPr txBox="1"/>
          <p:nvPr>
            <p:ph idx="2" type="subTitle"/>
          </p:nvPr>
        </p:nvSpPr>
        <p:spPr>
          <a:xfrm>
            <a:off x="3419244" y="2286475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9" name="Google Shape;319;p24"/>
          <p:cNvSpPr txBox="1"/>
          <p:nvPr>
            <p:ph idx="3" type="subTitle"/>
          </p:nvPr>
        </p:nvSpPr>
        <p:spPr>
          <a:xfrm>
            <a:off x="719975" y="4024675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0" name="Google Shape;320;p24"/>
          <p:cNvSpPr txBox="1"/>
          <p:nvPr>
            <p:ph idx="4" type="subTitle"/>
          </p:nvPr>
        </p:nvSpPr>
        <p:spPr>
          <a:xfrm>
            <a:off x="3419244" y="4024675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1" name="Google Shape;321;p24"/>
          <p:cNvSpPr txBox="1"/>
          <p:nvPr>
            <p:ph idx="5" type="subTitle"/>
          </p:nvPr>
        </p:nvSpPr>
        <p:spPr>
          <a:xfrm>
            <a:off x="6118520" y="2286475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2" name="Google Shape;322;p24"/>
          <p:cNvSpPr txBox="1"/>
          <p:nvPr>
            <p:ph idx="6" type="subTitle"/>
          </p:nvPr>
        </p:nvSpPr>
        <p:spPr>
          <a:xfrm>
            <a:off x="6118520" y="4024675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3" name="Google Shape;323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24" name="Google Shape;324;p24"/>
          <p:cNvSpPr txBox="1"/>
          <p:nvPr>
            <p:ph idx="7" type="subTitle"/>
          </p:nvPr>
        </p:nvSpPr>
        <p:spPr>
          <a:xfrm>
            <a:off x="719975" y="2047025"/>
            <a:ext cx="23055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325" name="Google Shape;325;p24"/>
          <p:cNvSpPr txBox="1"/>
          <p:nvPr>
            <p:ph idx="8" type="subTitle"/>
          </p:nvPr>
        </p:nvSpPr>
        <p:spPr>
          <a:xfrm>
            <a:off x="3419244" y="2047025"/>
            <a:ext cx="23055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326" name="Google Shape;326;p24"/>
          <p:cNvSpPr txBox="1"/>
          <p:nvPr>
            <p:ph idx="9" type="subTitle"/>
          </p:nvPr>
        </p:nvSpPr>
        <p:spPr>
          <a:xfrm>
            <a:off x="6118520" y="2047025"/>
            <a:ext cx="23055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327" name="Google Shape;327;p24"/>
          <p:cNvSpPr txBox="1"/>
          <p:nvPr>
            <p:ph idx="13" type="subTitle"/>
          </p:nvPr>
        </p:nvSpPr>
        <p:spPr>
          <a:xfrm>
            <a:off x="719975" y="3785275"/>
            <a:ext cx="23055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328" name="Google Shape;328;p24"/>
          <p:cNvSpPr txBox="1"/>
          <p:nvPr>
            <p:ph idx="14" type="subTitle"/>
          </p:nvPr>
        </p:nvSpPr>
        <p:spPr>
          <a:xfrm>
            <a:off x="3419250" y="3785275"/>
            <a:ext cx="23055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329" name="Google Shape;329;p24"/>
          <p:cNvSpPr txBox="1"/>
          <p:nvPr>
            <p:ph idx="15" type="subTitle"/>
          </p:nvPr>
        </p:nvSpPr>
        <p:spPr>
          <a:xfrm>
            <a:off x="6118525" y="3785275"/>
            <a:ext cx="23055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330" name="Google Shape;330;p24"/>
          <p:cNvSpPr/>
          <p:nvPr/>
        </p:nvSpPr>
        <p:spPr>
          <a:xfrm rot="5400000">
            <a:off x="8879160" y="574877"/>
            <a:ext cx="91479" cy="43822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31" name="Google Shape;331;p24"/>
          <p:cNvSpPr/>
          <p:nvPr/>
        </p:nvSpPr>
        <p:spPr>
          <a:xfrm rot="5400000">
            <a:off x="8478731" y="792534"/>
            <a:ext cx="91479" cy="185861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32" name="Google Shape;332;p24"/>
          <p:cNvSpPr/>
          <p:nvPr/>
        </p:nvSpPr>
        <p:spPr>
          <a:xfrm rot="5400000">
            <a:off x="98045" y="650222"/>
            <a:ext cx="91479" cy="28758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33" name="Google Shape;333;p24"/>
          <p:cNvSpPr/>
          <p:nvPr/>
        </p:nvSpPr>
        <p:spPr>
          <a:xfrm rot="5400000">
            <a:off x="439487" y="656822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34" name="Google Shape;334;p24"/>
          <p:cNvSpPr/>
          <p:nvPr/>
        </p:nvSpPr>
        <p:spPr>
          <a:xfrm rot="5400000">
            <a:off x="210802" y="519585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35" name="Google Shape;335;p24"/>
          <p:cNvSpPr/>
          <p:nvPr/>
        </p:nvSpPr>
        <p:spPr>
          <a:xfrm rot="5400000">
            <a:off x="713837" y="7482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36" name="Google Shape;336;p24"/>
          <p:cNvSpPr/>
          <p:nvPr/>
        </p:nvSpPr>
        <p:spPr>
          <a:xfrm rot="5400000">
            <a:off x="530937" y="83974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37" name="Google Shape;337;p24"/>
          <p:cNvSpPr/>
          <p:nvPr/>
        </p:nvSpPr>
        <p:spPr>
          <a:xfrm rot="5400000">
            <a:off x="8340139" y="74829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38" name="Google Shape;338;p24"/>
          <p:cNvSpPr/>
          <p:nvPr/>
        </p:nvSpPr>
        <p:spPr>
          <a:xfrm rot="5400000">
            <a:off x="8705739" y="74829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39" name="Google Shape;339;p24"/>
          <p:cNvSpPr/>
          <p:nvPr/>
        </p:nvSpPr>
        <p:spPr>
          <a:xfrm rot="5400000">
            <a:off x="8522939" y="65682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40" name="Google Shape;340;p24"/>
          <p:cNvSpPr/>
          <p:nvPr/>
        </p:nvSpPr>
        <p:spPr>
          <a:xfrm rot="5400000">
            <a:off x="622387" y="8397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41" name="Google Shape;341;p24"/>
          <p:cNvSpPr/>
          <p:nvPr/>
        </p:nvSpPr>
        <p:spPr>
          <a:xfrm rot="5400000">
            <a:off x="287562" y="8397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42" name="Google Shape;342;p24"/>
          <p:cNvSpPr/>
          <p:nvPr/>
        </p:nvSpPr>
        <p:spPr>
          <a:xfrm rot="5400000">
            <a:off x="8614339" y="83974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6"/>
          <p:cNvSpPr txBox="1"/>
          <p:nvPr>
            <p:ph type="ctrTitle"/>
          </p:nvPr>
        </p:nvSpPr>
        <p:spPr>
          <a:xfrm>
            <a:off x="1036125" y="1185500"/>
            <a:ext cx="7071900" cy="21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348" name="Google Shape;348;p26"/>
          <p:cNvSpPr txBox="1"/>
          <p:nvPr>
            <p:ph idx="1" type="subTitle"/>
          </p:nvPr>
        </p:nvSpPr>
        <p:spPr>
          <a:xfrm>
            <a:off x="1677750" y="3457600"/>
            <a:ext cx="5788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9" name="Google Shape;349;p26"/>
          <p:cNvSpPr/>
          <p:nvPr/>
        </p:nvSpPr>
        <p:spPr>
          <a:xfrm rot="5400000">
            <a:off x="7918485" y="4171013"/>
            <a:ext cx="91479" cy="1049003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50" name="Google Shape;350;p26"/>
          <p:cNvSpPr/>
          <p:nvPr/>
        </p:nvSpPr>
        <p:spPr>
          <a:xfrm rot="5400000">
            <a:off x="8637262" y="4604034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51" name="Google Shape;351;p26"/>
          <p:cNvSpPr/>
          <p:nvPr/>
        </p:nvSpPr>
        <p:spPr>
          <a:xfrm rot="5400000">
            <a:off x="816619" y="-100198"/>
            <a:ext cx="91479" cy="1188688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52" name="Google Shape;352;p26"/>
          <p:cNvSpPr/>
          <p:nvPr/>
        </p:nvSpPr>
        <p:spPr>
          <a:xfrm rot="5400000">
            <a:off x="1593927" y="402685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53" name="Google Shape;353;p26"/>
          <p:cNvSpPr/>
          <p:nvPr/>
        </p:nvSpPr>
        <p:spPr>
          <a:xfrm rot="5400000">
            <a:off x="1914062" y="5398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54" name="Google Shape;354;p26"/>
          <p:cNvSpPr/>
          <p:nvPr/>
        </p:nvSpPr>
        <p:spPr>
          <a:xfrm rot="5400000">
            <a:off x="2005512" y="448422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55" name="Google Shape;355;p26"/>
          <p:cNvSpPr/>
          <p:nvPr/>
        </p:nvSpPr>
        <p:spPr>
          <a:xfrm rot="5400000">
            <a:off x="1822612" y="35694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58" name="Google Shape;358;p27"/>
          <p:cNvSpPr/>
          <p:nvPr/>
        </p:nvSpPr>
        <p:spPr>
          <a:xfrm rot="5400000">
            <a:off x="8880022" y="609252"/>
            <a:ext cx="91479" cy="43822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59" name="Google Shape;359;p27"/>
          <p:cNvSpPr/>
          <p:nvPr/>
        </p:nvSpPr>
        <p:spPr>
          <a:xfrm rot="5400000">
            <a:off x="8567543" y="643959"/>
            <a:ext cx="91479" cy="185861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60" name="Google Shape;360;p27"/>
          <p:cNvSpPr/>
          <p:nvPr/>
        </p:nvSpPr>
        <p:spPr>
          <a:xfrm rot="5400000">
            <a:off x="93645" y="684547"/>
            <a:ext cx="91479" cy="28758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61" name="Google Shape;361;p27"/>
          <p:cNvSpPr/>
          <p:nvPr/>
        </p:nvSpPr>
        <p:spPr>
          <a:xfrm rot="5400000">
            <a:off x="649087" y="69114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62" name="Google Shape;362;p27"/>
          <p:cNvSpPr/>
          <p:nvPr/>
        </p:nvSpPr>
        <p:spPr>
          <a:xfrm rot="5400000">
            <a:off x="420402" y="736885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63" name="Google Shape;363;p27"/>
          <p:cNvSpPr/>
          <p:nvPr/>
        </p:nvSpPr>
        <p:spPr>
          <a:xfrm rot="5400000">
            <a:off x="831987" y="782622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64" name="Google Shape;364;p27"/>
          <p:cNvSpPr/>
          <p:nvPr/>
        </p:nvSpPr>
        <p:spPr>
          <a:xfrm rot="5400000">
            <a:off x="740537" y="8740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65" name="Google Shape;365;p27"/>
          <p:cNvSpPr/>
          <p:nvPr/>
        </p:nvSpPr>
        <p:spPr>
          <a:xfrm rot="5400000">
            <a:off x="8428651" y="78267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66" name="Google Shape;366;p27"/>
          <p:cNvSpPr/>
          <p:nvPr/>
        </p:nvSpPr>
        <p:spPr>
          <a:xfrm rot="5400000">
            <a:off x="8236926" y="78267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67" name="Google Shape;367;p27"/>
          <p:cNvSpPr/>
          <p:nvPr/>
        </p:nvSpPr>
        <p:spPr>
          <a:xfrm rot="5400000">
            <a:off x="8520076" y="87414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8"/>
          <p:cNvSpPr txBox="1"/>
          <p:nvPr>
            <p:ph type="title"/>
          </p:nvPr>
        </p:nvSpPr>
        <p:spPr>
          <a:xfrm>
            <a:off x="2986550" y="1841900"/>
            <a:ext cx="5493000" cy="1579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370" name="Google Shape;370;p28"/>
          <p:cNvSpPr txBox="1"/>
          <p:nvPr>
            <p:ph idx="2" type="title"/>
          </p:nvPr>
        </p:nvSpPr>
        <p:spPr>
          <a:xfrm>
            <a:off x="1082250" y="1867588"/>
            <a:ext cx="1268400" cy="12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9pPr>
          </a:lstStyle>
          <a:p/>
        </p:txBody>
      </p:sp>
      <p:sp>
        <p:nvSpPr>
          <p:cNvPr id="371" name="Google Shape;371;p28"/>
          <p:cNvSpPr txBox="1"/>
          <p:nvPr>
            <p:ph idx="1" type="subTitle"/>
          </p:nvPr>
        </p:nvSpPr>
        <p:spPr>
          <a:xfrm>
            <a:off x="3300200" y="3421400"/>
            <a:ext cx="5179500" cy="4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2" name="Google Shape;372;p28"/>
          <p:cNvSpPr/>
          <p:nvPr/>
        </p:nvSpPr>
        <p:spPr>
          <a:xfrm rot="5400000">
            <a:off x="8196035" y="3987363"/>
            <a:ext cx="91479" cy="1049003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73" name="Google Shape;373;p28"/>
          <p:cNvSpPr/>
          <p:nvPr/>
        </p:nvSpPr>
        <p:spPr>
          <a:xfrm rot="5400000">
            <a:off x="8914812" y="4420384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74" name="Google Shape;374;p28"/>
          <p:cNvSpPr/>
          <p:nvPr/>
        </p:nvSpPr>
        <p:spPr>
          <a:xfrm rot="5400000">
            <a:off x="816619" y="-109685"/>
            <a:ext cx="91479" cy="1188688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75" name="Google Shape;375;p28"/>
          <p:cNvSpPr/>
          <p:nvPr/>
        </p:nvSpPr>
        <p:spPr>
          <a:xfrm rot="5400000">
            <a:off x="1593927" y="393197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76" name="Google Shape;376;p28"/>
          <p:cNvSpPr/>
          <p:nvPr/>
        </p:nvSpPr>
        <p:spPr>
          <a:xfrm rot="5400000">
            <a:off x="1914062" y="530409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77" name="Google Shape;377;p28"/>
          <p:cNvSpPr/>
          <p:nvPr/>
        </p:nvSpPr>
        <p:spPr>
          <a:xfrm rot="5400000">
            <a:off x="2005512" y="438934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78" name="Google Shape;378;p28"/>
          <p:cNvSpPr/>
          <p:nvPr/>
        </p:nvSpPr>
        <p:spPr>
          <a:xfrm rot="5400000">
            <a:off x="1822612" y="347459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81" name="Google Shape;381;p29"/>
          <p:cNvSpPr txBox="1"/>
          <p:nvPr>
            <p:ph idx="1" type="body"/>
          </p:nvPr>
        </p:nvSpPr>
        <p:spPr>
          <a:xfrm>
            <a:off x="720000" y="1370025"/>
            <a:ext cx="77040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9pPr>
          </a:lstStyle>
          <a:p/>
        </p:txBody>
      </p:sp>
      <p:sp>
        <p:nvSpPr>
          <p:cNvPr id="382" name="Google Shape;382;p29"/>
          <p:cNvSpPr/>
          <p:nvPr/>
        </p:nvSpPr>
        <p:spPr>
          <a:xfrm rot="5400000">
            <a:off x="93645" y="684547"/>
            <a:ext cx="91479" cy="28758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83" name="Google Shape;383;p29"/>
          <p:cNvSpPr/>
          <p:nvPr/>
        </p:nvSpPr>
        <p:spPr>
          <a:xfrm rot="5400000">
            <a:off x="649087" y="69114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84" name="Google Shape;384;p29"/>
          <p:cNvSpPr/>
          <p:nvPr/>
        </p:nvSpPr>
        <p:spPr>
          <a:xfrm rot="5400000">
            <a:off x="420402" y="736885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85" name="Google Shape;385;p29"/>
          <p:cNvSpPr/>
          <p:nvPr/>
        </p:nvSpPr>
        <p:spPr>
          <a:xfrm rot="5400000">
            <a:off x="831987" y="782622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86" name="Google Shape;386;p29"/>
          <p:cNvSpPr/>
          <p:nvPr/>
        </p:nvSpPr>
        <p:spPr>
          <a:xfrm rot="5400000">
            <a:off x="740537" y="8740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87" name="Google Shape;387;p29"/>
          <p:cNvSpPr/>
          <p:nvPr/>
        </p:nvSpPr>
        <p:spPr>
          <a:xfrm rot="5400000">
            <a:off x="8880022" y="609252"/>
            <a:ext cx="91479" cy="43822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88" name="Google Shape;388;p29"/>
          <p:cNvSpPr/>
          <p:nvPr/>
        </p:nvSpPr>
        <p:spPr>
          <a:xfrm rot="5400000">
            <a:off x="8567543" y="643959"/>
            <a:ext cx="91479" cy="185861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89" name="Google Shape;389;p29"/>
          <p:cNvSpPr/>
          <p:nvPr/>
        </p:nvSpPr>
        <p:spPr>
          <a:xfrm rot="5400000">
            <a:off x="8428651" y="78267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90" name="Google Shape;390;p29"/>
          <p:cNvSpPr/>
          <p:nvPr/>
        </p:nvSpPr>
        <p:spPr>
          <a:xfrm rot="5400000">
            <a:off x="8236926" y="78267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91" name="Google Shape;391;p29"/>
          <p:cNvSpPr/>
          <p:nvPr/>
        </p:nvSpPr>
        <p:spPr>
          <a:xfrm rot="5400000">
            <a:off x="8520076" y="87414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0"/>
          <p:cNvSpPr txBox="1"/>
          <p:nvPr>
            <p:ph idx="1" type="subTitle"/>
          </p:nvPr>
        </p:nvSpPr>
        <p:spPr>
          <a:xfrm>
            <a:off x="2399250" y="1448200"/>
            <a:ext cx="5254500" cy="4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394" name="Google Shape;394;p30"/>
          <p:cNvSpPr txBox="1"/>
          <p:nvPr>
            <p:ph idx="2" type="subTitle"/>
          </p:nvPr>
        </p:nvSpPr>
        <p:spPr>
          <a:xfrm>
            <a:off x="2399250" y="3051625"/>
            <a:ext cx="5254500" cy="4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395" name="Google Shape;395;p30"/>
          <p:cNvSpPr txBox="1"/>
          <p:nvPr>
            <p:ph idx="3" type="subTitle"/>
          </p:nvPr>
        </p:nvSpPr>
        <p:spPr>
          <a:xfrm>
            <a:off x="2399250" y="1814000"/>
            <a:ext cx="5254500" cy="10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6" name="Google Shape;396;p30"/>
          <p:cNvSpPr txBox="1"/>
          <p:nvPr>
            <p:ph idx="4" type="subTitle"/>
          </p:nvPr>
        </p:nvSpPr>
        <p:spPr>
          <a:xfrm>
            <a:off x="2399250" y="3417425"/>
            <a:ext cx="5254500" cy="10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7" name="Google Shape;397;p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98" name="Google Shape;398;p30"/>
          <p:cNvSpPr/>
          <p:nvPr/>
        </p:nvSpPr>
        <p:spPr>
          <a:xfrm rot="5400000">
            <a:off x="8879160" y="574877"/>
            <a:ext cx="91479" cy="43822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99" name="Google Shape;399;p30"/>
          <p:cNvSpPr/>
          <p:nvPr/>
        </p:nvSpPr>
        <p:spPr>
          <a:xfrm rot="5400000">
            <a:off x="8478731" y="792534"/>
            <a:ext cx="91479" cy="185861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00" name="Google Shape;400;p30"/>
          <p:cNvSpPr/>
          <p:nvPr/>
        </p:nvSpPr>
        <p:spPr>
          <a:xfrm rot="5400000">
            <a:off x="98045" y="650222"/>
            <a:ext cx="91479" cy="28758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01" name="Google Shape;401;p30"/>
          <p:cNvSpPr/>
          <p:nvPr/>
        </p:nvSpPr>
        <p:spPr>
          <a:xfrm rot="5400000">
            <a:off x="439487" y="656822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02" name="Google Shape;402;p30"/>
          <p:cNvSpPr/>
          <p:nvPr/>
        </p:nvSpPr>
        <p:spPr>
          <a:xfrm rot="5400000">
            <a:off x="210802" y="519585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03" name="Google Shape;403;p30"/>
          <p:cNvSpPr/>
          <p:nvPr/>
        </p:nvSpPr>
        <p:spPr>
          <a:xfrm rot="5400000">
            <a:off x="713837" y="7482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04" name="Google Shape;404;p30"/>
          <p:cNvSpPr/>
          <p:nvPr/>
        </p:nvSpPr>
        <p:spPr>
          <a:xfrm rot="5400000">
            <a:off x="530937" y="83974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05" name="Google Shape;405;p30"/>
          <p:cNvSpPr/>
          <p:nvPr/>
        </p:nvSpPr>
        <p:spPr>
          <a:xfrm rot="5400000">
            <a:off x="8340139" y="74829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06" name="Google Shape;406;p30"/>
          <p:cNvSpPr/>
          <p:nvPr/>
        </p:nvSpPr>
        <p:spPr>
          <a:xfrm rot="5400000">
            <a:off x="8705739" y="74829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07" name="Google Shape;407;p30"/>
          <p:cNvSpPr/>
          <p:nvPr/>
        </p:nvSpPr>
        <p:spPr>
          <a:xfrm rot="5400000">
            <a:off x="8522939" y="65682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08" name="Google Shape;408;p30"/>
          <p:cNvSpPr/>
          <p:nvPr/>
        </p:nvSpPr>
        <p:spPr>
          <a:xfrm rot="5400000">
            <a:off x="622387" y="8397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09" name="Google Shape;409;p30"/>
          <p:cNvSpPr/>
          <p:nvPr/>
        </p:nvSpPr>
        <p:spPr>
          <a:xfrm rot="5400000">
            <a:off x="287562" y="8397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10" name="Google Shape;410;p30"/>
          <p:cNvSpPr/>
          <p:nvPr/>
        </p:nvSpPr>
        <p:spPr>
          <a:xfrm rot="5400000">
            <a:off x="8614339" y="83974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13" name="Google Shape;413;p31"/>
          <p:cNvSpPr txBox="1"/>
          <p:nvPr>
            <p:ph idx="1" type="body"/>
          </p:nvPr>
        </p:nvSpPr>
        <p:spPr>
          <a:xfrm>
            <a:off x="4491100" y="1576150"/>
            <a:ext cx="3939600" cy="29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4" name="Google Shape;414;p31"/>
          <p:cNvSpPr/>
          <p:nvPr>
            <p:ph idx="2" type="pic"/>
          </p:nvPr>
        </p:nvSpPr>
        <p:spPr>
          <a:xfrm>
            <a:off x="720000" y="1374425"/>
            <a:ext cx="3232800" cy="3232800"/>
          </a:xfrm>
          <a:prstGeom prst="snip1Rect">
            <a:avLst>
              <a:gd fmla="val 16667" name="adj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5" name="Google Shape;415;p31"/>
          <p:cNvSpPr/>
          <p:nvPr/>
        </p:nvSpPr>
        <p:spPr>
          <a:xfrm rot="5400000">
            <a:off x="93645" y="684547"/>
            <a:ext cx="91479" cy="28758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16" name="Google Shape;416;p31"/>
          <p:cNvSpPr/>
          <p:nvPr/>
        </p:nvSpPr>
        <p:spPr>
          <a:xfrm rot="5400000">
            <a:off x="649087" y="69114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17" name="Google Shape;417;p31"/>
          <p:cNvSpPr/>
          <p:nvPr/>
        </p:nvSpPr>
        <p:spPr>
          <a:xfrm rot="5400000">
            <a:off x="420402" y="736885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18" name="Google Shape;418;p31"/>
          <p:cNvSpPr/>
          <p:nvPr/>
        </p:nvSpPr>
        <p:spPr>
          <a:xfrm rot="5400000">
            <a:off x="831987" y="782622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19" name="Google Shape;419;p31"/>
          <p:cNvSpPr/>
          <p:nvPr/>
        </p:nvSpPr>
        <p:spPr>
          <a:xfrm rot="5400000">
            <a:off x="740537" y="8740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20" name="Google Shape;420;p31"/>
          <p:cNvSpPr/>
          <p:nvPr/>
        </p:nvSpPr>
        <p:spPr>
          <a:xfrm rot="5400000">
            <a:off x="8880022" y="609252"/>
            <a:ext cx="91479" cy="43822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21" name="Google Shape;421;p31"/>
          <p:cNvSpPr/>
          <p:nvPr/>
        </p:nvSpPr>
        <p:spPr>
          <a:xfrm rot="5400000">
            <a:off x="8567543" y="643959"/>
            <a:ext cx="91479" cy="185861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22" name="Google Shape;422;p31"/>
          <p:cNvSpPr/>
          <p:nvPr/>
        </p:nvSpPr>
        <p:spPr>
          <a:xfrm rot="5400000">
            <a:off x="8428651" y="78267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23" name="Google Shape;423;p31"/>
          <p:cNvSpPr/>
          <p:nvPr/>
        </p:nvSpPr>
        <p:spPr>
          <a:xfrm rot="5400000">
            <a:off x="8236926" y="78267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24" name="Google Shape;424;p31"/>
          <p:cNvSpPr/>
          <p:nvPr/>
        </p:nvSpPr>
        <p:spPr>
          <a:xfrm rot="5400000">
            <a:off x="8520076" y="87414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2"/>
          <p:cNvSpPr txBox="1"/>
          <p:nvPr>
            <p:ph type="title"/>
          </p:nvPr>
        </p:nvSpPr>
        <p:spPr>
          <a:xfrm>
            <a:off x="988975" y="1307100"/>
            <a:ext cx="7166100" cy="25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27" name="Google Shape;427;p32"/>
          <p:cNvSpPr/>
          <p:nvPr/>
        </p:nvSpPr>
        <p:spPr>
          <a:xfrm rot="5400000">
            <a:off x="7918485" y="4171013"/>
            <a:ext cx="91479" cy="1049003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28" name="Google Shape;428;p32"/>
          <p:cNvSpPr/>
          <p:nvPr/>
        </p:nvSpPr>
        <p:spPr>
          <a:xfrm rot="5400000">
            <a:off x="8637262" y="4604034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29" name="Google Shape;429;p32"/>
          <p:cNvSpPr/>
          <p:nvPr/>
        </p:nvSpPr>
        <p:spPr>
          <a:xfrm rot="5400000">
            <a:off x="816619" y="-100198"/>
            <a:ext cx="91479" cy="1188688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30" name="Google Shape;430;p32"/>
          <p:cNvSpPr/>
          <p:nvPr/>
        </p:nvSpPr>
        <p:spPr>
          <a:xfrm rot="5400000">
            <a:off x="1593927" y="402685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31" name="Google Shape;431;p32"/>
          <p:cNvSpPr/>
          <p:nvPr/>
        </p:nvSpPr>
        <p:spPr>
          <a:xfrm rot="5400000">
            <a:off x="1914062" y="5398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32" name="Google Shape;432;p32"/>
          <p:cNvSpPr/>
          <p:nvPr/>
        </p:nvSpPr>
        <p:spPr>
          <a:xfrm rot="5400000">
            <a:off x="2005512" y="448422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33" name="Google Shape;433;p32"/>
          <p:cNvSpPr/>
          <p:nvPr/>
        </p:nvSpPr>
        <p:spPr>
          <a:xfrm rot="5400000">
            <a:off x="1822612" y="35694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3"/>
          <p:cNvSpPr txBox="1"/>
          <p:nvPr>
            <p:ph idx="1" type="subTitle"/>
          </p:nvPr>
        </p:nvSpPr>
        <p:spPr>
          <a:xfrm>
            <a:off x="877589" y="1681900"/>
            <a:ext cx="3597000" cy="23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6" name="Google Shape;436;p3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37" name="Google Shape;437;p33"/>
          <p:cNvSpPr txBox="1"/>
          <p:nvPr>
            <p:ph idx="2" type="subTitle"/>
          </p:nvPr>
        </p:nvSpPr>
        <p:spPr>
          <a:xfrm>
            <a:off x="4675336" y="1681900"/>
            <a:ext cx="3597000" cy="23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8" name="Google Shape;438;p33"/>
          <p:cNvSpPr/>
          <p:nvPr/>
        </p:nvSpPr>
        <p:spPr>
          <a:xfrm rot="5400000">
            <a:off x="8879160" y="574877"/>
            <a:ext cx="91479" cy="43822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39" name="Google Shape;439;p33"/>
          <p:cNvSpPr/>
          <p:nvPr/>
        </p:nvSpPr>
        <p:spPr>
          <a:xfrm rot="5400000">
            <a:off x="8478731" y="792534"/>
            <a:ext cx="91479" cy="185861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40" name="Google Shape;440;p33"/>
          <p:cNvSpPr/>
          <p:nvPr/>
        </p:nvSpPr>
        <p:spPr>
          <a:xfrm rot="5400000">
            <a:off x="98045" y="650222"/>
            <a:ext cx="91479" cy="28758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41" name="Google Shape;441;p33"/>
          <p:cNvSpPr/>
          <p:nvPr/>
        </p:nvSpPr>
        <p:spPr>
          <a:xfrm rot="5400000">
            <a:off x="439487" y="656822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42" name="Google Shape;442;p33"/>
          <p:cNvSpPr/>
          <p:nvPr/>
        </p:nvSpPr>
        <p:spPr>
          <a:xfrm rot="5400000">
            <a:off x="210802" y="519585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43" name="Google Shape;443;p33"/>
          <p:cNvSpPr/>
          <p:nvPr/>
        </p:nvSpPr>
        <p:spPr>
          <a:xfrm rot="5400000">
            <a:off x="713837" y="7482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44" name="Google Shape;444;p33"/>
          <p:cNvSpPr/>
          <p:nvPr/>
        </p:nvSpPr>
        <p:spPr>
          <a:xfrm rot="5400000">
            <a:off x="530937" y="83974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45" name="Google Shape;445;p33"/>
          <p:cNvSpPr/>
          <p:nvPr/>
        </p:nvSpPr>
        <p:spPr>
          <a:xfrm rot="5400000">
            <a:off x="8340139" y="74829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46" name="Google Shape;446;p33"/>
          <p:cNvSpPr/>
          <p:nvPr/>
        </p:nvSpPr>
        <p:spPr>
          <a:xfrm rot="5400000">
            <a:off x="8705739" y="74829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47" name="Google Shape;447;p33"/>
          <p:cNvSpPr/>
          <p:nvPr/>
        </p:nvSpPr>
        <p:spPr>
          <a:xfrm rot="5400000">
            <a:off x="8522939" y="65682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48" name="Google Shape;448;p33"/>
          <p:cNvSpPr/>
          <p:nvPr/>
        </p:nvSpPr>
        <p:spPr>
          <a:xfrm rot="5400000">
            <a:off x="622387" y="8397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49" name="Google Shape;449;p33"/>
          <p:cNvSpPr/>
          <p:nvPr/>
        </p:nvSpPr>
        <p:spPr>
          <a:xfrm rot="5400000">
            <a:off x="287562" y="8397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50" name="Google Shape;450;p33"/>
          <p:cNvSpPr/>
          <p:nvPr/>
        </p:nvSpPr>
        <p:spPr>
          <a:xfrm rot="5400000">
            <a:off x="8614339" y="83974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4"/>
          <p:cNvSpPr/>
          <p:nvPr>
            <p:ph idx="2" type="pic"/>
          </p:nvPr>
        </p:nvSpPr>
        <p:spPr>
          <a:xfrm>
            <a:off x="0" y="-5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53" name="Google Shape;453;p34"/>
          <p:cNvSpPr txBox="1"/>
          <p:nvPr>
            <p:ph type="title"/>
          </p:nvPr>
        </p:nvSpPr>
        <p:spPr>
          <a:xfrm>
            <a:off x="713375" y="3628600"/>
            <a:ext cx="7717500" cy="94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35"/>
          <p:cNvSpPr txBox="1"/>
          <p:nvPr>
            <p:ph hasCustomPrompt="1" type="title"/>
          </p:nvPr>
        </p:nvSpPr>
        <p:spPr>
          <a:xfrm>
            <a:off x="1284000" y="1776700"/>
            <a:ext cx="6576000" cy="79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56" name="Google Shape;456;p35"/>
          <p:cNvSpPr txBox="1"/>
          <p:nvPr>
            <p:ph idx="1" type="subTitle"/>
          </p:nvPr>
        </p:nvSpPr>
        <p:spPr>
          <a:xfrm>
            <a:off x="1284000" y="3138200"/>
            <a:ext cx="6576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457" name="Google Shape;457;p35"/>
          <p:cNvSpPr/>
          <p:nvPr/>
        </p:nvSpPr>
        <p:spPr>
          <a:xfrm rot="5400000">
            <a:off x="7918485" y="4171013"/>
            <a:ext cx="91479" cy="1049003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58" name="Google Shape;458;p35"/>
          <p:cNvSpPr/>
          <p:nvPr/>
        </p:nvSpPr>
        <p:spPr>
          <a:xfrm rot="5400000">
            <a:off x="8637262" y="4604034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59" name="Google Shape;459;p35"/>
          <p:cNvSpPr/>
          <p:nvPr/>
        </p:nvSpPr>
        <p:spPr>
          <a:xfrm rot="5400000">
            <a:off x="816619" y="-100198"/>
            <a:ext cx="91479" cy="1188688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60" name="Google Shape;460;p35"/>
          <p:cNvSpPr/>
          <p:nvPr/>
        </p:nvSpPr>
        <p:spPr>
          <a:xfrm rot="5400000">
            <a:off x="1593927" y="402685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61" name="Google Shape;461;p35"/>
          <p:cNvSpPr/>
          <p:nvPr/>
        </p:nvSpPr>
        <p:spPr>
          <a:xfrm rot="5400000">
            <a:off x="1914062" y="5398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62" name="Google Shape;462;p35"/>
          <p:cNvSpPr/>
          <p:nvPr/>
        </p:nvSpPr>
        <p:spPr>
          <a:xfrm rot="5400000">
            <a:off x="2005512" y="448422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63" name="Google Shape;463;p35"/>
          <p:cNvSpPr/>
          <p:nvPr/>
        </p:nvSpPr>
        <p:spPr>
          <a:xfrm rot="5400000">
            <a:off x="1822612" y="35694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68" name="Google Shape;468;p38"/>
          <p:cNvSpPr/>
          <p:nvPr/>
        </p:nvSpPr>
        <p:spPr>
          <a:xfrm rot="5400000">
            <a:off x="8879160" y="574877"/>
            <a:ext cx="91479" cy="43822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69" name="Google Shape;469;p38"/>
          <p:cNvSpPr/>
          <p:nvPr/>
        </p:nvSpPr>
        <p:spPr>
          <a:xfrm rot="5400000">
            <a:off x="8478731" y="792534"/>
            <a:ext cx="91479" cy="185861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70" name="Google Shape;470;p38"/>
          <p:cNvSpPr/>
          <p:nvPr/>
        </p:nvSpPr>
        <p:spPr>
          <a:xfrm rot="5400000">
            <a:off x="98045" y="650222"/>
            <a:ext cx="91479" cy="28758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71" name="Google Shape;471;p38"/>
          <p:cNvSpPr/>
          <p:nvPr/>
        </p:nvSpPr>
        <p:spPr>
          <a:xfrm rot="5400000">
            <a:off x="439487" y="656822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72" name="Google Shape;472;p38"/>
          <p:cNvSpPr/>
          <p:nvPr/>
        </p:nvSpPr>
        <p:spPr>
          <a:xfrm rot="5400000">
            <a:off x="210802" y="519585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73" name="Google Shape;473;p38"/>
          <p:cNvSpPr/>
          <p:nvPr/>
        </p:nvSpPr>
        <p:spPr>
          <a:xfrm rot="5400000">
            <a:off x="713837" y="7482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74" name="Google Shape;474;p38"/>
          <p:cNvSpPr/>
          <p:nvPr/>
        </p:nvSpPr>
        <p:spPr>
          <a:xfrm rot="5400000">
            <a:off x="530937" y="83974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75" name="Google Shape;475;p38"/>
          <p:cNvSpPr/>
          <p:nvPr/>
        </p:nvSpPr>
        <p:spPr>
          <a:xfrm rot="5400000">
            <a:off x="8340139" y="74829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76" name="Google Shape;476;p38"/>
          <p:cNvSpPr/>
          <p:nvPr/>
        </p:nvSpPr>
        <p:spPr>
          <a:xfrm rot="5400000">
            <a:off x="8705739" y="74829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77" name="Google Shape;477;p38"/>
          <p:cNvSpPr/>
          <p:nvPr/>
        </p:nvSpPr>
        <p:spPr>
          <a:xfrm rot="5400000">
            <a:off x="8522939" y="65682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78" name="Google Shape;478;p38"/>
          <p:cNvSpPr/>
          <p:nvPr/>
        </p:nvSpPr>
        <p:spPr>
          <a:xfrm rot="5400000">
            <a:off x="622387" y="8397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79" name="Google Shape;479;p38"/>
          <p:cNvSpPr/>
          <p:nvPr/>
        </p:nvSpPr>
        <p:spPr>
          <a:xfrm rot="5400000">
            <a:off x="287562" y="8397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80" name="Google Shape;480;p38"/>
          <p:cNvSpPr/>
          <p:nvPr/>
        </p:nvSpPr>
        <p:spPr>
          <a:xfrm rot="5400000">
            <a:off x="8614339" y="83974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">
  <p:cSld name="CUSTOM_1"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9"/>
          <p:cNvSpPr txBox="1"/>
          <p:nvPr>
            <p:ph idx="1" type="subTitle"/>
          </p:nvPr>
        </p:nvSpPr>
        <p:spPr>
          <a:xfrm>
            <a:off x="1510775" y="3995200"/>
            <a:ext cx="61224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3" name="Google Shape;483;p39"/>
          <p:cNvSpPr txBox="1"/>
          <p:nvPr>
            <p:ph type="title"/>
          </p:nvPr>
        </p:nvSpPr>
        <p:spPr>
          <a:xfrm>
            <a:off x="7151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84" name="Google Shape;484;p39"/>
          <p:cNvSpPr/>
          <p:nvPr/>
        </p:nvSpPr>
        <p:spPr>
          <a:xfrm rot="5400000">
            <a:off x="93645" y="684547"/>
            <a:ext cx="91479" cy="28758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85" name="Google Shape;485;p39"/>
          <p:cNvSpPr/>
          <p:nvPr/>
        </p:nvSpPr>
        <p:spPr>
          <a:xfrm rot="5400000">
            <a:off x="649087" y="69114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86" name="Google Shape;486;p39"/>
          <p:cNvSpPr/>
          <p:nvPr/>
        </p:nvSpPr>
        <p:spPr>
          <a:xfrm rot="5400000">
            <a:off x="420402" y="736885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87" name="Google Shape;487;p39"/>
          <p:cNvSpPr/>
          <p:nvPr/>
        </p:nvSpPr>
        <p:spPr>
          <a:xfrm rot="5400000">
            <a:off x="831987" y="782622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88" name="Google Shape;488;p39"/>
          <p:cNvSpPr/>
          <p:nvPr/>
        </p:nvSpPr>
        <p:spPr>
          <a:xfrm rot="5400000">
            <a:off x="740537" y="8740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89" name="Google Shape;489;p39"/>
          <p:cNvSpPr/>
          <p:nvPr/>
        </p:nvSpPr>
        <p:spPr>
          <a:xfrm rot="5400000">
            <a:off x="8880022" y="609252"/>
            <a:ext cx="91479" cy="43822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90" name="Google Shape;490;p39"/>
          <p:cNvSpPr/>
          <p:nvPr/>
        </p:nvSpPr>
        <p:spPr>
          <a:xfrm rot="5400000">
            <a:off x="8567543" y="643959"/>
            <a:ext cx="91479" cy="185861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91" name="Google Shape;491;p39"/>
          <p:cNvSpPr/>
          <p:nvPr/>
        </p:nvSpPr>
        <p:spPr>
          <a:xfrm rot="5400000">
            <a:off x="8428651" y="78267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92" name="Google Shape;492;p39"/>
          <p:cNvSpPr/>
          <p:nvPr/>
        </p:nvSpPr>
        <p:spPr>
          <a:xfrm rot="5400000">
            <a:off x="8236926" y="78267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93" name="Google Shape;493;p39"/>
          <p:cNvSpPr/>
          <p:nvPr/>
        </p:nvSpPr>
        <p:spPr>
          <a:xfrm rot="5400000">
            <a:off x="8520076" y="87414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40"/>
          <p:cNvSpPr txBox="1"/>
          <p:nvPr>
            <p:ph idx="1" type="subTitle"/>
          </p:nvPr>
        </p:nvSpPr>
        <p:spPr>
          <a:xfrm>
            <a:off x="720000" y="3275725"/>
            <a:ext cx="2469000" cy="7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6" name="Google Shape;496;p40"/>
          <p:cNvSpPr txBox="1"/>
          <p:nvPr>
            <p:ph idx="2" type="subTitle"/>
          </p:nvPr>
        </p:nvSpPr>
        <p:spPr>
          <a:xfrm>
            <a:off x="3337500" y="3274789"/>
            <a:ext cx="2469000" cy="7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7" name="Google Shape;497;p40"/>
          <p:cNvSpPr txBox="1"/>
          <p:nvPr>
            <p:ph idx="3" type="subTitle"/>
          </p:nvPr>
        </p:nvSpPr>
        <p:spPr>
          <a:xfrm>
            <a:off x="5961725" y="3275725"/>
            <a:ext cx="2469000" cy="7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8" name="Google Shape;498;p4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99" name="Google Shape;499;p40"/>
          <p:cNvSpPr txBox="1"/>
          <p:nvPr>
            <p:ph idx="4" type="subTitle"/>
          </p:nvPr>
        </p:nvSpPr>
        <p:spPr>
          <a:xfrm>
            <a:off x="720000" y="2904075"/>
            <a:ext cx="24690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500" name="Google Shape;500;p40"/>
          <p:cNvSpPr txBox="1"/>
          <p:nvPr>
            <p:ph idx="5" type="subTitle"/>
          </p:nvPr>
        </p:nvSpPr>
        <p:spPr>
          <a:xfrm>
            <a:off x="5961725" y="2904075"/>
            <a:ext cx="24690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501" name="Google Shape;501;p40"/>
          <p:cNvSpPr txBox="1"/>
          <p:nvPr>
            <p:ph idx="6" type="subTitle"/>
          </p:nvPr>
        </p:nvSpPr>
        <p:spPr>
          <a:xfrm>
            <a:off x="3337500" y="2904063"/>
            <a:ext cx="24690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502" name="Google Shape;502;p40"/>
          <p:cNvSpPr/>
          <p:nvPr/>
        </p:nvSpPr>
        <p:spPr>
          <a:xfrm rot="5400000">
            <a:off x="93645" y="684547"/>
            <a:ext cx="91479" cy="28758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03" name="Google Shape;503;p40"/>
          <p:cNvSpPr/>
          <p:nvPr/>
        </p:nvSpPr>
        <p:spPr>
          <a:xfrm rot="5400000">
            <a:off x="649087" y="69114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04" name="Google Shape;504;p40"/>
          <p:cNvSpPr/>
          <p:nvPr/>
        </p:nvSpPr>
        <p:spPr>
          <a:xfrm rot="5400000">
            <a:off x="420402" y="736885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05" name="Google Shape;505;p40"/>
          <p:cNvSpPr/>
          <p:nvPr/>
        </p:nvSpPr>
        <p:spPr>
          <a:xfrm rot="5400000">
            <a:off x="831987" y="782622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06" name="Google Shape;506;p40"/>
          <p:cNvSpPr/>
          <p:nvPr/>
        </p:nvSpPr>
        <p:spPr>
          <a:xfrm rot="5400000">
            <a:off x="740537" y="8740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07" name="Google Shape;507;p40"/>
          <p:cNvSpPr/>
          <p:nvPr/>
        </p:nvSpPr>
        <p:spPr>
          <a:xfrm rot="5400000">
            <a:off x="8880022" y="609252"/>
            <a:ext cx="91479" cy="43822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08" name="Google Shape;508;p40"/>
          <p:cNvSpPr/>
          <p:nvPr/>
        </p:nvSpPr>
        <p:spPr>
          <a:xfrm rot="5400000">
            <a:off x="8567543" y="643959"/>
            <a:ext cx="91479" cy="185861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09" name="Google Shape;509;p40"/>
          <p:cNvSpPr/>
          <p:nvPr/>
        </p:nvSpPr>
        <p:spPr>
          <a:xfrm rot="5400000">
            <a:off x="8428651" y="78267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10" name="Google Shape;510;p40"/>
          <p:cNvSpPr/>
          <p:nvPr/>
        </p:nvSpPr>
        <p:spPr>
          <a:xfrm rot="5400000">
            <a:off x="8236926" y="78267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11" name="Google Shape;511;p40"/>
          <p:cNvSpPr/>
          <p:nvPr/>
        </p:nvSpPr>
        <p:spPr>
          <a:xfrm rot="5400000">
            <a:off x="8520076" y="87414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2"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4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14" name="Google Shape;514;p41"/>
          <p:cNvSpPr txBox="1"/>
          <p:nvPr>
            <p:ph idx="2" type="title"/>
          </p:nvPr>
        </p:nvSpPr>
        <p:spPr>
          <a:xfrm>
            <a:off x="771550" y="1658449"/>
            <a:ext cx="7335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15" name="Google Shape;515;p41"/>
          <p:cNvSpPr txBox="1"/>
          <p:nvPr>
            <p:ph idx="3" type="title"/>
          </p:nvPr>
        </p:nvSpPr>
        <p:spPr>
          <a:xfrm>
            <a:off x="772598" y="3244798"/>
            <a:ext cx="731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16" name="Google Shape;516;p41"/>
          <p:cNvSpPr txBox="1"/>
          <p:nvPr>
            <p:ph idx="4" type="title"/>
          </p:nvPr>
        </p:nvSpPr>
        <p:spPr>
          <a:xfrm>
            <a:off x="4735151" y="1659492"/>
            <a:ext cx="731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17" name="Google Shape;517;p41"/>
          <p:cNvSpPr txBox="1"/>
          <p:nvPr>
            <p:ph idx="5" type="title"/>
          </p:nvPr>
        </p:nvSpPr>
        <p:spPr>
          <a:xfrm>
            <a:off x="4735151" y="3244800"/>
            <a:ext cx="731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18" name="Google Shape;518;p41"/>
          <p:cNvSpPr/>
          <p:nvPr/>
        </p:nvSpPr>
        <p:spPr>
          <a:xfrm rot="5400000">
            <a:off x="93645" y="684547"/>
            <a:ext cx="91479" cy="28758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19" name="Google Shape;519;p41"/>
          <p:cNvSpPr/>
          <p:nvPr/>
        </p:nvSpPr>
        <p:spPr>
          <a:xfrm rot="5400000">
            <a:off x="649087" y="69114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20" name="Google Shape;520;p41"/>
          <p:cNvSpPr/>
          <p:nvPr/>
        </p:nvSpPr>
        <p:spPr>
          <a:xfrm rot="5400000">
            <a:off x="420402" y="736885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21" name="Google Shape;521;p41"/>
          <p:cNvSpPr/>
          <p:nvPr/>
        </p:nvSpPr>
        <p:spPr>
          <a:xfrm rot="5400000">
            <a:off x="831987" y="782622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22" name="Google Shape;522;p41"/>
          <p:cNvSpPr/>
          <p:nvPr/>
        </p:nvSpPr>
        <p:spPr>
          <a:xfrm rot="5400000">
            <a:off x="740537" y="8740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23" name="Google Shape;523;p41"/>
          <p:cNvSpPr/>
          <p:nvPr/>
        </p:nvSpPr>
        <p:spPr>
          <a:xfrm rot="5400000">
            <a:off x="8880022" y="609252"/>
            <a:ext cx="91479" cy="43822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24" name="Google Shape;524;p41"/>
          <p:cNvSpPr/>
          <p:nvPr/>
        </p:nvSpPr>
        <p:spPr>
          <a:xfrm rot="5400000">
            <a:off x="8567543" y="643959"/>
            <a:ext cx="91479" cy="185861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25" name="Google Shape;525;p41"/>
          <p:cNvSpPr/>
          <p:nvPr/>
        </p:nvSpPr>
        <p:spPr>
          <a:xfrm rot="5400000">
            <a:off x="8428651" y="78267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26" name="Google Shape;526;p41"/>
          <p:cNvSpPr/>
          <p:nvPr/>
        </p:nvSpPr>
        <p:spPr>
          <a:xfrm rot="5400000">
            <a:off x="8236926" y="78267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27" name="Google Shape;527;p41"/>
          <p:cNvSpPr/>
          <p:nvPr/>
        </p:nvSpPr>
        <p:spPr>
          <a:xfrm rot="5400000">
            <a:off x="8520076" y="87414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28" name="Google Shape;528;p41"/>
          <p:cNvSpPr txBox="1"/>
          <p:nvPr>
            <p:ph idx="1" type="subTitle"/>
          </p:nvPr>
        </p:nvSpPr>
        <p:spPr>
          <a:xfrm>
            <a:off x="1653975" y="2259988"/>
            <a:ext cx="252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9" name="Google Shape;529;p41"/>
          <p:cNvSpPr txBox="1"/>
          <p:nvPr>
            <p:ph idx="6" type="subTitle"/>
          </p:nvPr>
        </p:nvSpPr>
        <p:spPr>
          <a:xfrm>
            <a:off x="5613775" y="2255438"/>
            <a:ext cx="252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0" name="Google Shape;530;p41"/>
          <p:cNvSpPr txBox="1"/>
          <p:nvPr>
            <p:ph idx="7" type="subTitle"/>
          </p:nvPr>
        </p:nvSpPr>
        <p:spPr>
          <a:xfrm>
            <a:off x="1654077" y="3847613"/>
            <a:ext cx="252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1" name="Google Shape;531;p41"/>
          <p:cNvSpPr txBox="1"/>
          <p:nvPr>
            <p:ph idx="8" type="subTitle"/>
          </p:nvPr>
        </p:nvSpPr>
        <p:spPr>
          <a:xfrm>
            <a:off x="5613775" y="3847613"/>
            <a:ext cx="252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9" type="subTitle"/>
          </p:nvPr>
        </p:nvSpPr>
        <p:spPr>
          <a:xfrm>
            <a:off x="1703550" y="1609203"/>
            <a:ext cx="2834400" cy="765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533" name="Google Shape;533;p41"/>
          <p:cNvSpPr txBox="1"/>
          <p:nvPr>
            <p:ph idx="13" type="subTitle"/>
          </p:nvPr>
        </p:nvSpPr>
        <p:spPr>
          <a:xfrm>
            <a:off x="1703650" y="3196903"/>
            <a:ext cx="2834400" cy="765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534" name="Google Shape;534;p41"/>
          <p:cNvSpPr txBox="1"/>
          <p:nvPr>
            <p:ph idx="14" type="subTitle"/>
          </p:nvPr>
        </p:nvSpPr>
        <p:spPr>
          <a:xfrm>
            <a:off x="5613775" y="1604603"/>
            <a:ext cx="2834700" cy="765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535" name="Google Shape;535;p41"/>
          <p:cNvSpPr txBox="1"/>
          <p:nvPr>
            <p:ph idx="15" type="subTitle"/>
          </p:nvPr>
        </p:nvSpPr>
        <p:spPr>
          <a:xfrm>
            <a:off x="5663450" y="3196903"/>
            <a:ext cx="2834700" cy="765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42"/>
          <p:cNvSpPr txBox="1"/>
          <p:nvPr>
            <p:ph idx="1" type="subTitle"/>
          </p:nvPr>
        </p:nvSpPr>
        <p:spPr>
          <a:xfrm>
            <a:off x="719975" y="2286475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8" name="Google Shape;538;p42"/>
          <p:cNvSpPr txBox="1"/>
          <p:nvPr>
            <p:ph idx="2" type="subTitle"/>
          </p:nvPr>
        </p:nvSpPr>
        <p:spPr>
          <a:xfrm>
            <a:off x="3419244" y="2286475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9" name="Google Shape;539;p42"/>
          <p:cNvSpPr txBox="1"/>
          <p:nvPr>
            <p:ph idx="3" type="subTitle"/>
          </p:nvPr>
        </p:nvSpPr>
        <p:spPr>
          <a:xfrm>
            <a:off x="719975" y="4024675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0" name="Google Shape;540;p42"/>
          <p:cNvSpPr txBox="1"/>
          <p:nvPr>
            <p:ph idx="4" type="subTitle"/>
          </p:nvPr>
        </p:nvSpPr>
        <p:spPr>
          <a:xfrm>
            <a:off x="3419244" y="4024675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1" name="Google Shape;541;p42"/>
          <p:cNvSpPr txBox="1"/>
          <p:nvPr>
            <p:ph idx="5" type="subTitle"/>
          </p:nvPr>
        </p:nvSpPr>
        <p:spPr>
          <a:xfrm>
            <a:off x="6118520" y="2286475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2" name="Google Shape;542;p42"/>
          <p:cNvSpPr txBox="1"/>
          <p:nvPr>
            <p:ph idx="6" type="subTitle"/>
          </p:nvPr>
        </p:nvSpPr>
        <p:spPr>
          <a:xfrm>
            <a:off x="6118520" y="4024675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3" name="Google Shape;543;p4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44" name="Google Shape;544;p42"/>
          <p:cNvSpPr txBox="1"/>
          <p:nvPr>
            <p:ph idx="7" type="subTitle"/>
          </p:nvPr>
        </p:nvSpPr>
        <p:spPr>
          <a:xfrm>
            <a:off x="719975" y="2047025"/>
            <a:ext cx="23055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545" name="Google Shape;545;p42"/>
          <p:cNvSpPr txBox="1"/>
          <p:nvPr>
            <p:ph idx="8" type="subTitle"/>
          </p:nvPr>
        </p:nvSpPr>
        <p:spPr>
          <a:xfrm>
            <a:off x="3419244" y="2047025"/>
            <a:ext cx="23055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546" name="Google Shape;546;p42"/>
          <p:cNvSpPr txBox="1"/>
          <p:nvPr>
            <p:ph idx="9" type="subTitle"/>
          </p:nvPr>
        </p:nvSpPr>
        <p:spPr>
          <a:xfrm>
            <a:off x="6118520" y="2047025"/>
            <a:ext cx="23055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547" name="Google Shape;547;p42"/>
          <p:cNvSpPr txBox="1"/>
          <p:nvPr>
            <p:ph idx="13" type="subTitle"/>
          </p:nvPr>
        </p:nvSpPr>
        <p:spPr>
          <a:xfrm>
            <a:off x="719975" y="3785275"/>
            <a:ext cx="23055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548" name="Google Shape;548;p42"/>
          <p:cNvSpPr txBox="1"/>
          <p:nvPr>
            <p:ph idx="14" type="subTitle"/>
          </p:nvPr>
        </p:nvSpPr>
        <p:spPr>
          <a:xfrm>
            <a:off x="3419250" y="3785275"/>
            <a:ext cx="23055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549" name="Google Shape;549;p42"/>
          <p:cNvSpPr txBox="1"/>
          <p:nvPr>
            <p:ph idx="15" type="subTitle"/>
          </p:nvPr>
        </p:nvSpPr>
        <p:spPr>
          <a:xfrm>
            <a:off x="6118525" y="3785275"/>
            <a:ext cx="23055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550" name="Google Shape;550;p42"/>
          <p:cNvSpPr/>
          <p:nvPr/>
        </p:nvSpPr>
        <p:spPr>
          <a:xfrm rot="5400000">
            <a:off x="8879160" y="574877"/>
            <a:ext cx="91479" cy="43822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51" name="Google Shape;551;p42"/>
          <p:cNvSpPr/>
          <p:nvPr/>
        </p:nvSpPr>
        <p:spPr>
          <a:xfrm rot="5400000">
            <a:off x="8478731" y="792534"/>
            <a:ext cx="91479" cy="185861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52" name="Google Shape;552;p42"/>
          <p:cNvSpPr/>
          <p:nvPr/>
        </p:nvSpPr>
        <p:spPr>
          <a:xfrm rot="5400000">
            <a:off x="98045" y="650222"/>
            <a:ext cx="91479" cy="28758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53" name="Google Shape;553;p42"/>
          <p:cNvSpPr/>
          <p:nvPr/>
        </p:nvSpPr>
        <p:spPr>
          <a:xfrm rot="5400000">
            <a:off x="439487" y="656822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54" name="Google Shape;554;p42"/>
          <p:cNvSpPr/>
          <p:nvPr/>
        </p:nvSpPr>
        <p:spPr>
          <a:xfrm rot="5400000">
            <a:off x="210802" y="519585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55" name="Google Shape;555;p42"/>
          <p:cNvSpPr/>
          <p:nvPr/>
        </p:nvSpPr>
        <p:spPr>
          <a:xfrm rot="5400000">
            <a:off x="713837" y="7482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56" name="Google Shape;556;p42"/>
          <p:cNvSpPr/>
          <p:nvPr/>
        </p:nvSpPr>
        <p:spPr>
          <a:xfrm rot="5400000">
            <a:off x="530937" y="83974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57" name="Google Shape;557;p42"/>
          <p:cNvSpPr/>
          <p:nvPr/>
        </p:nvSpPr>
        <p:spPr>
          <a:xfrm rot="5400000">
            <a:off x="8340139" y="74829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58" name="Google Shape;558;p42"/>
          <p:cNvSpPr/>
          <p:nvPr/>
        </p:nvSpPr>
        <p:spPr>
          <a:xfrm rot="5400000">
            <a:off x="8705739" y="74829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59" name="Google Shape;559;p42"/>
          <p:cNvSpPr/>
          <p:nvPr/>
        </p:nvSpPr>
        <p:spPr>
          <a:xfrm rot="5400000">
            <a:off x="8522939" y="65682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60" name="Google Shape;560;p42"/>
          <p:cNvSpPr/>
          <p:nvPr/>
        </p:nvSpPr>
        <p:spPr>
          <a:xfrm rot="5400000">
            <a:off x="622387" y="8397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61" name="Google Shape;561;p42"/>
          <p:cNvSpPr/>
          <p:nvPr/>
        </p:nvSpPr>
        <p:spPr>
          <a:xfrm rot="5400000">
            <a:off x="287562" y="8397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62" name="Google Shape;562;p42"/>
          <p:cNvSpPr/>
          <p:nvPr/>
        </p:nvSpPr>
        <p:spPr>
          <a:xfrm rot="5400000">
            <a:off x="8614339" y="83974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43"/>
          <p:cNvSpPr txBox="1"/>
          <p:nvPr>
            <p:ph type="title"/>
          </p:nvPr>
        </p:nvSpPr>
        <p:spPr>
          <a:xfrm>
            <a:off x="1848000" y="2858566"/>
            <a:ext cx="5448000" cy="75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565" name="Google Shape;565;p43"/>
          <p:cNvSpPr txBox="1"/>
          <p:nvPr>
            <p:ph idx="1" type="subTitle"/>
          </p:nvPr>
        </p:nvSpPr>
        <p:spPr>
          <a:xfrm>
            <a:off x="1848000" y="3613363"/>
            <a:ext cx="54480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6" name="Google Shape;566;p43"/>
          <p:cNvSpPr txBox="1"/>
          <p:nvPr>
            <p:ph idx="2" type="title"/>
          </p:nvPr>
        </p:nvSpPr>
        <p:spPr>
          <a:xfrm>
            <a:off x="1407675" y="1192025"/>
            <a:ext cx="3562200" cy="75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567" name="Google Shape;567;p43"/>
          <p:cNvSpPr txBox="1"/>
          <p:nvPr>
            <p:ph idx="3" type="subTitle"/>
          </p:nvPr>
        </p:nvSpPr>
        <p:spPr>
          <a:xfrm>
            <a:off x="5214675" y="1192025"/>
            <a:ext cx="2548200" cy="75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8" name="Google Shape;568;p43"/>
          <p:cNvSpPr/>
          <p:nvPr/>
        </p:nvSpPr>
        <p:spPr>
          <a:xfrm rot="5400000">
            <a:off x="7918485" y="4213238"/>
            <a:ext cx="91479" cy="1049003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69" name="Google Shape;569;p43"/>
          <p:cNvSpPr/>
          <p:nvPr/>
        </p:nvSpPr>
        <p:spPr>
          <a:xfrm rot="5400000">
            <a:off x="7571468" y="4369684"/>
            <a:ext cx="91479" cy="185861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70" name="Google Shape;570;p43"/>
          <p:cNvSpPr/>
          <p:nvPr/>
        </p:nvSpPr>
        <p:spPr>
          <a:xfrm rot="5400000">
            <a:off x="8637262" y="4646259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71" name="Google Shape;571;p43"/>
          <p:cNvSpPr/>
          <p:nvPr/>
        </p:nvSpPr>
        <p:spPr>
          <a:xfrm rot="5400000">
            <a:off x="7432576" y="450839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72" name="Google Shape;572;p43"/>
          <p:cNvSpPr/>
          <p:nvPr/>
        </p:nvSpPr>
        <p:spPr>
          <a:xfrm rot="5400000">
            <a:off x="758937" y="45936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73" name="Google Shape;573;p43"/>
          <p:cNvSpPr/>
          <p:nvPr/>
        </p:nvSpPr>
        <p:spPr>
          <a:xfrm rot="5400000">
            <a:off x="667487" y="4502222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74" name="Google Shape;574;p43"/>
          <p:cNvSpPr/>
          <p:nvPr/>
        </p:nvSpPr>
        <p:spPr>
          <a:xfrm rot="5400000">
            <a:off x="576037" y="46974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75" name="Google Shape;575;p43"/>
          <p:cNvSpPr/>
          <p:nvPr/>
        </p:nvSpPr>
        <p:spPr>
          <a:xfrm rot="5400000">
            <a:off x="7240851" y="450839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76" name="Google Shape;576;p43"/>
          <p:cNvSpPr/>
          <p:nvPr/>
        </p:nvSpPr>
        <p:spPr>
          <a:xfrm rot="5400000">
            <a:off x="7149426" y="459987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77" name="Google Shape;577;p43"/>
          <p:cNvSpPr/>
          <p:nvPr/>
        </p:nvSpPr>
        <p:spPr>
          <a:xfrm rot="5400000">
            <a:off x="8339326" y="35634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78" name="Google Shape;578;p43"/>
          <p:cNvSpPr/>
          <p:nvPr/>
        </p:nvSpPr>
        <p:spPr>
          <a:xfrm rot="5400000">
            <a:off x="8247901" y="44782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79" name="Google Shape;579;p43"/>
          <p:cNvSpPr/>
          <p:nvPr/>
        </p:nvSpPr>
        <p:spPr>
          <a:xfrm rot="5400000">
            <a:off x="816619" y="-100198"/>
            <a:ext cx="91479" cy="1188688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80" name="Google Shape;580;p43"/>
          <p:cNvSpPr/>
          <p:nvPr/>
        </p:nvSpPr>
        <p:spPr>
          <a:xfrm rot="5400000">
            <a:off x="1593927" y="402685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81" name="Google Shape;581;p43"/>
          <p:cNvSpPr/>
          <p:nvPr/>
        </p:nvSpPr>
        <p:spPr>
          <a:xfrm rot="5400000">
            <a:off x="1914062" y="5398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82" name="Google Shape;582;p43"/>
          <p:cNvSpPr/>
          <p:nvPr/>
        </p:nvSpPr>
        <p:spPr>
          <a:xfrm rot="5400000">
            <a:off x="2005512" y="448422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83" name="Google Shape;583;p43"/>
          <p:cNvSpPr/>
          <p:nvPr/>
        </p:nvSpPr>
        <p:spPr>
          <a:xfrm rot="5400000">
            <a:off x="1822612" y="35694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84" name="Google Shape;584;p43"/>
          <p:cNvSpPr/>
          <p:nvPr/>
        </p:nvSpPr>
        <p:spPr>
          <a:xfrm rot="5400000">
            <a:off x="8156476" y="26607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44"/>
          <p:cNvSpPr txBox="1"/>
          <p:nvPr>
            <p:ph type="title"/>
          </p:nvPr>
        </p:nvSpPr>
        <p:spPr>
          <a:xfrm>
            <a:off x="1384400" y="540000"/>
            <a:ext cx="6375300" cy="12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8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87" name="Google Shape;587;p44"/>
          <p:cNvSpPr txBox="1"/>
          <p:nvPr>
            <p:ph idx="1" type="subTitle"/>
          </p:nvPr>
        </p:nvSpPr>
        <p:spPr>
          <a:xfrm>
            <a:off x="2099050" y="1771800"/>
            <a:ext cx="4945800" cy="12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8" name="Google Shape;588;p44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pc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CREDITS:</a:t>
            </a:r>
            <a:r>
              <a:rPr b="0" i="0" lang="en" spc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This presentation template was created by </a:t>
            </a:r>
            <a:r>
              <a:rPr b="1" i="0" lang="en" spc="0" sz="1200" u="sng" cap="none" strike="noStrik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2"/>
              </a:rPr>
              <a:t>Slidesgo</a:t>
            </a:r>
            <a:r>
              <a:rPr b="0" i="0" lang="en" spc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and includes icons by </a:t>
            </a:r>
            <a:r>
              <a:rPr b="1" i="0" lang="en" spc="0" sz="1200" u="sng" cap="none" strike="noStrik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Flaticon</a:t>
            </a:r>
            <a:r>
              <a:rPr b="0" i="0" lang="en" spc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and infographics &amp; images by </a:t>
            </a:r>
            <a:r>
              <a:rPr b="1" i="0" lang="en" spc="0" sz="1200" u="sng" cap="none" strike="noStrik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Freepik</a:t>
            </a:r>
            <a:r>
              <a:rPr b="0" i="0" lang="en" spc="0" sz="1200" u="sng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1" i="0" spc="0" sz="1200" u="sng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9" name="Google Shape;589;p44"/>
          <p:cNvSpPr/>
          <p:nvPr/>
        </p:nvSpPr>
        <p:spPr>
          <a:xfrm rot="5400000">
            <a:off x="7918485" y="4171013"/>
            <a:ext cx="91479" cy="1049003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90" name="Google Shape;590;p44"/>
          <p:cNvSpPr/>
          <p:nvPr/>
        </p:nvSpPr>
        <p:spPr>
          <a:xfrm rot="5400000">
            <a:off x="8637262" y="4604034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91" name="Google Shape;591;p44"/>
          <p:cNvSpPr/>
          <p:nvPr/>
        </p:nvSpPr>
        <p:spPr>
          <a:xfrm rot="5400000">
            <a:off x="816619" y="-100198"/>
            <a:ext cx="91479" cy="1188688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92" name="Google Shape;592;p44"/>
          <p:cNvSpPr/>
          <p:nvPr/>
        </p:nvSpPr>
        <p:spPr>
          <a:xfrm rot="5400000">
            <a:off x="1593927" y="402685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93" name="Google Shape;593;p44"/>
          <p:cNvSpPr/>
          <p:nvPr/>
        </p:nvSpPr>
        <p:spPr>
          <a:xfrm rot="5400000">
            <a:off x="1914062" y="5398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94" name="Google Shape;594;p44"/>
          <p:cNvSpPr/>
          <p:nvPr/>
        </p:nvSpPr>
        <p:spPr>
          <a:xfrm rot="5400000">
            <a:off x="2005512" y="448422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95" name="Google Shape;595;p44"/>
          <p:cNvSpPr/>
          <p:nvPr/>
        </p:nvSpPr>
        <p:spPr>
          <a:xfrm rot="5400000">
            <a:off x="1822612" y="35694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45"/>
          <p:cNvSpPr/>
          <p:nvPr/>
        </p:nvSpPr>
        <p:spPr>
          <a:xfrm rot="5400000">
            <a:off x="7918485" y="4171013"/>
            <a:ext cx="91479" cy="1049003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98" name="Google Shape;598;p45"/>
          <p:cNvSpPr/>
          <p:nvPr/>
        </p:nvSpPr>
        <p:spPr>
          <a:xfrm rot="5400000">
            <a:off x="7571468" y="4327459"/>
            <a:ext cx="91479" cy="185861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99" name="Google Shape;599;p45"/>
          <p:cNvSpPr/>
          <p:nvPr/>
        </p:nvSpPr>
        <p:spPr>
          <a:xfrm rot="5400000">
            <a:off x="8637262" y="4604034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00" name="Google Shape;600;p45"/>
          <p:cNvSpPr/>
          <p:nvPr/>
        </p:nvSpPr>
        <p:spPr>
          <a:xfrm rot="5400000">
            <a:off x="7432576" y="446617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01" name="Google Shape;601;p45"/>
          <p:cNvSpPr/>
          <p:nvPr/>
        </p:nvSpPr>
        <p:spPr>
          <a:xfrm rot="5400000">
            <a:off x="1548137" y="4094184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02" name="Google Shape;602;p45"/>
          <p:cNvSpPr/>
          <p:nvPr/>
        </p:nvSpPr>
        <p:spPr>
          <a:xfrm rot="5400000">
            <a:off x="1456687" y="4002709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03" name="Google Shape;603;p45"/>
          <p:cNvSpPr/>
          <p:nvPr/>
        </p:nvSpPr>
        <p:spPr>
          <a:xfrm rot="5400000">
            <a:off x="1365237" y="4197984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04" name="Google Shape;604;p45"/>
          <p:cNvSpPr/>
          <p:nvPr/>
        </p:nvSpPr>
        <p:spPr>
          <a:xfrm rot="5400000">
            <a:off x="7240851" y="446617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05" name="Google Shape;605;p45"/>
          <p:cNvSpPr/>
          <p:nvPr/>
        </p:nvSpPr>
        <p:spPr>
          <a:xfrm rot="5400000">
            <a:off x="7149426" y="455764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06" name="Google Shape;606;p45"/>
          <p:cNvSpPr/>
          <p:nvPr/>
        </p:nvSpPr>
        <p:spPr>
          <a:xfrm rot="5400000">
            <a:off x="7942526" y="53872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07" name="Google Shape;607;p45"/>
          <p:cNvSpPr/>
          <p:nvPr/>
        </p:nvSpPr>
        <p:spPr>
          <a:xfrm rot="5400000">
            <a:off x="7851101" y="63019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08" name="Google Shape;608;p45"/>
          <p:cNvSpPr/>
          <p:nvPr/>
        </p:nvSpPr>
        <p:spPr>
          <a:xfrm rot="5400000">
            <a:off x="816619" y="-100198"/>
            <a:ext cx="91479" cy="1188688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09" name="Google Shape;609;p45"/>
          <p:cNvSpPr/>
          <p:nvPr/>
        </p:nvSpPr>
        <p:spPr>
          <a:xfrm rot="5400000">
            <a:off x="1593927" y="402685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10" name="Google Shape;610;p45"/>
          <p:cNvSpPr/>
          <p:nvPr/>
        </p:nvSpPr>
        <p:spPr>
          <a:xfrm rot="5400000">
            <a:off x="1914062" y="5398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11" name="Google Shape;611;p45"/>
          <p:cNvSpPr/>
          <p:nvPr/>
        </p:nvSpPr>
        <p:spPr>
          <a:xfrm rot="5400000">
            <a:off x="2005512" y="448422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12" name="Google Shape;612;p45"/>
          <p:cNvSpPr/>
          <p:nvPr/>
        </p:nvSpPr>
        <p:spPr>
          <a:xfrm rot="5400000">
            <a:off x="1822612" y="35694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13" name="Google Shape;613;p45"/>
          <p:cNvSpPr/>
          <p:nvPr/>
        </p:nvSpPr>
        <p:spPr>
          <a:xfrm rot="5400000">
            <a:off x="5528643" y="639534"/>
            <a:ext cx="91479" cy="185861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14" name="Google Shape;614;p45"/>
          <p:cNvSpPr/>
          <p:nvPr/>
        </p:nvSpPr>
        <p:spPr>
          <a:xfrm rot="5400000">
            <a:off x="5389751" y="77824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15" name="Google Shape;615;p45"/>
          <p:cNvSpPr/>
          <p:nvPr/>
        </p:nvSpPr>
        <p:spPr>
          <a:xfrm rot="5400000">
            <a:off x="3957552" y="4237435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16" name="Google Shape;616;p45"/>
          <p:cNvSpPr/>
          <p:nvPr/>
        </p:nvSpPr>
        <p:spPr>
          <a:xfrm rot="5400000">
            <a:off x="4277687" y="437464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17" name="Google Shape;617;p45"/>
          <p:cNvSpPr/>
          <p:nvPr/>
        </p:nvSpPr>
        <p:spPr>
          <a:xfrm rot="5400000">
            <a:off x="7759676" y="44844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46"/>
          <p:cNvSpPr/>
          <p:nvPr/>
        </p:nvSpPr>
        <p:spPr>
          <a:xfrm rot="5400000">
            <a:off x="7918485" y="4213238"/>
            <a:ext cx="91479" cy="1049003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20" name="Google Shape;620;p46"/>
          <p:cNvSpPr/>
          <p:nvPr/>
        </p:nvSpPr>
        <p:spPr>
          <a:xfrm rot="5400000">
            <a:off x="7571468" y="4369684"/>
            <a:ext cx="91479" cy="185861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21" name="Google Shape;621;p46"/>
          <p:cNvSpPr/>
          <p:nvPr/>
        </p:nvSpPr>
        <p:spPr>
          <a:xfrm rot="5400000">
            <a:off x="8637262" y="4646259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22" name="Google Shape;622;p46"/>
          <p:cNvSpPr/>
          <p:nvPr/>
        </p:nvSpPr>
        <p:spPr>
          <a:xfrm rot="5400000">
            <a:off x="7432576" y="450839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23" name="Google Shape;623;p46"/>
          <p:cNvSpPr/>
          <p:nvPr/>
        </p:nvSpPr>
        <p:spPr>
          <a:xfrm rot="5400000">
            <a:off x="758937" y="45936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24" name="Google Shape;624;p46"/>
          <p:cNvSpPr/>
          <p:nvPr/>
        </p:nvSpPr>
        <p:spPr>
          <a:xfrm rot="5400000">
            <a:off x="667487" y="4502222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25" name="Google Shape;625;p46"/>
          <p:cNvSpPr/>
          <p:nvPr/>
        </p:nvSpPr>
        <p:spPr>
          <a:xfrm rot="5400000">
            <a:off x="576037" y="46974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26" name="Google Shape;626;p46"/>
          <p:cNvSpPr/>
          <p:nvPr/>
        </p:nvSpPr>
        <p:spPr>
          <a:xfrm rot="5400000">
            <a:off x="7240851" y="450839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27" name="Google Shape;627;p46"/>
          <p:cNvSpPr/>
          <p:nvPr/>
        </p:nvSpPr>
        <p:spPr>
          <a:xfrm rot="5400000">
            <a:off x="7149426" y="459987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28" name="Google Shape;628;p46"/>
          <p:cNvSpPr/>
          <p:nvPr/>
        </p:nvSpPr>
        <p:spPr>
          <a:xfrm rot="5400000">
            <a:off x="8339326" y="35634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29" name="Google Shape;629;p46"/>
          <p:cNvSpPr/>
          <p:nvPr/>
        </p:nvSpPr>
        <p:spPr>
          <a:xfrm rot="5400000">
            <a:off x="8247901" y="44782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30" name="Google Shape;630;p46"/>
          <p:cNvSpPr/>
          <p:nvPr/>
        </p:nvSpPr>
        <p:spPr>
          <a:xfrm rot="5400000">
            <a:off x="816619" y="-100198"/>
            <a:ext cx="91479" cy="1188688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31" name="Google Shape;631;p46"/>
          <p:cNvSpPr/>
          <p:nvPr/>
        </p:nvSpPr>
        <p:spPr>
          <a:xfrm rot="5400000">
            <a:off x="1593927" y="402685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32" name="Google Shape;632;p46"/>
          <p:cNvSpPr/>
          <p:nvPr/>
        </p:nvSpPr>
        <p:spPr>
          <a:xfrm rot="5400000">
            <a:off x="1914062" y="5398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33" name="Google Shape;633;p46"/>
          <p:cNvSpPr/>
          <p:nvPr/>
        </p:nvSpPr>
        <p:spPr>
          <a:xfrm rot="5400000">
            <a:off x="2005512" y="448422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34" name="Google Shape;634;p46"/>
          <p:cNvSpPr/>
          <p:nvPr/>
        </p:nvSpPr>
        <p:spPr>
          <a:xfrm rot="5400000">
            <a:off x="1822612" y="35694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35" name="Google Shape;635;p46"/>
          <p:cNvSpPr/>
          <p:nvPr/>
        </p:nvSpPr>
        <p:spPr>
          <a:xfrm rot="5400000">
            <a:off x="8156476" y="26607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YBER_TITLE">
  <p:cSld name="CYBER_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48"/>
          <p:cNvSpPr/>
          <p:nvPr/>
        </p:nvSpPr>
        <p:spPr>
          <a:xfrm>
            <a:off x="411480" y="502920"/>
            <a:ext cx="457200" cy="64008"/>
          </a:xfrm>
          <a:prstGeom prst="rect">
            <a:avLst/>
          </a:prstGeom>
          <a:solidFill>
            <a:srgbClr val="EE2A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48"/>
          <p:cNvSpPr/>
          <p:nvPr/>
        </p:nvSpPr>
        <p:spPr>
          <a:xfrm>
            <a:off x="868680" y="502920"/>
            <a:ext cx="274320" cy="64008"/>
          </a:xfrm>
          <a:prstGeom prst="rect">
            <a:avLst/>
          </a:prstGeom>
          <a:solidFill>
            <a:srgbClr val="2BC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48"/>
          <p:cNvSpPr/>
          <p:nvPr/>
        </p:nvSpPr>
        <p:spPr>
          <a:xfrm>
            <a:off x="713232" y="347472"/>
            <a:ext cx="91440" cy="91440"/>
          </a:xfrm>
          <a:prstGeom prst="rect">
            <a:avLst/>
          </a:prstGeom>
          <a:solidFill>
            <a:srgbClr val="EE2A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/>
          <p:nvPr/>
        </p:nvSpPr>
        <p:spPr>
          <a:xfrm>
            <a:off x="1188720" y="621792"/>
            <a:ext cx="73152" cy="73152"/>
          </a:xfrm>
          <a:prstGeom prst="rect">
            <a:avLst/>
          </a:prstGeom>
          <a:solidFill>
            <a:srgbClr val="2BC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48"/>
          <p:cNvSpPr/>
          <p:nvPr/>
        </p:nvSpPr>
        <p:spPr>
          <a:xfrm>
            <a:off x="8001000" y="502920"/>
            <a:ext cx="274320" cy="64008"/>
          </a:xfrm>
          <a:prstGeom prst="rect">
            <a:avLst/>
          </a:prstGeom>
          <a:solidFill>
            <a:srgbClr val="2BC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48"/>
          <p:cNvSpPr/>
          <p:nvPr/>
        </p:nvSpPr>
        <p:spPr>
          <a:xfrm>
            <a:off x="8275320" y="502920"/>
            <a:ext cx="457200" cy="64008"/>
          </a:xfrm>
          <a:prstGeom prst="rect">
            <a:avLst/>
          </a:prstGeom>
          <a:solidFill>
            <a:srgbClr val="EE2A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48"/>
          <p:cNvSpPr/>
          <p:nvPr/>
        </p:nvSpPr>
        <p:spPr>
          <a:xfrm>
            <a:off x="8339328" y="347472"/>
            <a:ext cx="91440" cy="91440"/>
          </a:xfrm>
          <a:prstGeom prst="rect">
            <a:avLst/>
          </a:prstGeom>
          <a:solidFill>
            <a:srgbClr val="EE2A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48"/>
          <p:cNvSpPr/>
          <p:nvPr/>
        </p:nvSpPr>
        <p:spPr>
          <a:xfrm>
            <a:off x="7882128" y="621792"/>
            <a:ext cx="73152" cy="73152"/>
          </a:xfrm>
          <a:prstGeom prst="rect">
            <a:avLst/>
          </a:prstGeom>
          <a:solidFill>
            <a:srgbClr val="2BC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YBER_CONTENT">
  <p:cSld name="CYBER_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49"/>
          <p:cNvSpPr/>
          <p:nvPr/>
        </p:nvSpPr>
        <p:spPr>
          <a:xfrm>
            <a:off x="411480" y="502920"/>
            <a:ext cx="457200" cy="64008"/>
          </a:xfrm>
          <a:prstGeom prst="rect">
            <a:avLst/>
          </a:prstGeom>
          <a:solidFill>
            <a:srgbClr val="EE2A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/>
          <p:nvPr/>
        </p:nvSpPr>
        <p:spPr>
          <a:xfrm>
            <a:off x="868680" y="502920"/>
            <a:ext cx="274320" cy="64008"/>
          </a:xfrm>
          <a:prstGeom prst="rect">
            <a:avLst/>
          </a:prstGeom>
          <a:solidFill>
            <a:srgbClr val="2BC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49"/>
          <p:cNvSpPr/>
          <p:nvPr/>
        </p:nvSpPr>
        <p:spPr>
          <a:xfrm>
            <a:off x="713232" y="347472"/>
            <a:ext cx="91440" cy="91440"/>
          </a:xfrm>
          <a:prstGeom prst="rect">
            <a:avLst/>
          </a:prstGeom>
          <a:solidFill>
            <a:srgbClr val="EE2A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49"/>
          <p:cNvSpPr/>
          <p:nvPr/>
        </p:nvSpPr>
        <p:spPr>
          <a:xfrm>
            <a:off x="1188720" y="621792"/>
            <a:ext cx="73152" cy="73152"/>
          </a:xfrm>
          <a:prstGeom prst="rect">
            <a:avLst/>
          </a:prstGeom>
          <a:solidFill>
            <a:srgbClr val="2BC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49"/>
          <p:cNvSpPr/>
          <p:nvPr/>
        </p:nvSpPr>
        <p:spPr>
          <a:xfrm>
            <a:off x="8001000" y="502920"/>
            <a:ext cx="274320" cy="64008"/>
          </a:xfrm>
          <a:prstGeom prst="rect">
            <a:avLst/>
          </a:prstGeom>
          <a:solidFill>
            <a:srgbClr val="2BC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49"/>
          <p:cNvSpPr/>
          <p:nvPr/>
        </p:nvSpPr>
        <p:spPr>
          <a:xfrm>
            <a:off x="8275320" y="502920"/>
            <a:ext cx="457200" cy="64008"/>
          </a:xfrm>
          <a:prstGeom prst="rect">
            <a:avLst/>
          </a:prstGeom>
          <a:solidFill>
            <a:srgbClr val="EE2A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49"/>
          <p:cNvSpPr/>
          <p:nvPr/>
        </p:nvSpPr>
        <p:spPr>
          <a:xfrm>
            <a:off x="8339328" y="347472"/>
            <a:ext cx="91440" cy="91440"/>
          </a:xfrm>
          <a:prstGeom prst="rect">
            <a:avLst/>
          </a:prstGeom>
          <a:solidFill>
            <a:srgbClr val="EE2A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49"/>
          <p:cNvSpPr/>
          <p:nvPr/>
        </p:nvSpPr>
        <p:spPr>
          <a:xfrm>
            <a:off x="7882128" y="621792"/>
            <a:ext cx="73152" cy="73152"/>
          </a:xfrm>
          <a:prstGeom prst="rect">
            <a:avLst/>
          </a:prstGeom>
          <a:solidFill>
            <a:srgbClr val="2BC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49"/>
          <p:cNvSpPr txBox="1"/>
          <p:nvPr>
            <p:ph type="title"/>
          </p:nvPr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4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39.xml"/><Relationship Id="rId17" Type="http://schemas.openxmlformats.org/officeDocument/2006/relationships/slideLayout" Target="../slideLayouts/slideLayout40.xml"/><Relationship Id="rId18" Type="http://schemas.openxmlformats.org/officeDocument/2006/relationships/slideLayout" Target="../slideLayouts/slideLayout41.xml"/><Relationship Id="rId19" Type="http://schemas.openxmlformats.org/officeDocument/2006/relationships/slideLayout" Target="../slideLayouts/slideLayout42.xml"/><Relationship Id="rId20" Type="http://schemas.openxmlformats.org/officeDocument/2006/relationships/slideLayout" Target="../slideLayouts/slideLayout43.xml"/><Relationship Id="rId21" Type="http://schemas.openxmlformats.org/officeDocument/2006/relationships/slideLayout" Target="../slideLayouts/slideLayout44.xml"/><Relationship Id="rId22" Type="http://schemas.openxmlformats.org/officeDocument/2006/relationships/theme" Target="../theme/theme3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7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chemeClr val="accent1"/>
            </a:gs>
            <a:gs pos="81000">
              <a:srgbClr val="251242"/>
            </a:gs>
            <a:gs pos="100000">
              <a:schemeClr val="accent4"/>
            </a:gs>
          </a:gsLst>
          <a:lin ang="5400012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sso One"/>
              <a:buNone/>
              <a:defRPr sz="3500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sso One"/>
              <a:buNone/>
              <a:defRPr sz="3500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sso One"/>
              <a:buNone/>
              <a:defRPr sz="3500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sso One"/>
              <a:buNone/>
              <a:defRPr sz="3500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sso One"/>
              <a:buNone/>
              <a:defRPr sz="3500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sso One"/>
              <a:buNone/>
              <a:defRPr sz="3500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sso One"/>
              <a:buNone/>
              <a:defRPr sz="3500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sso One"/>
              <a:buNone/>
              <a:defRPr sz="3500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sso One"/>
              <a:buNone/>
              <a:defRPr sz="3500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chemeClr val="accent1"/>
            </a:gs>
            <a:gs pos="81000">
              <a:srgbClr val="251242"/>
            </a:gs>
            <a:gs pos="100000">
              <a:schemeClr val="accent4"/>
            </a:gs>
          </a:gsLst>
          <a:lin ang="5400012" scaled="0"/>
        </a:gra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5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sso One"/>
              <a:buNone/>
              <a:defRPr b="0" i="0" spc="0" sz="3500" u="none" cap="none" strike="noStrike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sso One"/>
              <a:buNone/>
              <a:defRPr b="0" i="0" spc="0" sz="3500" u="none" cap="none" strike="noStrike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sso One"/>
              <a:buNone/>
              <a:defRPr b="0" i="0" spc="0" sz="3500" u="none" cap="none" strike="noStrike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sso One"/>
              <a:buNone/>
              <a:defRPr b="0" i="0" spc="0" sz="3500" u="none" cap="none" strike="noStrike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sso One"/>
              <a:buNone/>
              <a:defRPr b="0" i="0" spc="0" sz="3500" u="none" cap="none" strike="noStrike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sso One"/>
              <a:buNone/>
              <a:defRPr b="0" i="0" spc="0" sz="3500" u="none" cap="none" strike="noStrike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sso One"/>
              <a:buNone/>
              <a:defRPr b="0" i="0" spc="0" sz="3500" u="none" cap="none" strike="noStrike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sso One"/>
              <a:buNone/>
              <a:defRPr b="0" i="0" spc="0" sz="3500" u="none" cap="none" strike="noStrike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sso One"/>
              <a:buNone/>
              <a:defRPr b="0" i="0" spc="0" sz="3500" u="none" cap="none" strike="noStrike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345" name="Google Shape;345;p25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b="0" i="0" spc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pc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pc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b="0" i="0" spc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pc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pc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b="0" i="0" spc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pc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pc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  <p:sldLayoutId id="2147483685" r:id="rId15"/>
    <p:sldLayoutId id="2147483686" r:id="rId16"/>
    <p:sldLayoutId id="2147483687" r:id="rId17"/>
    <p:sldLayoutId id="2147483688" r:id="rId18"/>
    <p:sldLayoutId id="2147483689" r:id="rId19"/>
    <p:sldLayoutId id="2147483690" r:id="rId20"/>
    <p:sldLayoutId id="2147483691" r:id="rId2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92" r:id="rId1"/>
    <p:sldLayoutId id="2147483693" r:id="rId2"/>
    <p:sldLayoutId id="2147483694" r:id="rId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5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Relationship Id="rId4" Type="http://schemas.openxmlformats.org/officeDocument/2006/relationships/image" Target="../media/image9.png"/><Relationship Id="rId5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9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51"/>
          <p:cNvSpPr txBox="1"/>
          <p:nvPr/>
        </p:nvSpPr>
        <p:spPr>
          <a:xfrm>
            <a:off x="457200" y="77724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C6FF"/>
              </a:buClr>
              <a:buSzPts val="3400"/>
              <a:buFont typeface="Arial"/>
              <a:buNone/>
            </a:pPr>
            <a:r>
              <a:rPr b="1" i="0" lang="en" sz="3400" u="none" cap="none" strike="noStrike">
                <a:solidFill>
                  <a:srgbClr val="2BC6FF"/>
                </a:solidFill>
                <a:latin typeface="Arial"/>
                <a:ea typeface="Arial"/>
                <a:cs typeface="Arial"/>
                <a:sym typeface="Arial"/>
              </a:rPr>
              <a:t>ELECTRONIC AUTHENTICATION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b="1" i="0" lang="en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THE COGNITIVE AGE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51"/>
          <p:cNvSpPr txBox="1"/>
          <p:nvPr/>
        </p:nvSpPr>
        <p:spPr>
          <a:xfrm>
            <a:off x="457200" y="22402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C8E6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D6C8E6"/>
                </a:solidFill>
                <a:latin typeface="Arial"/>
                <a:ea typeface="Arial"/>
                <a:cs typeface="Arial"/>
                <a:sym typeface="Arial"/>
              </a:rPr>
              <a:t>Information Systems Security Design (ICS4203)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51"/>
          <p:cNvSpPr txBox="1"/>
          <p:nvPr/>
        </p:nvSpPr>
        <p:spPr>
          <a:xfrm>
            <a:off x="457200" y="257860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Group 1 | ICS 4E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777240" y="310896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Philip Tait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C6FF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2BC6FF"/>
                </a:solidFill>
                <a:latin typeface="Arial"/>
                <a:ea typeface="Arial"/>
                <a:cs typeface="Arial"/>
                <a:sym typeface="Arial"/>
              </a:rPr>
              <a:t>166384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51"/>
          <p:cNvSpPr txBox="1"/>
          <p:nvPr/>
        </p:nvSpPr>
        <p:spPr>
          <a:xfrm>
            <a:off x="3337560" y="310896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Tevin Ngiru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C6FF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2BC6FF"/>
                </a:solidFill>
                <a:latin typeface="Arial"/>
                <a:ea typeface="Arial"/>
                <a:cs typeface="Arial"/>
                <a:sym typeface="Arial"/>
              </a:rPr>
              <a:t>166289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51"/>
          <p:cNvSpPr txBox="1"/>
          <p:nvPr/>
        </p:nvSpPr>
        <p:spPr>
          <a:xfrm>
            <a:off x="5897880" y="310896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Krishna Madhaparia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C6FF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2BC6FF"/>
                </a:solidFill>
                <a:latin typeface="Arial"/>
                <a:ea typeface="Arial"/>
                <a:cs typeface="Arial"/>
                <a:sym typeface="Arial"/>
              </a:rPr>
              <a:t>166980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51"/>
          <p:cNvSpPr txBox="1"/>
          <p:nvPr/>
        </p:nvSpPr>
        <p:spPr>
          <a:xfrm>
            <a:off x="777240" y="3675888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Parneet Kaur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C6FF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2BC6FF"/>
                </a:solidFill>
                <a:latin typeface="Arial"/>
                <a:ea typeface="Arial"/>
                <a:cs typeface="Arial"/>
                <a:sym typeface="Arial"/>
              </a:rPr>
              <a:t>166985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51"/>
          <p:cNvSpPr txBox="1"/>
          <p:nvPr/>
        </p:nvSpPr>
        <p:spPr>
          <a:xfrm>
            <a:off x="3337560" y="3675888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Eeshan Vaghjiani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C6FF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2BC6FF"/>
                </a:solidFill>
                <a:latin typeface="Arial"/>
                <a:ea typeface="Arial"/>
                <a:cs typeface="Arial"/>
                <a:sym typeface="Arial"/>
              </a:rPr>
              <a:t>166981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51"/>
          <p:cNvSpPr txBox="1"/>
          <p:nvPr/>
        </p:nvSpPr>
        <p:spPr>
          <a:xfrm>
            <a:off x="5897880" y="3675888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Dhruvin Bhudia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C6FF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2BC6FF"/>
                </a:solidFill>
                <a:latin typeface="Arial"/>
                <a:ea typeface="Arial"/>
                <a:cs typeface="Arial"/>
                <a:sym typeface="Arial"/>
              </a:rPr>
              <a:t>169646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51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C8E6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D6C8E6"/>
                </a:solidFill>
                <a:latin typeface="Arial"/>
                <a:ea typeface="Arial"/>
                <a:cs typeface="Arial"/>
                <a:sym typeface="Arial"/>
              </a:rPr>
              <a:t>Strathmore University, Nairobi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52"/>
          <p:cNvSpPr txBox="1"/>
          <p:nvPr>
            <p:ph type="title"/>
          </p:nvPr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lang="en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TABLE OF </a:t>
            </a:r>
            <a:r>
              <a:rPr b="1" lang="en" sz="2400">
                <a:solidFill>
                  <a:srgbClr val="2BC6FF"/>
                </a:solidFill>
                <a:latin typeface="Arial"/>
                <a:ea typeface="Arial"/>
                <a:cs typeface="Arial"/>
                <a:sym typeface="Arial"/>
              </a:rPr>
              <a:t>CONTENTS</a:t>
            </a:r>
            <a:endParaRPr sz="2400"/>
          </a:p>
        </p:txBody>
      </p:sp>
      <p:sp>
        <p:nvSpPr>
          <p:cNvPr id="678" name="Google Shape;678;p52"/>
          <p:cNvSpPr txBox="1"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C8E6"/>
              </a:buClr>
              <a:buSzPts val="1400"/>
              <a:buFont typeface="Arial"/>
              <a:buNone/>
            </a:pPr>
            <a:r>
              <a:rPr b="0" i="1" lang="en" sz="1400" u="none" cap="none" strike="noStrike">
                <a:solidFill>
                  <a:srgbClr val="D6C8E6"/>
                </a:solidFill>
                <a:latin typeface="Arial"/>
                <a:ea typeface="Arial"/>
                <a:cs typeface="Arial"/>
                <a:sym typeface="Arial"/>
              </a:rPr>
              <a:t>Six parts, one authentication story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52"/>
          <p:cNvSpPr/>
          <p:nvPr/>
        </p:nvSpPr>
        <p:spPr>
          <a:xfrm>
            <a:off x="457200" y="1417320"/>
            <a:ext cx="2651760" cy="1417320"/>
          </a:xfrm>
          <a:prstGeom prst="roundRect">
            <a:avLst>
              <a:gd fmla="val 5161" name="adj"/>
            </a:avLst>
          </a:prstGeom>
          <a:solidFill>
            <a:srgbClr val="1C1352"/>
          </a:solidFill>
          <a:ln cap="flat" cmpd="sng" w="9525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52"/>
          <p:cNvSpPr/>
          <p:nvPr/>
        </p:nvSpPr>
        <p:spPr>
          <a:xfrm>
            <a:off x="2834640" y="1527048"/>
            <a:ext cx="73152" cy="73152"/>
          </a:xfrm>
          <a:prstGeom prst="rect">
            <a:avLst/>
          </a:prstGeom>
          <a:solidFill>
            <a:srgbClr val="EE2A8F"/>
          </a:solidFill>
          <a:ln cap="flat" cmpd="sng" w="12700">
            <a:solidFill>
              <a:srgbClr val="EE2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52"/>
          <p:cNvSpPr/>
          <p:nvPr/>
        </p:nvSpPr>
        <p:spPr>
          <a:xfrm>
            <a:off x="2944368" y="1527048"/>
            <a:ext cx="73152" cy="73152"/>
          </a:xfrm>
          <a:prstGeom prst="rect">
            <a:avLst/>
          </a:prstGeom>
          <a:solidFill>
            <a:srgbClr val="2BC6FF"/>
          </a:solidFill>
          <a:ln cap="flat" cmpd="sng" w="12700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52"/>
          <p:cNvSpPr txBox="1"/>
          <p:nvPr/>
        </p:nvSpPr>
        <p:spPr>
          <a:xfrm>
            <a:off x="640080" y="155448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2A8F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rgbClr val="EE2A8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52"/>
          <p:cNvSpPr txBox="1"/>
          <p:nvPr/>
        </p:nvSpPr>
        <p:spPr>
          <a:xfrm>
            <a:off x="640080" y="2075688"/>
            <a:ext cx="2331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Electronic Authentication and Identity Proofing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52"/>
          <p:cNvSpPr/>
          <p:nvPr/>
        </p:nvSpPr>
        <p:spPr>
          <a:xfrm>
            <a:off x="3246120" y="1417320"/>
            <a:ext cx="2651760" cy="1417320"/>
          </a:xfrm>
          <a:prstGeom prst="roundRect">
            <a:avLst>
              <a:gd fmla="val 5161" name="adj"/>
            </a:avLst>
          </a:prstGeom>
          <a:solidFill>
            <a:srgbClr val="1C1352"/>
          </a:solidFill>
          <a:ln cap="flat" cmpd="sng" w="9525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52"/>
          <p:cNvSpPr/>
          <p:nvPr/>
        </p:nvSpPr>
        <p:spPr>
          <a:xfrm>
            <a:off x="5623560" y="1527048"/>
            <a:ext cx="73152" cy="73152"/>
          </a:xfrm>
          <a:prstGeom prst="rect">
            <a:avLst/>
          </a:prstGeom>
          <a:solidFill>
            <a:srgbClr val="EE2A8F"/>
          </a:solidFill>
          <a:ln cap="flat" cmpd="sng" w="12700">
            <a:solidFill>
              <a:srgbClr val="EE2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52"/>
          <p:cNvSpPr/>
          <p:nvPr/>
        </p:nvSpPr>
        <p:spPr>
          <a:xfrm>
            <a:off x="5733288" y="1527048"/>
            <a:ext cx="73152" cy="73152"/>
          </a:xfrm>
          <a:prstGeom prst="rect">
            <a:avLst/>
          </a:prstGeom>
          <a:solidFill>
            <a:srgbClr val="2BC6FF"/>
          </a:solidFill>
          <a:ln cap="flat" cmpd="sng" w="12700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2"/>
          <p:cNvSpPr txBox="1"/>
          <p:nvPr/>
        </p:nvSpPr>
        <p:spPr>
          <a:xfrm>
            <a:off x="3429000" y="155448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2A8F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rgbClr val="EE2A8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52"/>
          <p:cNvSpPr txBox="1"/>
          <p:nvPr/>
        </p:nvSpPr>
        <p:spPr>
          <a:xfrm>
            <a:off x="3429000" y="2075688"/>
            <a:ext cx="2331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CSP vs Verifier vs Relying Party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52"/>
          <p:cNvSpPr/>
          <p:nvPr/>
        </p:nvSpPr>
        <p:spPr>
          <a:xfrm>
            <a:off x="6035040" y="1417320"/>
            <a:ext cx="2651760" cy="1417320"/>
          </a:xfrm>
          <a:prstGeom prst="roundRect">
            <a:avLst>
              <a:gd fmla="val 5161" name="adj"/>
            </a:avLst>
          </a:prstGeom>
          <a:solidFill>
            <a:srgbClr val="1C1352"/>
          </a:solidFill>
          <a:ln cap="flat" cmpd="sng" w="9525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52"/>
          <p:cNvSpPr/>
          <p:nvPr/>
        </p:nvSpPr>
        <p:spPr>
          <a:xfrm>
            <a:off x="8412480" y="1527048"/>
            <a:ext cx="73152" cy="73152"/>
          </a:xfrm>
          <a:prstGeom prst="rect">
            <a:avLst/>
          </a:prstGeom>
          <a:solidFill>
            <a:srgbClr val="EE2A8F"/>
          </a:solidFill>
          <a:ln cap="flat" cmpd="sng" w="12700">
            <a:solidFill>
              <a:srgbClr val="EE2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52"/>
          <p:cNvSpPr/>
          <p:nvPr/>
        </p:nvSpPr>
        <p:spPr>
          <a:xfrm>
            <a:off x="8522208" y="1527048"/>
            <a:ext cx="73152" cy="73152"/>
          </a:xfrm>
          <a:prstGeom prst="rect">
            <a:avLst/>
          </a:prstGeom>
          <a:solidFill>
            <a:srgbClr val="2BC6FF"/>
          </a:solidFill>
          <a:ln cap="flat" cmpd="sng" w="12700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52"/>
          <p:cNvSpPr txBox="1"/>
          <p:nvPr/>
        </p:nvSpPr>
        <p:spPr>
          <a:xfrm>
            <a:off x="6217920" y="155448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2A8F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rgbClr val="EE2A8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52"/>
          <p:cNvSpPr txBox="1"/>
          <p:nvPr/>
        </p:nvSpPr>
        <p:spPr>
          <a:xfrm>
            <a:off x="6217920" y="2075688"/>
            <a:ext cx="2331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Applicant vs Subscriber vs Claimant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52"/>
          <p:cNvSpPr/>
          <p:nvPr/>
        </p:nvSpPr>
        <p:spPr>
          <a:xfrm>
            <a:off x="457200" y="2971800"/>
            <a:ext cx="2651760" cy="1417320"/>
          </a:xfrm>
          <a:prstGeom prst="roundRect">
            <a:avLst>
              <a:gd fmla="val 5161" name="adj"/>
            </a:avLst>
          </a:prstGeom>
          <a:solidFill>
            <a:srgbClr val="1C1352"/>
          </a:solidFill>
          <a:ln cap="flat" cmpd="sng" w="9525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2"/>
          <p:cNvSpPr/>
          <p:nvPr/>
        </p:nvSpPr>
        <p:spPr>
          <a:xfrm>
            <a:off x="2834640" y="3081528"/>
            <a:ext cx="73152" cy="73152"/>
          </a:xfrm>
          <a:prstGeom prst="rect">
            <a:avLst/>
          </a:prstGeom>
          <a:solidFill>
            <a:srgbClr val="EE2A8F"/>
          </a:solidFill>
          <a:ln cap="flat" cmpd="sng" w="12700">
            <a:solidFill>
              <a:srgbClr val="EE2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52"/>
          <p:cNvSpPr/>
          <p:nvPr/>
        </p:nvSpPr>
        <p:spPr>
          <a:xfrm>
            <a:off x="2944368" y="3081528"/>
            <a:ext cx="73152" cy="73152"/>
          </a:xfrm>
          <a:prstGeom prst="rect">
            <a:avLst/>
          </a:prstGeom>
          <a:solidFill>
            <a:srgbClr val="2BC6FF"/>
          </a:solidFill>
          <a:ln cap="flat" cmpd="sng" w="12700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52"/>
          <p:cNvSpPr txBox="1"/>
          <p:nvPr/>
        </p:nvSpPr>
        <p:spPr>
          <a:xfrm>
            <a:off x="640080" y="310896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2A8F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rgbClr val="EE2A8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52"/>
          <p:cNvSpPr txBox="1"/>
          <p:nvPr/>
        </p:nvSpPr>
        <p:spPr>
          <a:xfrm>
            <a:off x="640080" y="3630168"/>
            <a:ext cx="2331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Authenticators, PQC, Passwordless and Federation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52"/>
          <p:cNvSpPr/>
          <p:nvPr/>
        </p:nvSpPr>
        <p:spPr>
          <a:xfrm>
            <a:off x="3246120" y="2971800"/>
            <a:ext cx="2651760" cy="1417320"/>
          </a:xfrm>
          <a:prstGeom prst="roundRect">
            <a:avLst>
              <a:gd fmla="val 5161" name="adj"/>
            </a:avLst>
          </a:prstGeom>
          <a:solidFill>
            <a:srgbClr val="1C1352"/>
          </a:solidFill>
          <a:ln cap="flat" cmpd="sng" w="9525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52"/>
          <p:cNvSpPr/>
          <p:nvPr/>
        </p:nvSpPr>
        <p:spPr>
          <a:xfrm>
            <a:off x="5623560" y="3081528"/>
            <a:ext cx="73152" cy="73152"/>
          </a:xfrm>
          <a:prstGeom prst="rect">
            <a:avLst/>
          </a:prstGeom>
          <a:solidFill>
            <a:srgbClr val="EE2A8F"/>
          </a:solidFill>
          <a:ln cap="flat" cmpd="sng" w="12700">
            <a:solidFill>
              <a:srgbClr val="EE2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52"/>
          <p:cNvSpPr/>
          <p:nvPr/>
        </p:nvSpPr>
        <p:spPr>
          <a:xfrm>
            <a:off x="5733288" y="3081528"/>
            <a:ext cx="73152" cy="73152"/>
          </a:xfrm>
          <a:prstGeom prst="rect">
            <a:avLst/>
          </a:prstGeom>
          <a:solidFill>
            <a:srgbClr val="2BC6FF"/>
          </a:solidFill>
          <a:ln cap="flat" cmpd="sng" w="12700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52"/>
          <p:cNvSpPr txBox="1"/>
          <p:nvPr/>
        </p:nvSpPr>
        <p:spPr>
          <a:xfrm>
            <a:off x="3429000" y="310896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2A8F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rgbClr val="EE2A8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52"/>
          <p:cNvSpPr txBox="1"/>
          <p:nvPr/>
        </p:nvSpPr>
        <p:spPr>
          <a:xfrm>
            <a:off x="3429000" y="3630168"/>
            <a:ext cx="2331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Race-Condition Vulnerability Lab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52"/>
          <p:cNvSpPr/>
          <p:nvPr/>
        </p:nvSpPr>
        <p:spPr>
          <a:xfrm>
            <a:off x="6035040" y="2971800"/>
            <a:ext cx="2651760" cy="1417320"/>
          </a:xfrm>
          <a:prstGeom prst="roundRect">
            <a:avLst>
              <a:gd fmla="val 5161" name="adj"/>
            </a:avLst>
          </a:prstGeom>
          <a:solidFill>
            <a:srgbClr val="1C1352"/>
          </a:solidFill>
          <a:ln cap="flat" cmpd="sng" w="9525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52"/>
          <p:cNvSpPr/>
          <p:nvPr/>
        </p:nvSpPr>
        <p:spPr>
          <a:xfrm>
            <a:off x="8412480" y="3081528"/>
            <a:ext cx="73152" cy="73152"/>
          </a:xfrm>
          <a:prstGeom prst="rect">
            <a:avLst/>
          </a:prstGeom>
          <a:solidFill>
            <a:srgbClr val="EE2A8F"/>
          </a:solidFill>
          <a:ln cap="flat" cmpd="sng" w="12700">
            <a:solidFill>
              <a:srgbClr val="EE2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52"/>
          <p:cNvSpPr/>
          <p:nvPr/>
        </p:nvSpPr>
        <p:spPr>
          <a:xfrm>
            <a:off x="8522208" y="3081528"/>
            <a:ext cx="73152" cy="73152"/>
          </a:xfrm>
          <a:prstGeom prst="rect">
            <a:avLst/>
          </a:prstGeom>
          <a:solidFill>
            <a:srgbClr val="2BC6FF"/>
          </a:solidFill>
          <a:ln cap="flat" cmpd="sng" w="12700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52"/>
          <p:cNvSpPr txBox="1"/>
          <p:nvPr/>
        </p:nvSpPr>
        <p:spPr>
          <a:xfrm>
            <a:off x="6217920" y="310896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2A8F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rgbClr val="EE2A8F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52"/>
          <p:cNvSpPr txBox="1"/>
          <p:nvPr/>
        </p:nvSpPr>
        <p:spPr>
          <a:xfrm>
            <a:off x="6217920" y="3630168"/>
            <a:ext cx="2331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Dirty-COW Attack Lab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53"/>
          <p:cNvSpPr txBox="1"/>
          <p:nvPr>
            <p:ph type="title"/>
          </p:nvPr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lang="en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IS ELECTRONIC </a:t>
            </a:r>
            <a:r>
              <a:rPr b="1" lang="en" sz="2200">
                <a:solidFill>
                  <a:srgbClr val="2BC6FF"/>
                </a:solidFill>
                <a:latin typeface="Arial"/>
                <a:ea typeface="Arial"/>
                <a:cs typeface="Arial"/>
                <a:sym typeface="Arial"/>
              </a:rPr>
              <a:t>AUTHENTICATION?</a:t>
            </a:r>
            <a:endParaRPr sz="2400"/>
          </a:p>
        </p:txBody>
      </p:sp>
      <p:sp>
        <p:nvSpPr>
          <p:cNvPr id="715" name="Google Shape;715;p53"/>
          <p:cNvSpPr txBox="1"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C8E6"/>
              </a:buClr>
              <a:buSzPts val="1400"/>
              <a:buFont typeface="Arial"/>
              <a:buNone/>
            </a:pPr>
            <a:r>
              <a:rPr b="0" i="1" lang="en" sz="1400" u="none" cap="none" strike="noStrike">
                <a:solidFill>
                  <a:srgbClr val="D6C8E6"/>
                </a:solidFill>
                <a:latin typeface="Arial"/>
                <a:ea typeface="Arial"/>
                <a:cs typeface="Arial"/>
                <a:sym typeface="Arial"/>
              </a:rPr>
              <a:t>Proving that a user, device or system is who it claims to be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53"/>
          <p:cNvSpPr/>
          <p:nvPr/>
        </p:nvSpPr>
        <p:spPr>
          <a:xfrm>
            <a:off x="457200" y="1371600"/>
            <a:ext cx="2651760" cy="1691640"/>
          </a:xfrm>
          <a:prstGeom prst="roundRect">
            <a:avLst>
              <a:gd fmla="val 4324" name="adj"/>
            </a:avLst>
          </a:prstGeom>
          <a:solidFill>
            <a:srgbClr val="1C1352"/>
          </a:solidFill>
          <a:ln cap="flat" cmpd="sng" w="9525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53"/>
          <p:cNvSpPr/>
          <p:nvPr/>
        </p:nvSpPr>
        <p:spPr>
          <a:xfrm>
            <a:off x="2834640" y="1481328"/>
            <a:ext cx="73152" cy="73152"/>
          </a:xfrm>
          <a:prstGeom prst="rect">
            <a:avLst/>
          </a:prstGeom>
          <a:solidFill>
            <a:srgbClr val="EE2A8F"/>
          </a:solidFill>
          <a:ln cap="flat" cmpd="sng" w="12700">
            <a:solidFill>
              <a:srgbClr val="EE2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53"/>
          <p:cNvSpPr/>
          <p:nvPr/>
        </p:nvSpPr>
        <p:spPr>
          <a:xfrm>
            <a:off x="2944368" y="1481328"/>
            <a:ext cx="73152" cy="73152"/>
          </a:xfrm>
          <a:prstGeom prst="rect">
            <a:avLst/>
          </a:prstGeom>
          <a:solidFill>
            <a:srgbClr val="2BC6FF"/>
          </a:solidFill>
          <a:ln cap="flat" cmpd="sng" w="12700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53"/>
          <p:cNvSpPr/>
          <p:nvPr/>
        </p:nvSpPr>
        <p:spPr>
          <a:xfrm>
            <a:off x="640080" y="1536192"/>
            <a:ext cx="457200" cy="457200"/>
          </a:xfrm>
          <a:prstGeom prst="ellipse">
            <a:avLst/>
          </a:prstGeom>
          <a:solidFill>
            <a:srgbClr val="2BC6FF"/>
          </a:solidFill>
          <a:ln cap="flat" cmpd="sng" w="12700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d card icon" id="720" name="Google Shape;720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08" y="164592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53"/>
          <p:cNvSpPr txBox="1"/>
          <p:nvPr/>
        </p:nvSpPr>
        <p:spPr>
          <a:xfrm>
            <a:off x="1234440" y="1536192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C6FF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2BC6FF"/>
                </a:solidFill>
                <a:latin typeface="Arial"/>
                <a:ea typeface="Arial"/>
                <a:cs typeface="Arial"/>
                <a:sym typeface="Arial"/>
              </a:rPr>
              <a:t>IDENTIFY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53"/>
          <p:cNvSpPr txBox="1"/>
          <p:nvPr/>
        </p:nvSpPr>
        <p:spPr>
          <a:xfrm>
            <a:off x="640080" y="2148840"/>
            <a:ext cx="23317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Claim an identity. Example: a student enters their admission number.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53"/>
          <p:cNvSpPr/>
          <p:nvPr/>
        </p:nvSpPr>
        <p:spPr>
          <a:xfrm>
            <a:off x="3246120" y="1371600"/>
            <a:ext cx="2651760" cy="1691640"/>
          </a:xfrm>
          <a:prstGeom prst="roundRect">
            <a:avLst>
              <a:gd fmla="val 4324" name="adj"/>
            </a:avLst>
          </a:prstGeom>
          <a:solidFill>
            <a:srgbClr val="1C1352"/>
          </a:solidFill>
          <a:ln cap="flat" cmpd="sng" w="9525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53"/>
          <p:cNvSpPr/>
          <p:nvPr/>
        </p:nvSpPr>
        <p:spPr>
          <a:xfrm>
            <a:off x="5623560" y="1481328"/>
            <a:ext cx="73152" cy="73152"/>
          </a:xfrm>
          <a:prstGeom prst="rect">
            <a:avLst/>
          </a:prstGeom>
          <a:solidFill>
            <a:srgbClr val="EE2A8F"/>
          </a:solidFill>
          <a:ln cap="flat" cmpd="sng" w="12700">
            <a:solidFill>
              <a:srgbClr val="EE2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53"/>
          <p:cNvSpPr/>
          <p:nvPr/>
        </p:nvSpPr>
        <p:spPr>
          <a:xfrm>
            <a:off x="5733288" y="1481328"/>
            <a:ext cx="73152" cy="73152"/>
          </a:xfrm>
          <a:prstGeom prst="rect">
            <a:avLst/>
          </a:prstGeom>
          <a:solidFill>
            <a:srgbClr val="2BC6FF"/>
          </a:solidFill>
          <a:ln cap="flat" cmpd="sng" w="12700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53"/>
          <p:cNvSpPr/>
          <p:nvPr/>
        </p:nvSpPr>
        <p:spPr>
          <a:xfrm>
            <a:off x="3429000" y="1536192"/>
            <a:ext cx="457200" cy="457200"/>
          </a:xfrm>
          <a:prstGeom prst="ellipse">
            <a:avLst/>
          </a:prstGeom>
          <a:solidFill>
            <a:srgbClr val="2BC6FF"/>
          </a:solidFill>
          <a:ln cap="flat" cmpd="sng" w="12700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ingerprint icon" id="727" name="Google Shape;727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38728" y="164592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728" name="Google Shape;728;p53"/>
          <p:cNvSpPr txBox="1"/>
          <p:nvPr/>
        </p:nvSpPr>
        <p:spPr>
          <a:xfrm>
            <a:off x="4023360" y="1536192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C6FF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2BC6FF"/>
                </a:solidFill>
                <a:latin typeface="Arial"/>
                <a:ea typeface="Arial"/>
                <a:cs typeface="Arial"/>
                <a:sym typeface="Arial"/>
              </a:rPr>
              <a:t>AUTHENTICATE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53"/>
          <p:cNvSpPr txBox="1"/>
          <p:nvPr/>
        </p:nvSpPr>
        <p:spPr>
          <a:xfrm>
            <a:off x="3429000" y="2148840"/>
            <a:ext cx="23317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Prove the claim with an authenticator. Example: a passkey.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53"/>
          <p:cNvSpPr/>
          <p:nvPr/>
        </p:nvSpPr>
        <p:spPr>
          <a:xfrm>
            <a:off x="6035040" y="1371600"/>
            <a:ext cx="2651760" cy="1691640"/>
          </a:xfrm>
          <a:prstGeom prst="roundRect">
            <a:avLst>
              <a:gd fmla="val 4324" name="adj"/>
            </a:avLst>
          </a:prstGeom>
          <a:solidFill>
            <a:srgbClr val="1C1352"/>
          </a:solidFill>
          <a:ln cap="flat" cmpd="sng" w="9525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53"/>
          <p:cNvSpPr/>
          <p:nvPr/>
        </p:nvSpPr>
        <p:spPr>
          <a:xfrm>
            <a:off x="8412480" y="1481328"/>
            <a:ext cx="73152" cy="73152"/>
          </a:xfrm>
          <a:prstGeom prst="rect">
            <a:avLst/>
          </a:prstGeom>
          <a:solidFill>
            <a:srgbClr val="EE2A8F"/>
          </a:solidFill>
          <a:ln cap="flat" cmpd="sng" w="12700">
            <a:solidFill>
              <a:srgbClr val="EE2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53"/>
          <p:cNvSpPr/>
          <p:nvPr/>
        </p:nvSpPr>
        <p:spPr>
          <a:xfrm>
            <a:off x="8522208" y="1481328"/>
            <a:ext cx="73152" cy="73152"/>
          </a:xfrm>
          <a:prstGeom prst="rect">
            <a:avLst/>
          </a:prstGeom>
          <a:solidFill>
            <a:srgbClr val="2BC6FF"/>
          </a:solidFill>
          <a:ln cap="flat" cmpd="sng" w="12700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53"/>
          <p:cNvSpPr/>
          <p:nvPr/>
        </p:nvSpPr>
        <p:spPr>
          <a:xfrm>
            <a:off x="6217920" y="1536192"/>
            <a:ext cx="457200" cy="457200"/>
          </a:xfrm>
          <a:prstGeom prst="ellipse">
            <a:avLst/>
          </a:prstGeom>
          <a:solidFill>
            <a:srgbClr val="2BC6FF"/>
          </a:solidFill>
          <a:ln cap="flat" cmpd="sng" w="12700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user check icon" id="734" name="Google Shape;734;p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27648" y="164592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53"/>
          <p:cNvSpPr txBox="1"/>
          <p:nvPr/>
        </p:nvSpPr>
        <p:spPr>
          <a:xfrm>
            <a:off x="6812280" y="1536192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C6FF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2BC6FF"/>
                </a:solidFill>
                <a:latin typeface="Arial"/>
                <a:ea typeface="Arial"/>
                <a:cs typeface="Arial"/>
                <a:sym typeface="Arial"/>
              </a:rPr>
              <a:t>AUTHORIZE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53"/>
          <p:cNvSpPr txBox="1"/>
          <p:nvPr/>
        </p:nvSpPr>
        <p:spPr>
          <a:xfrm>
            <a:off x="6217920" y="2148840"/>
            <a:ext cx="23317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Decide what the proven identity may do. Example: view own results only.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53"/>
          <p:cNvSpPr/>
          <p:nvPr/>
        </p:nvSpPr>
        <p:spPr>
          <a:xfrm>
            <a:off x="457200" y="3200400"/>
            <a:ext cx="8229600" cy="960120"/>
          </a:xfrm>
          <a:prstGeom prst="roundRect">
            <a:avLst>
              <a:gd fmla="val 7619" name="adj"/>
            </a:avLst>
          </a:prstGeom>
          <a:solidFill>
            <a:srgbClr val="1C1352"/>
          </a:solidFill>
          <a:ln cap="flat" cmpd="sng" w="9525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53"/>
          <p:cNvSpPr/>
          <p:nvPr/>
        </p:nvSpPr>
        <p:spPr>
          <a:xfrm>
            <a:off x="8412480" y="3310128"/>
            <a:ext cx="73152" cy="73152"/>
          </a:xfrm>
          <a:prstGeom prst="rect">
            <a:avLst/>
          </a:prstGeom>
          <a:solidFill>
            <a:srgbClr val="EE2A8F"/>
          </a:solidFill>
          <a:ln cap="flat" cmpd="sng" w="12700">
            <a:solidFill>
              <a:srgbClr val="EE2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53"/>
          <p:cNvSpPr/>
          <p:nvPr/>
        </p:nvSpPr>
        <p:spPr>
          <a:xfrm>
            <a:off x="8522208" y="3310128"/>
            <a:ext cx="73152" cy="73152"/>
          </a:xfrm>
          <a:prstGeom prst="rect">
            <a:avLst/>
          </a:prstGeom>
          <a:solidFill>
            <a:srgbClr val="2BC6FF"/>
          </a:solidFill>
          <a:ln cap="flat" cmpd="sng" w="12700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53"/>
          <p:cNvSpPr/>
          <p:nvPr/>
        </p:nvSpPr>
        <p:spPr>
          <a:xfrm>
            <a:off x="640080" y="3456432"/>
            <a:ext cx="457200" cy="457200"/>
          </a:xfrm>
          <a:prstGeom prst="ellipse">
            <a:avLst/>
          </a:prstGeom>
          <a:solidFill>
            <a:srgbClr val="2BC6FF"/>
          </a:solidFill>
          <a:ln cap="flat" cmpd="sng" w="12700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exclamation triangle icon" id="741" name="Google Shape;741;p5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9808" y="356616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p53"/>
          <p:cNvSpPr txBox="1"/>
          <p:nvPr/>
        </p:nvSpPr>
        <p:spPr>
          <a:xfrm>
            <a:off x="1280160" y="3310128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C6FF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2BC6FF"/>
                </a:solidFill>
                <a:latin typeface="Arial"/>
                <a:ea typeface="Arial"/>
                <a:cs typeface="Arial"/>
                <a:sym typeface="Arial"/>
              </a:rPr>
              <a:t>WHY IT MATTERS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53"/>
          <p:cNvSpPr txBox="1"/>
          <p:nvPr/>
        </p:nvSpPr>
        <p:spPr>
          <a:xfrm>
            <a:off x="1280160" y="3593592"/>
            <a:ext cx="7223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Every access decision, log and transaction trusts this step. A false identity makes every later control protect the wrong person.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53"/>
          <p:cNvSpPr/>
          <p:nvPr/>
        </p:nvSpPr>
        <p:spPr>
          <a:xfrm>
            <a:off x="457200" y="4370832"/>
            <a:ext cx="64008" cy="384048"/>
          </a:xfrm>
          <a:prstGeom prst="rect">
            <a:avLst/>
          </a:prstGeom>
          <a:solidFill>
            <a:srgbClr val="EE2A8F"/>
          </a:solidFill>
          <a:ln cap="flat" cmpd="sng" w="12700">
            <a:solidFill>
              <a:srgbClr val="EE2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53"/>
          <p:cNvSpPr txBox="1"/>
          <p:nvPr/>
        </p:nvSpPr>
        <p:spPr>
          <a:xfrm>
            <a:off x="658368" y="4370832"/>
            <a:ext cx="80284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C6FF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2BC6FF"/>
                </a:solidFill>
                <a:latin typeface="Arial"/>
                <a:ea typeface="Arial"/>
                <a:cs typeface="Arial"/>
                <a:sym typeface="Arial"/>
              </a:rPr>
              <a:t>Authentication is only as trustworthy as the enrollment before it.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54"/>
          <p:cNvSpPr txBox="1"/>
          <p:nvPr>
            <p:ph type="title"/>
          </p:nvPr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lang="en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ENROLLMENT AND PROOFING: </a:t>
            </a:r>
            <a:r>
              <a:rPr b="1" lang="en" sz="2100">
                <a:solidFill>
                  <a:srgbClr val="2BC6FF"/>
                </a:solidFill>
                <a:latin typeface="Arial"/>
                <a:ea typeface="Arial"/>
                <a:cs typeface="Arial"/>
                <a:sym typeface="Arial"/>
              </a:rPr>
              <a:t>STEP BY STEP</a:t>
            </a:r>
            <a:endParaRPr sz="2400"/>
          </a:p>
        </p:txBody>
      </p:sp>
      <p:sp>
        <p:nvSpPr>
          <p:cNvPr id="752" name="Google Shape;752;p54"/>
          <p:cNvSpPr txBox="1"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C8E6"/>
              </a:buClr>
              <a:buSzPts val="1400"/>
              <a:buFont typeface="Arial"/>
              <a:buNone/>
            </a:pPr>
            <a:r>
              <a:rPr b="0" i="1" lang="en" sz="1400" u="none" cap="none" strike="noStrike">
                <a:solidFill>
                  <a:srgbClr val="D6C8E6"/>
                </a:solidFill>
                <a:latin typeface="Arial"/>
                <a:ea typeface="Arial"/>
                <a:cs typeface="Arial"/>
                <a:sym typeface="Arial"/>
              </a:rPr>
              <a:t>How an Applicant becomes a Subscriber (NIST SP 800-63A-4)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54"/>
          <p:cNvSpPr/>
          <p:nvPr/>
        </p:nvSpPr>
        <p:spPr>
          <a:xfrm>
            <a:off x="457200" y="1371600"/>
            <a:ext cx="2651760" cy="1371600"/>
          </a:xfrm>
          <a:prstGeom prst="roundRect">
            <a:avLst>
              <a:gd fmla="val 5333" name="adj"/>
            </a:avLst>
          </a:prstGeom>
          <a:solidFill>
            <a:srgbClr val="1C1352"/>
          </a:solidFill>
          <a:ln cap="flat" cmpd="sng" w="9525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54"/>
          <p:cNvSpPr/>
          <p:nvPr/>
        </p:nvSpPr>
        <p:spPr>
          <a:xfrm>
            <a:off x="2834640" y="1481328"/>
            <a:ext cx="73152" cy="73152"/>
          </a:xfrm>
          <a:prstGeom prst="rect">
            <a:avLst/>
          </a:prstGeom>
          <a:solidFill>
            <a:srgbClr val="EE2A8F"/>
          </a:solidFill>
          <a:ln cap="flat" cmpd="sng" w="12700">
            <a:solidFill>
              <a:srgbClr val="EE2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54"/>
          <p:cNvSpPr/>
          <p:nvPr/>
        </p:nvSpPr>
        <p:spPr>
          <a:xfrm>
            <a:off x="2944368" y="1481328"/>
            <a:ext cx="73152" cy="73152"/>
          </a:xfrm>
          <a:prstGeom prst="rect">
            <a:avLst/>
          </a:prstGeom>
          <a:solidFill>
            <a:srgbClr val="2BC6FF"/>
          </a:solidFill>
          <a:ln cap="flat" cmpd="sng" w="12700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54"/>
          <p:cNvSpPr/>
          <p:nvPr/>
        </p:nvSpPr>
        <p:spPr>
          <a:xfrm>
            <a:off x="640080" y="1508760"/>
            <a:ext cx="365760" cy="365760"/>
          </a:xfrm>
          <a:prstGeom prst="ellipse">
            <a:avLst/>
          </a:prstGeom>
          <a:solidFill>
            <a:srgbClr val="EE2A8F"/>
          </a:solidFill>
          <a:ln cap="flat" cmpd="sng" w="12700">
            <a:solidFill>
              <a:srgbClr val="EE2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54"/>
          <p:cNvSpPr txBox="1"/>
          <p:nvPr/>
        </p:nvSpPr>
        <p:spPr>
          <a:xfrm>
            <a:off x="640080" y="15087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54"/>
          <p:cNvSpPr txBox="1"/>
          <p:nvPr/>
        </p:nvSpPr>
        <p:spPr>
          <a:xfrm>
            <a:off x="1115568" y="150876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C6FF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2BC6FF"/>
                </a:solidFill>
                <a:latin typeface="Arial"/>
                <a:ea typeface="Arial"/>
                <a:cs typeface="Arial"/>
                <a:sym typeface="Arial"/>
              </a:rPr>
              <a:t>CHOOSE TYPE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54"/>
          <p:cNvSpPr txBox="1"/>
          <p:nvPr/>
        </p:nvSpPr>
        <p:spPr>
          <a:xfrm>
            <a:off x="640080" y="2011680"/>
            <a:ext cx="2331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0" i="0" lang="en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Remote or on-site. Attended or unattended.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54"/>
          <p:cNvSpPr/>
          <p:nvPr/>
        </p:nvSpPr>
        <p:spPr>
          <a:xfrm>
            <a:off x="3246120" y="1371600"/>
            <a:ext cx="2651760" cy="1371600"/>
          </a:xfrm>
          <a:prstGeom prst="roundRect">
            <a:avLst>
              <a:gd fmla="val 5333" name="adj"/>
            </a:avLst>
          </a:prstGeom>
          <a:solidFill>
            <a:srgbClr val="1C1352"/>
          </a:solidFill>
          <a:ln cap="flat" cmpd="sng" w="9525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54"/>
          <p:cNvSpPr/>
          <p:nvPr/>
        </p:nvSpPr>
        <p:spPr>
          <a:xfrm>
            <a:off x="5623560" y="1481328"/>
            <a:ext cx="73152" cy="73152"/>
          </a:xfrm>
          <a:prstGeom prst="rect">
            <a:avLst/>
          </a:prstGeom>
          <a:solidFill>
            <a:srgbClr val="EE2A8F"/>
          </a:solidFill>
          <a:ln cap="flat" cmpd="sng" w="12700">
            <a:solidFill>
              <a:srgbClr val="EE2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54"/>
          <p:cNvSpPr/>
          <p:nvPr/>
        </p:nvSpPr>
        <p:spPr>
          <a:xfrm>
            <a:off x="5733288" y="1481328"/>
            <a:ext cx="73152" cy="73152"/>
          </a:xfrm>
          <a:prstGeom prst="rect">
            <a:avLst/>
          </a:prstGeom>
          <a:solidFill>
            <a:srgbClr val="2BC6FF"/>
          </a:solidFill>
          <a:ln cap="flat" cmpd="sng" w="12700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54"/>
          <p:cNvSpPr/>
          <p:nvPr/>
        </p:nvSpPr>
        <p:spPr>
          <a:xfrm>
            <a:off x="3429000" y="1508760"/>
            <a:ext cx="365760" cy="365760"/>
          </a:xfrm>
          <a:prstGeom prst="ellipse">
            <a:avLst/>
          </a:prstGeom>
          <a:solidFill>
            <a:srgbClr val="EE2A8F"/>
          </a:solidFill>
          <a:ln cap="flat" cmpd="sng" w="12700">
            <a:solidFill>
              <a:srgbClr val="EE2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54"/>
          <p:cNvSpPr txBox="1"/>
          <p:nvPr/>
        </p:nvSpPr>
        <p:spPr>
          <a:xfrm>
            <a:off x="3429000" y="15087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54"/>
          <p:cNvSpPr txBox="1"/>
          <p:nvPr/>
        </p:nvSpPr>
        <p:spPr>
          <a:xfrm>
            <a:off x="3904488" y="150876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C6FF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2BC6FF"/>
                </a:solidFill>
                <a:latin typeface="Arial"/>
                <a:ea typeface="Arial"/>
                <a:cs typeface="Arial"/>
                <a:sym typeface="Arial"/>
              </a:rPr>
              <a:t>RESOLUTION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54"/>
          <p:cNvSpPr txBox="1"/>
          <p:nvPr/>
        </p:nvSpPr>
        <p:spPr>
          <a:xfrm>
            <a:off x="3429000" y="2011680"/>
            <a:ext cx="2331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0" i="0" lang="en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Collect ID evidence and core attributes. Find one unique real person.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54"/>
          <p:cNvSpPr/>
          <p:nvPr/>
        </p:nvSpPr>
        <p:spPr>
          <a:xfrm>
            <a:off x="6035040" y="1371600"/>
            <a:ext cx="2651760" cy="1371600"/>
          </a:xfrm>
          <a:prstGeom prst="roundRect">
            <a:avLst>
              <a:gd fmla="val 5333" name="adj"/>
            </a:avLst>
          </a:prstGeom>
          <a:solidFill>
            <a:srgbClr val="1C1352"/>
          </a:solidFill>
          <a:ln cap="flat" cmpd="sng" w="9525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54"/>
          <p:cNvSpPr/>
          <p:nvPr/>
        </p:nvSpPr>
        <p:spPr>
          <a:xfrm>
            <a:off x="8412480" y="1481328"/>
            <a:ext cx="73152" cy="73152"/>
          </a:xfrm>
          <a:prstGeom prst="rect">
            <a:avLst/>
          </a:prstGeom>
          <a:solidFill>
            <a:srgbClr val="EE2A8F"/>
          </a:solidFill>
          <a:ln cap="flat" cmpd="sng" w="12700">
            <a:solidFill>
              <a:srgbClr val="EE2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54"/>
          <p:cNvSpPr/>
          <p:nvPr/>
        </p:nvSpPr>
        <p:spPr>
          <a:xfrm>
            <a:off x="8522208" y="1481328"/>
            <a:ext cx="73152" cy="73152"/>
          </a:xfrm>
          <a:prstGeom prst="rect">
            <a:avLst/>
          </a:prstGeom>
          <a:solidFill>
            <a:srgbClr val="2BC6FF"/>
          </a:solidFill>
          <a:ln cap="flat" cmpd="sng" w="12700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54"/>
          <p:cNvSpPr/>
          <p:nvPr/>
        </p:nvSpPr>
        <p:spPr>
          <a:xfrm>
            <a:off x="6217920" y="1508760"/>
            <a:ext cx="365760" cy="365760"/>
          </a:xfrm>
          <a:prstGeom prst="ellipse">
            <a:avLst/>
          </a:prstGeom>
          <a:solidFill>
            <a:srgbClr val="EE2A8F"/>
          </a:solidFill>
          <a:ln cap="flat" cmpd="sng" w="12700">
            <a:solidFill>
              <a:srgbClr val="EE2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54"/>
          <p:cNvSpPr txBox="1"/>
          <p:nvPr/>
        </p:nvSpPr>
        <p:spPr>
          <a:xfrm>
            <a:off x="6217920" y="15087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54"/>
          <p:cNvSpPr txBox="1"/>
          <p:nvPr/>
        </p:nvSpPr>
        <p:spPr>
          <a:xfrm>
            <a:off x="6693408" y="150876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C6FF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2BC6FF"/>
                </a:solidFill>
                <a:latin typeface="Arial"/>
                <a:ea typeface="Arial"/>
                <a:cs typeface="Arial"/>
                <a:sym typeface="Arial"/>
              </a:rPr>
              <a:t>VALIDATION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54"/>
          <p:cNvSpPr txBox="1"/>
          <p:nvPr/>
        </p:nvSpPr>
        <p:spPr>
          <a:xfrm>
            <a:off x="6217920" y="2011680"/>
            <a:ext cx="2331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0" i="0" lang="en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Is the evidence genuine, accurate and valid? Check with the issuing source.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54"/>
          <p:cNvSpPr/>
          <p:nvPr/>
        </p:nvSpPr>
        <p:spPr>
          <a:xfrm>
            <a:off x="457200" y="2852928"/>
            <a:ext cx="2651760" cy="1371600"/>
          </a:xfrm>
          <a:prstGeom prst="roundRect">
            <a:avLst>
              <a:gd fmla="val 5333" name="adj"/>
            </a:avLst>
          </a:prstGeom>
          <a:solidFill>
            <a:srgbClr val="1C1352"/>
          </a:solidFill>
          <a:ln cap="flat" cmpd="sng" w="9525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54"/>
          <p:cNvSpPr/>
          <p:nvPr/>
        </p:nvSpPr>
        <p:spPr>
          <a:xfrm>
            <a:off x="2834640" y="2962656"/>
            <a:ext cx="73152" cy="73152"/>
          </a:xfrm>
          <a:prstGeom prst="rect">
            <a:avLst/>
          </a:prstGeom>
          <a:solidFill>
            <a:srgbClr val="EE2A8F"/>
          </a:solidFill>
          <a:ln cap="flat" cmpd="sng" w="12700">
            <a:solidFill>
              <a:srgbClr val="EE2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54"/>
          <p:cNvSpPr/>
          <p:nvPr/>
        </p:nvSpPr>
        <p:spPr>
          <a:xfrm>
            <a:off x="2944368" y="2962656"/>
            <a:ext cx="73152" cy="73152"/>
          </a:xfrm>
          <a:prstGeom prst="rect">
            <a:avLst/>
          </a:prstGeom>
          <a:solidFill>
            <a:srgbClr val="2BC6FF"/>
          </a:solidFill>
          <a:ln cap="flat" cmpd="sng" w="12700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54"/>
          <p:cNvSpPr/>
          <p:nvPr/>
        </p:nvSpPr>
        <p:spPr>
          <a:xfrm>
            <a:off x="640080" y="2990088"/>
            <a:ext cx="365760" cy="365760"/>
          </a:xfrm>
          <a:prstGeom prst="ellipse">
            <a:avLst/>
          </a:prstGeom>
          <a:solidFill>
            <a:srgbClr val="EE2A8F"/>
          </a:solidFill>
          <a:ln cap="flat" cmpd="sng" w="12700">
            <a:solidFill>
              <a:srgbClr val="EE2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54"/>
          <p:cNvSpPr txBox="1"/>
          <p:nvPr/>
        </p:nvSpPr>
        <p:spPr>
          <a:xfrm>
            <a:off x="640080" y="299008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54"/>
          <p:cNvSpPr txBox="1"/>
          <p:nvPr/>
        </p:nvSpPr>
        <p:spPr>
          <a:xfrm>
            <a:off x="1115568" y="2990088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C6FF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2BC6FF"/>
                </a:solidFill>
                <a:latin typeface="Arial"/>
                <a:ea typeface="Arial"/>
                <a:cs typeface="Arial"/>
                <a:sym typeface="Arial"/>
              </a:rPr>
              <a:t>VERIFICATION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54"/>
          <p:cNvSpPr txBox="1"/>
          <p:nvPr/>
        </p:nvSpPr>
        <p:spPr>
          <a:xfrm>
            <a:off x="640080" y="3493008"/>
            <a:ext cx="2331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0" i="0" lang="en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Is the applicant the true owner? Code to a phone, face match, micro-transaction.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54"/>
          <p:cNvSpPr/>
          <p:nvPr/>
        </p:nvSpPr>
        <p:spPr>
          <a:xfrm>
            <a:off x="3246120" y="2852928"/>
            <a:ext cx="2651760" cy="1371600"/>
          </a:xfrm>
          <a:prstGeom prst="roundRect">
            <a:avLst>
              <a:gd fmla="val 5333" name="adj"/>
            </a:avLst>
          </a:prstGeom>
          <a:solidFill>
            <a:srgbClr val="1C1352"/>
          </a:solidFill>
          <a:ln cap="flat" cmpd="sng" w="9525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54"/>
          <p:cNvSpPr/>
          <p:nvPr/>
        </p:nvSpPr>
        <p:spPr>
          <a:xfrm>
            <a:off x="5623560" y="2962656"/>
            <a:ext cx="73152" cy="73152"/>
          </a:xfrm>
          <a:prstGeom prst="rect">
            <a:avLst/>
          </a:prstGeom>
          <a:solidFill>
            <a:srgbClr val="EE2A8F"/>
          </a:solidFill>
          <a:ln cap="flat" cmpd="sng" w="12700">
            <a:solidFill>
              <a:srgbClr val="EE2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54"/>
          <p:cNvSpPr/>
          <p:nvPr/>
        </p:nvSpPr>
        <p:spPr>
          <a:xfrm>
            <a:off x="5733288" y="2962656"/>
            <a:ext cx="73152" cy="73152"/>
          </a:xfrm>
          <a:prstGeom prst="rect">
            <a:avLst/>
          </a:prstGeom>
          <a:solidFill>
            <a:srgbClr val="2BC6FF"/>
          </a:solidFill>
          <a:ln cap="flat" cmpd="sng" w="12700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54"/>
          <p:cNvSpPr/>
          <p:nvPr/>
        </p:nvSpPr>
        <p:spPr>
          <a:xfrm>
            <a:off x="3429000" y="2990088"/>
            <a:ext cx="365760" cy="365760"/>
          </a:xfrm>
          <a:prstGeom prst="ellipse">
            <a:avLst/>
          </a:prstGeom>
          <a:solidFill>
            <a:srgbClr val="EE2A8F"/>
          </a:solidFill>
          <a:ln cap="flat" cmpd="sng" w="12700">
            <a:solidFill>
              <a:srgbClr val="EE2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54"/>
          <p:cNvSpPr txBox="1"/>
          <p:nvPr/>
        </p:nvSpPr>
        <p:spPr>
          <a:xfrm>
            <a:off x="3429000" y="299008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54"/>
          <p:cNvSpPr txBox="1"/>
          <p:nvPr/>
        </p:nvSpPr>
        <p:spPr>
          <a:xfrm>
            <a:off x="3904488" y="2990088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C6FF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2BC6FF"/>
                </a:solidFill>
                <a:latin typeface="Arial"/>
                <a:ea typeface="Arial"/>
                <a:cs typeface="Arial"/>
                <a:sym typeface="Arial"/>
              </a:rPr>
              <a:t>FRAUD CHECKS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54"/>
          <p:cNvSpPr txBox="1"/>
          <p:nvPr/>
        </p:nvSpPr>
        <p:spPr>
          <a:xfrm>
            <a:off x="3429000" y="3493008"/>
            <a:ext cx="2331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0" i="0" lang="en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Run throughout. Death records, SIM swap, device fingerprint, velocity.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54"/>
          <p:cNvSpPr/>
          <p:nvPr/>
        </p:nvSpPr>
        <p:spPr>
          <a:xfrm>
            <a:off x="6035040" y="2852928"/>
            <a:ext cx="2651760" cy="1371600"/>
          </a:xfrm>
          <a:prstGeom prst="roundRect">
            <a:avLst>
              <a:gd fmla="val 5333" name="adj"/>
            </a:avLst>
          </a:prstGeom>
          <a:solidFill>
            <a:srgbClr val="1C1352"/>
          </a:solidFill>
          <a:ln cap="flat" cmpd="sng" w="9525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54"/>
          <p:cNvSpPr/>
          <p:nvPr/>
        </p:nvSpPr>
        <p:spPr>
          <a:xfrm>
            <a:off x="8412480" y="2962656"/>
            <a:ext cx="73152" cy="73152"/>
          </a:xfrm>
          <a:prstGeom prst="rect">
            <a:avLst/>
          </a:prstGeom>
          <a:solidFill>
            <a:srgbClr val="EE2A8F"/>
          </a:solidFill>
          <a:ln cap="flat" cmpd="sng" w="12700">
            <a:solidFill>
              <a:srgbClr val="EE2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54"/>
          <p:cNvSpPr/>
          <p:nvPr/>
        </p:nvSpPr>
        <p:spPr>
          <a:xfrm>
            <a:off x="8522208" y="2962656"/>
            <a:ext cx="73152" cy="73152"/>
          </a:xfrm>
          <a:prstGeom prst="rect">
            <a:avLst/>
          </a:prstGeom>
          <a:solidFill>
            <a:srgbClr val="2BC6FF"/>
          </a:solidFill>
          <a:ln cap="flat" cmpd="sng" w="12700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54"/>
          <p:cNvSpPr/>
          <p:nvPr/>
        </p:nvSpPr>
        <p:spPr>
          <a:xfrm>
            <a:off x="6217920" y="2990088"/>
            <a:ext cx="365760" cy="365760"/>
          </a:xfrm>
          <a:prstGeom prst="ellipse">
            <a:avLst/>
          </a:prstGeom>
          <a:solidFill>
            <a:srgbClr val="EE2A8F"/>
          </a:solidFill>
          <a:ln cap="flat" cmpd="sng" w="12700">
            <a:solidFill>
              <a:srgbClr val="EE2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54"/>
          <p:cNvSpPr txBox="1"/>
          <p:nvPr/>
        </p:nvSpPr>
        <p:spPr>
          <a:xfrm>
            <a:off x="6217920" y="299008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p54"/>
          <p:cNvSpPr txBox="1"/>
          <p:nvPr/>
        </p:nvSpPr>
        <p:spPr>
          <a:xfrm>
            <a:off x="6693408" y="2990088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C6FF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2BC6FF"/>
                </a:solidFill>
                <a:latin typeface="Arial"/>
                <a:ea typeface="Arial"/>
                <a:cs typeface="Arial"/>
                <a:sym typeface="Arial"/>
              </a:rPr>
              <a:t>ENROLLMENT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54"/>
          <p:cNvSpPr txBox="1"/>
          <p:nvPr/>
        </p:nvSpPr>
        <p:spPr>
          <a:xfrm>
            <a:off x="6217920" y="3493008"/>
            <a:ext cx="2331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0" i="0" lang="en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Notify a validated address. Create the account. Bind the authenticator.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54"/>
          <p:cNvSpPr/>
          <p:nvPr/>
        </p:nvSpPr>
        <p:spPr>
          <a:xfrm>
            <a:off x="457200" y="4434840"/>
            <a:ext cx="64008" cy="384048"/>
          </a:xfrm>
          <a:prstGeom prst="rect">
            <a:avLst/>
          </a:prstGeom>
          <a:solidFill>
            <a:srgbClr val="EE2A8F"/>
          </a:solidFill>
          <a:ln cap="flat" cmpd="sng" w="12700">
            <a:solidFill>
              <a:srgbClr val="EE2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54"/>
          <p:cNvSpPr txBox="1"/>
          <p:nvPr/>
        </p:nvSpPr>
        <p:spPr>
          <a:xfrm>
            <a:off x="658368" y="4434840"/>
            <a:ext cx="80284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C6FF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2BC6FF"/>
                </a:solidFill>
                <a:latin typeface="Arial"/>
                <a:ea typeface="Arial"/>
                <a:cs typeface="Arial"/>
                <a:sym typeface="Arial"/>
              </a:rPr>
              <a:t>Security questions must not be used for verification.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55"/>
          <p:cNvSpPr txBox="1"/>
          <p:nvPr>
            <p:ph type="title"/>
          </p:nvPr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lang="en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HOW STRONG IS THE </a:t>
            </a:r>
            <a:r>
              <a:rPr b="1" lang="en" sz="2400">
                <a:solidFill>
                  <a:srgbClr val="2BC6FF"/>
                </a:solidFill>
                <a:latin typeface="Arial"/>
                <a:ea typeface="Arial"/>
                <a:cs typeface="Arial"/>
                <a:sym typeface="Arial"/>
              </a:rPr>
              <a:t>PROOFING?</a:t>
            </a:r>
            <a:endParaRPr sz="2400"/>
          </a:p>
        </p:txBody>
      </p:sp>
      <p:sp>
        <p:nvSpPr>
          <p:cNvPr id="803" name="Google Shape;803;p55"/>
          <p:cNvSpPr txBox="1"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C8E6"/>
              </a:buClr>
              <a:buSzPts val="1400"/>
              <a:buFont typeface="Arial"/>
              <a:buNone/>
            </a:pPr>
            <a:r>
              <a:rPr b="0" i="1" lang="en" sz="1400" u="none" cap="none" strike="noStrike">
                <a:solidFill>
                  <a:srgbClr val="D6C8E6"/>
                </a:solidFill>
                <a:latin typeface="Arial"/>
                <a:ea typeface="Arial"/>
                <a:cs typeface="Arial"/>
                <a:sym typeface="Arial"/>
              </a:rPr>
              <a:t>NIST Identity Assurance Levels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55"/>
          <p:cNvSpPr/>
          <p:nvPr/>
        </p:nvSpPr>
        <p:spPr>
          <a:xfrm>
            <a:off x="457200" y="1371600"/>
            <a:ext cx="2651760" cy="2560320"/>
          </a:xfrm>
          <a:prstGeom prst="roundRect">
            <a:avLst>
              <a:gd fmla="val 2857" name="adj"/>
            </a:avLst>
          </a:prstGeom>
          <a:solidFill>
            <a:srgbClr val="1C1352"/>
          </a:solidFill>
          <a:ln cap="flat" cmpd="sng" w="9525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55"/>
          <p:cNvSpPr/>
          <p:nvPr/>
        </p:nvSpPr>
        <p:spPr>
          <a:xfrm>
            <a:off x="2834640" y="1481328"/>
            <a:ext cx="73152" cy="73152"/>
          </a:xfrm>
          <a:prstGeom prst="rect">
            <a:avLst/>
          </a:prstGeom>
          <a:solidFill>
            <a:srgbClr val="EE2A8F"/>
          </a:solidFill>
          <a:ln cap="flat" cmpd="sng" w="12700">
            <a:solidFill>
              <a:srgbClr val="EE2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55"/>
          <p:cNvSpPr/>
          <p:nvPr/>
        </p:nvSpPr>
        <p:spPr>
          <a:xfrm>
            <a:off x="2944368" y="1481328"/>
            <a:ext cx="73152" cy="73152"/>
          </a:xfrm>
          <a:prstGeom prst="rect">
            <a:avLst/>
          </a:prstGeom>
          <a:solidFill>
            <a:srgbClr val="2BC6FF"/>
          </a:solidFill>
          <a:ln cap="flat" cmpd="sng" w="12700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55"/>
          <p:cNvSpPr txBox="1"/>
          <p:nvPr/>
        </p:nvSpPr>
        <p:spPr>
          <a:xfrm>
            <a:off x="640080" y="1536192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2A8F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rgbClr val="EE2A8F"/>
                </a:solidFill>
                <a:latin typeface="Arial"/>
                <a:ea typeface="Arial"/>
                <a:cs typeface="Arial"/>
                <a:sym typeface="Arial"/>
              </a:rPr>
              <a:t>IAL1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55"/>
          <p:cNvSpPr/>
          <p:nvPr/>
        </p:nvSpPr>
        <p:spPr>
          <a:xfrm>
            <a:off x="640080" y="2148840"/>
            <a:ext cx="201168" cy="201168"/>
          </a:xfrm>
          <a:prstGeom prst="rect">
            <a:avLst/>
          </a:prstGeom>
          <a:solidFill>
            <a:srgbClr val="2BC6FF"/>
          </a:solidFill>
          <a:ln cap="flat" cmpd="sng" w="12700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55"/>
          <p:cNvSpPr/>
          <p:nvPr/>
        </p:nvSpPr>
        <p:spPr>
          <a:xfrm>
            <a:off x="914400" y="2148840"/>
            <a:ext cx="201168" cy="201168"/>
          </a:xfrm>
          <a:prstGeom prst="rect">
            <a:avLst/>
          </a:prstGeom>
          <a:solidFill>
            <a:srgbClr val="3A3377"/>
          </a:solidFill>
          <a:ln cap="flat" cmpd="sng" w="12700">
            <a:solidFill>
              <a:srgbClr val="3A3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55"/>
          <p:cNvSpPr/>
          <p:nvPr/>
        </p:nvSpPr>
        <p:spPr>
          <a:xfrm>
            <a:off x="1188720" y="2148840"/>
            <a:ext cx="201168" cy="201168"/>
          </a:xfrm>
          <a:prstGeom prst="rect">
            <a:avLst/>
          </a:prstGeom>
          <a:solidFill>
            <a:srgbClr val="3A3377"/>
          </a:solidFill>
          <a:ln cap="flat" cmpd="sng" w="12700">
            <a:solidFill>
              <a:srgbClr val="3A3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55"/>
          <p:cNvSpPr txBox="1"/>
          <p:nvPr/>
        </p:nvSpPr>
        <p:spPr>
          <a:xfrm>
            <a:off x="640080" y="2560320"/>
            <a:ext cx="23317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One piece of evidence. Remote or on-site. Limits automated enrollment attacks and synthetic identities.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p55"/>
          <p:cNvSpPr/>
          <p:nvPr/>
        </p:nvSpPr>
        <p:spPr>
          <a:xfrm>
            <a:off x="3246120" y="1371600"/>
            <a:ext cx="2651760" cy="2560320"/>
          </a:xfrm>
          <a:prstGeom prst="roundRect">
            <a:avLst>
              <a:gd fmla="val 2857" name="adj"/>
            </a:avLst>
          </a:prstGeom>
          <a:solidFill>
            <a:srgbClr val="1C1352"/>
          </a:solidFill>
          <a:ln cap="flat" cmpd="sng" w="9525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55"/>
          <p:cNvSpPr/>
          <p:nvPr/>
        </p:nvSpPr>
        <p:spPr>
          <a:xfrm>
            <a:off x="5623560" y="1481328"/>
            <a:ext cx="73152" cy="73152"/>
          </a:xfrm>
          <a:prstGeom prst="rect">
            <a:avLst/>
          </a:prstGeom>
          <a:solidFill>
            <a:srgbClr val="EE2A8F"/>
          </a:solidFill>
          <a:ln cap="flat" cmpd="sng" w="12700">
            <a:solidFill>
              <a:srgbClr val="EE2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55"/>
          <p:cNvSpPr/>
          <p:nvPr/>
        </p:nvSpPr>
        <p:spPr>
          <a:xfrm>
            <a:off x="5733288" y="1481328"/>
            <a:ext cx="73152" cy="73152"/>
          </a:xfrm>
          <a:prstGeom prst="rect">
            <a:avLst/>
          </a:prstGeom>
          <a:solidFill>
            <a:srgbClr val="2BC6FF"/>
          </a:solidFill>
          <a:ln cap="flat" cmpd="sng" w="12700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55"/>
          <p:cNvSpPr txBox="1"/>
          <p:nvPr/>
        </p:nvSpPr>
        <p:spPr>
          <a:xfrm>
            <a:off x="3429000" y="1536192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2A8F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rgbClr val="EE2A8F"/>
                </a:solidFill>
                <a:latin typeface="Arial"/>
                <a:ea typeface="Arial"/>
                <a:cs typeface="Arial"/>
                <a:sym typeface="Arial"/>
              </a:rPr>
              <a:t>IAL2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p55"/>
          <p:cNvSpPr/>
          <p:nvPr/>
        </p:nvSpPr>
        <p:spPr>
          <a:xfrm>
            <a:off x="3429000" y="2148840"/>
            <a:ext cx="201168" cy="201168"/>
          </a:xfrm>
          <a:prstGeom prst="rect">
            <a:avLst/>
          </a:prstGeom>
          <a:solidFill>
            <a:srgbClr val="2BC6FF"/>
          </a:solidFill>
          <a:ln cap="flat" cmpd="sng" w="12700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55"/>
          <p:cNvSpPr/>
          <p:nvPr/>
        </p:nvSpPr>
        <p:spPr>
          <a:xfrm>
            <a:off x="3703320" y="2148840"/>
            <a:ext cx="201168" cy="201168"/>
          </a:xfrm>
          <a:prstGeom prst="rect">
            <a:avLst/>
          </a:prstGeom>
          <a:solidFill>
            <a:srgbClr val="2BC6FF"/>
          </a:solidFill>
          <a:ln cap="flat" cmpd="sng" w="12700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55"/>
          <p:cNvSpPr/>
          <p:nvPr/>
        </p:nvSpPr>
        <p:spPr>
          <a:xfrm>
            <a:off x="3977640" y="2148840"/>
            <a:ext cx="201168" cy="201168"/>
          </a:xfrm>
          <a:prstGeom prst="rect">
            <a:avLst/>
          </a:prstGeom>
          <a:solidFill>
            <a:srgbClr val="3A3377"/>
          </a:solidFill>
          <a:ln cap="flat" cmpd="sng" w="12700">
            <a:solidFill>
              <a:srgbClr val="3A3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55"/>
          <p:cNvSpPr txBox="1"/>
          <p:nvPr/>
        </p:nvSpPr>
        <p:spPr>
          <a:xfrm>
            <a:off x="3429000" y="2560320"/>
            <a:ext cx="23317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More evidence and stronger checks. Limits evidence theft, basic forgery and social engineering.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55"/>
          <p:cNvSpPr/>
          <p:nvPr/>
        </p:nvSpPr>
        <p:spPr>
          <a:xfrm>
            <a:off x="6035040" y="1371600"/>
            <a:ext cx="2651760" cy="2560320"/>
          </a:xfrm>
          <a:prstGeom prst="roundRect">
            <a:avLst>
              <a:gd fmla="val 2857" name="adj"/>
            </a:avLst>
          </a:prstGeom>
          <a:solidFill>
            <a:srgbClr val="1C1352"/>
          </a:solidFill>
          <a:ln cap="flat" cmpd="sng" w="9525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55"/>
          <p:cNvSpPr/>
          <p:nvPr/>
        </p:nvSpPr>
        <p:spPr>
          <a:xfrm>
            <a:off x="8412480" y="1481328"/>
            <a:ext cx="73152" cy="73152"/>
          </a:xfrm>
          <a:prstGeom prst="rect">
            <a:avLst/>
          </a:prstGeom>
          <a:solidFill>
            <a:srgbClr val="EE2A8F"/>
          </a:solidFill>
          <a:ln cap="flat" cmpd="sng" w="12700">
            <a:solidFill>
              <a:srgbClr val="EE2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55"/>
          <p:cNvSpPr/>
          <p:nvPr/>
        </p:nvSpPr>
        <p:spPr>
          <a:xfrm>
            <a:off x="8522208" y="1481328"/>
            <a:ext cx="73152" cy="73152"/>
          </a:xfrm>
          <a:prstGeom prst="rect">
            <a:avLst/>
          </a:prstGeom>
          <a:solidFill>
            <a:srgbClr val="2BC6FF"/>
          </a:solidFill>
          <a:ln cap="flat" cmpd="sng" w="12700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55"/>
          <p:cNvSpPr txBox="1"/>
          <p:nvPr/>
        </p:nvSpPr>
        <p:spPr>
          <a:xfrm>
            <a:off x="6217920" y="1536192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2A8F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rgbClr val="EE2A8F"/>
                </a:solidFill>
                <a:latin typeface="Arial"/>
                <a:ea typeface="Arial"/>
                <a:cs typeface="Arial"/>
                <a:sym typeface="Arial"/>
              </a:rPr>
              <a:t>IAL3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p55"/>
          <p:cNvSpPr/>
          <p:nvPr/>
        </p:nvSpPr>
        <p:spPr>
          <a:xfrm>
            <a:off x="6217920" y="2148840"/>
            <a:ext cx="201168" cy="201168"/>
          </a:xfrm>
          <a:prstGeom prst="rect">
            <a:avLst/>
          </a:prstGeom>
          <a:solidFill>
            <a:srgbClr val="2BC6FF"/>
          </a:solidFill>
          <a:ln cap="flat" cmpd="sng" w="12700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55"/>
          <p:cNvSpPr/>
          <p:nvPr/>
        </p:nvSpPr>
        <p:spPr>
          <a:xfrm>
            <a:off x="6492240" y="2148840"/>
            <a:ext cx="201168" cy="201168"/>
          </a:xfrm>
          <a:prstGeom prst="rect">
            <a:avLst/>
          </a:prstGeom>
          <a:solidFill>
            <a:srgbClr val="2BC6FF"/>
          </a:solidFill>
          <a:ln cap="flat" cmpd="sng" w="12700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55"/>
          <p:cNvSpPr/>
          <p:nvPr/>
        </p:nvSpPr>
        <p:spPr>
          <a:xfrm>
            <a:off x="6766560" y="2148840"/>
            <a:ext cx="201168" cy="201168"/>
          </a:xfrm>
          <a:prstGeom prst="rect">
            <a:avLst/>
          </a:prstGeom>
          <a:solidFill>
            <a:srgbClr val="2BC6FF"/>
          </a:solidFill>
          <a:ln cap="flat" cmpd="sng" w="12700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55"/>
          <p:cNvSpPr txBox="1"/>
          <p:nvPr/>
        </p:nvSpPr>
        <p:spPr>
          <a:xfrm>
            <a:off x="6217920" y="2560320"/>
            <a:ext cx="23317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On-site with a trained agent and a biometric. Limits advanced forgery and social engineering.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55"/>
          <p:cNvSpPr/>
          <p:nvPr/>
        </p:nvSpPr>
        <p:spPr>
          <a:xfrm>
            <a:off x="457200" y="4206240"/>
            <a:ext cx="64008" cy="411480"/>
          </a:xfrm>
          <a:prstGeom prst="rect">
            <a:avLst/>
          </a:prstGeom>
          <a:solidFill>
            <a:srgbClr val="EE2A8F"/>
          </a:solidFill>
          <a:ln cap="flat" cmpd="sng" w="12700">
            <a:solidFill>
              <a:srgbClr val="EE2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55"/>
          <p:cNvSpPr txBox="1"/>
          <p:nvPr/>
        </p:nvSpPr>
        <p:spPr>
          <a:xfrm>
            <a:off x="658368" y="4206240"/>
            <a:ext cx="80284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C6FF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2BC6FF"/>
                </a:solidFill>
                <a:latin typeface="Arial"/>
                <a:ea typeface="Arial"/>
                <a:cs typeface="Arial"/>
                <a:sym typeface="Arial"/>
              </a:rPr>
              <a:t>Superior evidence is signed by the issuer. A forged image has no valid signature.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56"/>
          <p:cNvSpPr txBox="1"/>
          <p:nvPr>
            <p:ph type="title"/>
          </p:nvPr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lang="e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REGISTERING PEOPLE, </a:t>
            </a:r>
            <a:r>
              <a:rPr b="1" lang="en" sz="2000">
                <a:solidFill>
                  <a:srgbClr val="2BC6FF"/>
                </a:solidFill>
                <a:latin typeface="Arial"/>
                <a:ea typeface="Arial"/>
                <a:cs typeface="Arial"/>
                <a:sym typeface="Arial"/>
              </a:rPr>
              <a:t>DEVICES AND SYSTEMS</a:t>
            </a:r>
            <a:endParaRPr sz="2400"/>
          </a:p>
        </p:txBody>
      </p:sp>
      <p:sp>
        <p:nvSpPr>
          <p:cNvPr id="836" name="Google Shape;836;p56"/>
          <p:cNvSpPr txBox="1"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C8E6"/>
              </a:buClr>
              <a:buSzPts val="1400"/>
              <a:buFont typeface="Arial"/>
              <a:buNone/>
            </a:pPr>
            <a:r>
              <a:rPr b="0" i="1" lang="en" sz="1400" u="none" cap="none" strike="noStrike">
                <a:solidFill>
                  <a:srgbClr val="D6C8E6"/>
                </a:solidFill>
                <a:latin typeface="Arial"/>
                <a:ea typeface="Arial"/>
                <a:cs typeface="Arial"/>
                <a:sym typeface="Arial"/>
              </a:rPr>
              <a:t>Different subjects, different proof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56"/>
          <p:cNvSpPr/>
          <p:nvPr/>
        </p:nvSpPr>
        <p:spPr>
          <a:xfrm>
            <a:off x="457200" y="1371600"/>
            <a:ext cx="2651760" cy="2560320"/>
          </a:xfrm>
          <a:prstGeom prst="roundRect">
            <a:avLst>
              <a:gd fmla="val 2857" name="adj"/>
            </a:avLst>
          </a:prstGeom>
          <a:solidFill>
            <a:srgbClr val="1C1352"/>
          </a:solidFill>
          <a:ln cap="flat" cmpd="sng" w="9525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56"/>
          <p:cNvSpPr/>
          <p:nvPr/>
        </p:nvSpPr>
        <p:spPr>
          <a:xfrm>
            <a:off x="2834640" y="1481328"/>
            <a:ext cx="73152" cy="73152"/>
          </a:xfrm>
          <a:prstGeom prst="rect">
            <a:avLst/>
          </a:prstGeom>
          <a:solidFill>
            <a:srgbClr val="EE2A8F"/>
          </a:solidFill>
          <a:ln cap="flat" cmpd="sng" w="12700">
            <a:solidFill>
              <a:srgbClr val="EE2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56"/>
          <p:cNvSpPr/>
          <p:nvPr/>
        </p:nvSpPr>
        <p:spPr>
          <a:xfrm>
            <a:off x="2944368" y="1481328"/>
            <a:ext cx="73152" cy="73152"/>
          </a:xfrm>
          <a:prstGeom prst="rect">
            <a:avLst/>
          </a:prstGeom>
          <a:solidFill>
            <a:srgbClr val="2BC6FF"/>
          </a:solidFill>
          <a:ln cap="flat" cmpd="sng" w="12700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56"/>
          <p:cNvSpPr/>
          <p:nvPr/>
        </p:nvSpPr>
        <p:spPr>
          <a:xfrm>
            <a:off x="640080" y="1554480"/>
            <a:ext cx="502920" cy="502920"/>
          </a:xfrm>
          <a:prstGeom prst="ellipse">
            <a:avLst/>
          </a:prstGeom>
          <a:solidFill>
            <a:srgbClr val="2BC6FF"/>
          </a:solidFill>
          <a:ln cap="flat" cmpd="sng" w="12700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user check icon" id="841" name="Google Shape;841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0781" y="1675181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842" name="Google Shape;842;p56"/>
          <p:cNvSpPr txBox="1"/>
          <p:nvPr/>
        </p:nvSpPr>
        <p:spPr>
          <a:xfrm>
            <a:off x="640080" y="2194560"/>
            <a:ext cx="2331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C6FF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2BC6FF"/>
                </a:solidFill>
                <a:latin typeface="Arial"/>
                <a:ea typeface="Arial"/>
                <a:cs typeface="Arial"/>
                <a:sym typeface="Arial"/>
              </a:rPr>
              <a:t>PERSON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p56"/>
          <p:cNvSpPr txBox="1"/>
          <p:nvPr/>
        </p:nvSpPr>
        <p:spPr>
          <a:xfrm>
            <a:off x="640080" y="2743200"/>
            <a:ext cx="23317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ID evidence and face check. Result: subscriber account and passkey. Example: student portal.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p56"/>
          <p:cNvSpPr/>
          <p:nvPr/>
        </p:nvSpPr>
        <p:spPr>
          <a:xfrm>
            <a:off x="3246120" y="1371600"/>
            <a:ext cx="2651760" cy="2560320"/>
          </a:xfrm>
          <a:prstGeom prst="roundRect">
            <a:avLst>
              <a:gd fmla="val 2857" name="adj"/>
            </a:avLst>
          </a:prstGeom>
          <a:solidFill>
            <a:srgbClr val="1C1352"/>
          </a:solidFill>
          <a:ln cap="flat" cmpd="sng" w="9525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56"/>
          <p:cNvSpPr/>
          <p:nvPr/>
        </p:nvSpPr>
        <p:spPr>
          <a:xfrm>
            <a:off x="5623560" y="1481328"/>
            <a:ext cx="73152" cy="73152"/>
          </a:xfrm>
          <a:prstGeom prst="rect">
            <a:avLst/>
          </a:prstGeom>
          <a:solidFill>
            <a:srgbClr val="EE2A8F"/>
          </a:solidFill>
          <a:ln cap="flat" cmpd="sng" w="12700">
            <a:solidFill>
              <a:srgbClr val="EE2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56"/>
          <p:cNvSpPr/>
          <p:nvPr/>
        </p:nvSpPr>
        <p:spPr>
          <a:xfrm>
            <a:off x="5733288" y="1481328"/>
            <a:ext cx="73152" cy="73152"/>
          </a:xfrm>
          <a:prstGeom prst="rect">
            <a:avLst/>
          </a:prstGeom>
          <a:solidFill>
            <a:srgbClr val="2BC6FF"/>
          </a:solidFill>
          <a:ln cap="flat" cmpd="sng" w="12700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56"/>
          <p:cNvSpPr/>
          <p:nvPr/>
        </p:nvSpPr>
        <p:spPr>
          <a:xfrm>
            <a:off x="3429000" y="1554480"/>
            <a:ext cx="502920" cy="502920"/>
          </a:xfrm>
          <a:prstGeom prst="ellipse">
            <a:avLst/>
          </a:prstGeom>
          <a:solidFill>
            <a:srgbClr val="2BC6FF"/>
          </a:solidFill>
          <a:ln cap="flat" cmpd="sng" w="12700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microchip icon" id="848" name="Google Shape;848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9701" y="1675181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849" name="Google Shape;849;p56"/>
          <p:cNvSpPr txBox="1"/>
          <p:nvPr/>
        </p:nvSpPr>
        <p:spPr>
          <a:xfrm>
            <a:off x="3429000" y="2194560"/>
            <a:ext cx="2331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C6FF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2BC6FF"/>
                </a:solidFill>
                <a:latin typeface="Arial"/>
                <a:ea typeface="Arial"/>
                <a:cs typeface="Arial"/>
                <a:sym typeface="Arial"/>
              </a:rPr>
              <a:t>DEVICE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Google Shape;850;p56"/>
          <p:cNvSpPr txBox="1"/>
          <p:nvPr/>
        </p:nvSpPr>
        <p:spPr>
          <a:xfrm>
            <a:off x="3429000" y="2743200"/>
            <a:ext cx="23317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NIST proofing covers people only. Machines use node attestation, for example a TPM or a cloud instance identity.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56"/>
          <p:cNvSpPr/>
          <p:nvPr/>
        </p:nvSpPr>
        <p:spPr>
          <a:xfrm>
            <a:off x="6035040" y="1371600"/>
            <a:ext cx="2651760" cy="2560320"/>
          </a:xfrm>
          <a:prstGeom prst="roundRect">
            <a:avLst>
              <a:gd fmla="val 2857" name="adj"/>
            </a:avLst>
          </a:prstGeom>
          <a:solidFill>
            <a:srgbClr val="1C1352"/>
          </a:solidFill>
          <a:ln cap="flat" cmpd="sng" w="9525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56"/>
          <p:cNvSpPr/>
          <p:nvPr/>
        </p:nvSpPr>
        <p:spPr>
          <a:xfrm>
            <a:off x="8412480" y="1481328"/>
            <a:ext cx="73152" cy="73152"/>
          </a:xfrm>
          <a:prstGeom prst="rect">
            <a:avLst/>
          </a:prstGeom>
          <a:solidFill>
            <a:srgbClr val="EE2A8F"/>
          </a:solidFill>
          <a:ln cap="flat" cmpd="sng" w="12700">
            <a:solidFill>
              <a:srgbClr val="EE2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56"/>
          <p:cNvSpPr/>
          <p:nvPr/>
        </p:nvSpPr>
        <p:spPr>
          <a:xfrm>
            <a:off x="8522208" y="1481328"/>
            <a:ext cx="73152" cy="73152"/>
          </a:xfrm>
          <a:prstGeom prst="rect">
            <a:avLst/>
          </a:prstGeom>
          <a:solidFill>
            <a:srgbClr val="2BC6FF"/>
          </a:solidFill>
          <a:ln cap="flat" cmpd="sng" w="12700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56"/>
          <p:cNvSpPr/>
          <p:nvPr/>
        </p:nvSpPr>
        <p:spPr>
          <a:xfrm>
            <a:off x="6217920" y="1554480"/>
            <a:ext cx="502920" cy="502920"/>
          </a:xfrm>
          <a:prstGeom prst="ellipse">
            <a:avLst/>
          </a:prstGeom>
          <a:solidFill>
            <a:srgbClr val="2BC6FF"/>
          </a:solidFill>
          <a:ln cap="flat" cmpd="sng" w="12700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robot icon" id="855" name="Google Shape;855;p5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8621" y="1675181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856" name="Google Shape;856;p56"/>
          <p:cNvSpPr txBox="1"/>
          <p:nvPr/>
        </p:nvSpPr>
        <p:spPr>
          <a:xfrm>
            <a:off x="6217920" y="2194560"/>
            <a:ext cx="2331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C6FF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2BC6FF"/>
                </a:solidFill>
                <a:latin typeface="Arial"/>
                <a:ea typeface="Arial"/>
                <a:cs typeface="Arial"/>
                <a:sym typeface="Arial"/>
              </a:rPr>
              <a:t>SYSTEM, API OR AI AGENT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p56"/>
          <p:cNvSpPr txBox="1"/>
          <p:nvPr/>
        </p:nvSpPr>
        <p:spPr>
          <a:xfrm>
            <a:off x="6217920" y="2743200"/>
            <a:ext cx="23317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Workload attestation, then a short-lived identity. Permissions come from the owner.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p56"/>
          <p:cNvSpPr/>
          <p:nvPr/>
        </p:nvSpPr>
        <p:spPr>
          <a:xfrm>
            <a:off x="457200" y="4206240"/>
            <a:ext cx="64008" cy="411480"/>
          </a:xfrm>
          <a:prstGeom prst="rect">
            <a:avLst/>
          </a:prstGeom>
          <a:solidFill>
            <a:srgbClr val="EE2A8F"/>
          </a:solidFill>
          <a:ln cap="flat" cmpd="sng" w="12700">
            <a:solidFill>
              <a:srgbClr val="EE2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56"/>
          <p:cNvSpPr txBox="1"/>
          <p:nvPr/>
        </p:nvSpPr>
        <p:spPr>
          <a:xfrm>
            <a:off x="658368" y="4206240"/>
            <a:ext cx="80284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C6FF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2BC6FF"/>
                </a:solidFill>
                <a:latin typeface="Arial"/>
                <a:ea typeface="Arial"/>
                <a:cs typeface="Arial"/>
                <a:sym typeface="Arial"/>
              </a:rPr>
              <a:t>Weak proofing of the human owner weakens trust in every machine they register.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57"/>
          <p:cNvSpPr txBox="1"/>
          <p:nvPr>
            <p:ph type="title"/>
          </p:nvPr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lang="en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WHY IT IS INHERENTLY </a:t>
            </a:r>
            <a:r>
              <a:rPr b="1" lang="en" sz="2400">
                <a:solidFill>
                  <a:srgbClr val="2BC6FF"/>
                </a:solidFill>
                <a:latin typeface="Arial"/>
                <a:ea typeface="Arial"/>
                <a:cs typeface="Arial"/>
                <a:sym typeface="Arial"/>
              </a:rPr>
              <a:t>VULNERABLE</a:t>
            </a:r>
            <a:endParaRPr sz="2400"/>
          </a:p>
        </p:txBody>
      </p:sp>
      <p:sp>
        <p:nvSpPr>
          <p:cNvPr id="866" name="Google Shape;866;p57"/>
          <p:cNvSpPr txBox="1"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C8E6"/>
              </a:buClr>
              <a:buSzPts val="1400"/>
              <a:buFont typeface="Arial"/>
              <a:buNone/>
            </a:pPr>
            <a:r>
              <a:rPr b="0" i="1" lang="en" sz="1400" u="none" cap="none" strike="noStrike">
                <a:solidFill>
                  <a:srgbClr val="D6C8E6"/>
                </a:solidFill>
                <a:latin typeface="Arial"/>
                <a:ea typeface="Arial"/>
                <a:cs typeface="Arial"/>
                <a:sym typeface="Arial"/>
              </a:rPr>
              <a:t>Proofing trusts evidence. AI can now generate evidence.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p57"/>
          <p:cNvSpPr/>
          <p:nvPr/>
        </p:nvSpPr>
        <p:spPr>
          <a:xfrm>
            <a:off x="457200" y="1371600"/>
            <a:ext cx="1554480" cy="2194560"/>
          </a:xfrm>
          <a:prstGeom prst="roundRect">
            <a:avLst>
              <a:gd fmla="val 4706" name="adj"/>
            </a:avLst>
          </a:prstGeom>
          <a:solidFill>
            <a:srgbClr val="1C1352"/>
          </a:solidFill>
          <a:ln cap="flat" cmpd="sng" w="9525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57"/>
          <p:cNvSpPr/>
          <p:nvPr/>
        </p:nvSpPr>
        <p:spPr>
          <a:xfrm>
            <a:off x="1737360" y="1481328"/>
            <a:ext cx="73152" cy="73152"/>
          </a:xfrm>
          <a:prstGeom prst="rect">
            <a:avLst/>
          </a:prstGeom>
          <a:solidFill>
            <a:srgbClr val="EE2A8F"/>
          </a:solidFill>
          <a:ln cap="flat" cmpd="sng" w="12700">
            <a:solidFill>
              <a:srgbClr val="EE2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57"/>
          <p:cNvSpPr/>
          <p:nvPr/>
        </p:nvSpPr>
        <p:spPr>
          <a:xfrm>
            <a:off x="1847088" y="1481328"/>
            <a:ext cx="73152" cy="73152"/>
          </a:xfrm>
          <a:prstGeom prst="rect">
            <a:avLst/>
          </a:prstGeom>
          <a:solidFill>
            <a:srgbClr val="2BC6FF"/>
          </a:solidFill>
          <a:ln cap="flat" cmpd="sng" w="12700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57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2BC6FF"/>
          </a:solidFill>
          <a:ln cap="flat" cmpd="sng" w="12700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magic icon" id="871" name="Google Shape;871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08" y="166420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872" name="Google Shape;872;p57"/>
          <p:cNvSpPr txBox="1"/>
          <p:nvPr/>
        </p:nvSpPr>
        <p:spPr>
          <a:xfrm>
            <a:off x="594360" y="2148840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C6FF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2BC6FF"/>
                </a:solidFill>
                <a:latin typeface="Arial"/>
                <a:ea typeface="Arial"/>
                <a:cs typeface="Arial"/>
                <a:sym typeface="Arial"/>
              </a:rPr>
              <a:t>QUALITY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57"/>
          <p:cNvSpPr txBox="1"/>
          <p:nvPr/>
        </p:nvSpPr>
        <p:spPr>
          <a:xfrm>
            <a:off x="594360" y="2487168"/>
            <a:ext cx="1298448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flaws that exposed forgeries disappear.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4" name="Google Shape;874;p57"/>
          <p:cNvSpPr/>
          <p:nvPr/>
        </p:nvSpPr>
        <p:spPr>
          <a:xfrm>
            <a:off x="2125980" y="1371600"/>
            <a:ext cx="1554480" cy="2194560"/>
          </a:xfrm>
          <a:prstGeom prst="roundRect">
            <a:avLst>
              <a:gd fmla="val 4706" name="adj"/>
            </a:avLst>
          </a:prstGeom>
          <a:solidFill>
            <a:srgbClr val="1C1352"/>
          </a:solidFill>
          <a:ln cap="flat" cmpd="sng" w="9525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57"/>
          <p:cNvSpPr/>
          <p:nvPr/>
        </p:nvSpPr>
        <p:spPr>
          <a:xfrm>
            <a:off x="3406140" y="1481328"/>
            <a:ext cx="73152" cy="73152"/>
          </a:xfrm>
          <a:prstGeom prst="rect">
            <a:avLst/>
          </a:prstGeom>
          <a:solidFill>
            <a:srgbClr val="EE2A8F"/>
          </a:solidFill>
          <a:ln cap="flat" cmpd="sng" w="12700">
            <a:solidFill>
              <a:srgbClr val="EE2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57"/>
          <p:cNvSpPr/>
          <p:nvPr/>
        </p:nvSpPr>
        <p:spPr>
          <a:xfrm>
            <a:off x="3515868" y="1481328"/>
            <a:ext cx="73152" cy="73152"/>
          </a:xfrm>
          <a:prstGeom prst="rect">
            <a:avLst/>
          </a:prstGeom>
          <a:solidFill>
            <a:srgbClr val="2BC6FF"/>
          </a:solidFill>
          <a:ln cap="flat" cmpd="sng" w="12700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57"/>
          <p:cNvSpPr/>
          <p:nvPr/>
        </p:nvSpPr>
        <p:spPr>
          <a:xfrm>
            <a:off x="2308860" y="1554480"/>
            <a:ext cx="457200" cy="457200"/>
          </a:xfrm>
          <a:prstGeom prst="ellipse">
            <a:avLst/>
          </a:prstGeom>
          <a:solidFill>
            <a:srgbClr val="2BC6FF"/>
          </a:solidFill>
          <a:ln cap="flat" cmpd="sng" w="12700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ollar sign icon" id="878" name="Google Shape;878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18588" y="166420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879" name="Google Shape;879;p57"/>
          <p:cNvSpPr txBox="1"/>
          <p:nvPr/>
        </p:nvSpPr>
        <p:spPr>
          <a:xfrm>
            <a:off x="2263140" y="2148840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C6FF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2BC6FF"/>
                </a:solidFill>
                <a:latin typeface="Arial"/>
                <a:ea typeface="Arial"/>
                <a:cs typeface="Arial"/>
                <a:sym typeface="Arial"/>
              </a:rPr>
              <a:t>COST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0" name="Google Shape;880;p57"/>
          <p:cNvSpPr txBox="1"/>
          <p:nvPr/>
        </p:nvSpPr>
        <p:spPr>
          <a:xfrm>
            <a:off x="2263140" y="2487168"/>
            <a:ext cx="1298448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Fake IDs sold for about $15 (OnlyFake, 2024).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p57"/>
          <p:cNvSpPr/>
          <p:nvPr/>
        </p:nvSpPr>
        <p:spPr>
          <a:xfrm>
            <a:off x="3794760" y="1371600"/>
            <a:ext cx="1554480" cy="2194560"/>
          </a:xfrm>
          <a:prstGeom prst="roundRect">
            <a:avLst>
              <a:gd fmla="val 4706" name="adj"/>
            </a:avLst>
          </a:prstGeom>
          <a:solidFill>
            <a:srgbClr val="1C1352"/>
          </a:solidFill>
          <a:ln cap="flat" cmpd="sng" w="9525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57"/>
          <p:cNvSpPr/>
          <p:nvPr/>
        </p:nvSpPr>
        <p:spPr>
          <a:xfrm>
            <a:off x="5074920" y="1481328"/>
            <a:ext cx="73152" cy="73152"/>
          </a:xfrm>
          <a:prstGeom prst="rect">
            <a:avLst/>
          </a:prstGeom>
          <a:solidFill>
            <a:srgbClr val="EE2A8F"/>
          </a:solidFill>
          <a:ln cap="flat" cmpd="sng" w="12700">
            <a:solidFill>
              <a:srgbClr val="EE2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57"/>
          <p:cNvSpPr/>
          <p:nvPr/>
        </p:nvSpPr>
        <p:spPr>
          <a:xfrm>
            <a:off x="5184648" y="1481328"/>
            <a:ext cx="73152" cy="73152"/>
          </a:xfrm>
          <a:prstGeom prst="rect">
            <a:avLst/>
          </a:prstGeom>
          <a:solidFill>
            <a:srgbClr val="2BC6FF"/>
          </a:solidFill>
          <a:ln cap="flat" cmpd="sng" w="12700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57"/>
          <p:cNvSpPr/>
          <p:nvPr/>
        </p:nvSpPr>
        <p:spPr>
          <a:xfrm>
            <a:off x="3977640" y="1554480"/>
            <a:ext cx="457200" cy="457200"/>
          </a:xfrm>
          <a:prstGeom prst="ellipse">
            <a:avLst/>
          </a:prstGeom>
          <a:solidFill>
            <a:srgbClr val="2BC6FF"/>
          </a:solidFill>
          <a:ln cap="flat" cmpd="sng" w="12700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ayer group icon" id="885" name="Google Shape;885;p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87368" y="166420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886" name="Google Shape;886;p57"/>
          <p:cNvSpPr txBox="1"/>
          <p:nvPr/>
        </p:nvSpPr>
        <p:spPr>
          <a:xfrm>
            <a:off x="3931920" y="2148840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C6FF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2BC6FF"/>
                </a:solidFill>
                <a:latin typeface="Arial"/>
                <a:ea typeface="Arial"/>
                <a:cs typeface="Arial"/>
                <a:sym typeface="Arial"/>
              </a:rPr>
              <a:t>SCALE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p57"/>
          <p:cNvSpPr txBox="1"/>
          <p:nvPr/>
        </p:nvSpPr>
        <p:spPr>
          <a:xfrm>
            <a:off x="3931920" y="2487168"/>
            <a:ext cx="1298448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Hundreds of documents from one spreadsheet.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p57"/>
          <p:cNvSpPr/>
          <p:nvPr/>
        </p:nvSpPr>
        <p:spPr>
          <a:xfrm>
            <a:off x="5463540" y="1371600"/>
            <a:ext cx="1554480" cy="2194560"/>
          </a:xfrm>
          <a:prstGeom prst="roundRect">
            <a:avLst>
              <a:gd fmla="val 4706" name="adj"/>
            </a:avLst>
          </a:prstGeom>
          <a:solidFill>
            <a:srgbClr val="1C1352"/>
          </a:solidFill>
          <a:ln cap="flat" cmpd="sng" w="9525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57"/>
          <p:cNvSpPr/>
          <p:nvPr/>
        </p:nvSpPr>
        <p:spPr>
          <a:xfrm>
            <a:off x="6743700" y="1481328"/>
            <a:ext cx="73152" cy="73152"/>
          </a:xfrm>
          <a:prstGeom prst="rect">
            <a:avLst/>
          </a:prstGeom>
          <a:solidFill>
            <a:srgbClr val="EE2A8F"/>
          </a:solidFill>
          <a:ln cap="flat" cmpd="sng" w="12700">
            <a:solidFill>
              <a:srgbClr val="EE2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57"/>
          <p:cNvSpPr/>
          <p:nvPr/>
        </p:nvSpPr>
        <p:spPr>
          <a:xfrm>
            <a:off x="6853428" y="1481328"/>
            <a:ext cx="73152" cy="73152"/>
          </a:xfrm>
          <a:prstGeom prst="rect">
            <a:avLst/>
          </a:prstGeom>
          <a:solidFill>
            <a:srgbClr val="2BC6FF"/>
          </a:solidFill>
          <a:ln cap="flat" cmpd="sng" w="12700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57"/>
          <p:cNvSpPr/>
          <p:nvPr/>
        </p:nvSpPr>
        <p:spPr>
          <a:xfrm>
            <a:off x="5646420" y="1554480"/>
            <a:ext cx="457200" cy="457200"/>
          </a:xfrm>
          <a:prstGeom prst="ellipse">
            <a:avLst/>
          </a:prstGeom>
          <a:solidFill>
            <a:srgbClr val="2BC6FF"/>
          </a:solidFill>
          <a:ln cap="flat" cmpd="sng" w="12700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video icon" id="892" name="Google Shape;892;p5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56148" y="166420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893" name="Google Shape;893;p57"/>
          <p:cNvSpPr txBox="1"/>
          <p:nvPr/>
        </p:nvSpPr>
        <p:spPr>
          <a:xfrm>
            <a:off x="5600700" y="2148840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C6FF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2BC6FF"/>
                </a:solidFill>
                <a:latin typeface="Arial"/>
                <a:ea typeface="Arial"/>
                <a:cs typeface="Arial"/>
                <a:sym typeface="Arial"/>
              </a:rPr>
              <a:t>REAL TIME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4" name="Google Shape;894;p57"/>
          <p:cNvSpPr txBox="1"/>
          <p:nvPr/>
        </p:nvSpPr>
        <p:spPr>
          <a:xfrm>
            <a:off x="5600700" y="2487168"/>
            <a:ext cx="1298448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Live face swapping on video calls.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Google Shape;895;p57"/>
          <p:cNvSpPr/>
          <p:nvPr/>
        </p:nvSpPr>
        <p:spPr>
          <a:xfrm>
            <a:off x="7132320" y="1371600"/>
            <a:ext cx="1554480" cy="2194560"/>
          </a:xfrm>
          <a:prstGeom prst="roundRect">
            <a:avLst>
              <a:gd fmla="val 4706" name="adj"/>
            </a:avLst>
          </a:prstGeom>
          <a:solidFill>
            <a:srgbClr val="1C1352"/>
          </a:solidFill>
          <a:ln cap="flat" cmpd="sng" w="9525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57"/>
          <p:cNvSpPr/>
          <p:nvPr/>
        </p:nvSpPr>
        <p:spPr>
          <a:xfrm>
            <a:off x="8412480" y="1481328"/>
            <a:ext cx="73152" cy="73152"/>
          </a:xfrm>
          <a:prstGeom prst="rect">
            <a:avLst/>
          </a:prstGeom>
          <a:solidFill>
            <a:srgbClr val="EE2A8F"/>
          </a:solidFill>
          <a:ln cap="flat" cmpd="sng" w="12700">
            <a:solidFill>
              <a:srgbClr val="EE2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57"/>
          <p:cNvSpPr/>
          <p:nvPr/>
        </p:nvSpPr>
        <p:spPr>
          <a:xfrm>
            <a:off x="8522208" y="1481328"/>
            <a:ext cx="73152" cy="73152"/>
          </a:xfrm>
          <a:prstGeom prst="rect">
            <a:avLst/>
          </a:prstGeom>
          <a:solidFill>
            <a:srgbClr val="2BC6FF"/>
          </a:solidFill>
          <a:ln cap="flat" cmpd="sng" w="12700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57"/>
          <p:cNvSpPr/>
          <p:nvPr/>
        </p:nvSpPr>
        <p:spPr>
          <a:xfrm>
            <a:off x="7315200" y="1554480"/>
            <a:ext cx="457200" cy="457200"/>
          </a:xfrm>
          <a:prstGeom prst="ellipse">
            <a:avLst/>
          </a:prstGeom>
          <a:solidFill>
            <a:srgbClr val="2BC6FF"/>
          </a:solidFill>
          <a:ln cap="flat" cmpd="sng" w="12700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yringe icon" id="899" name="Google Shape;899;p5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424928" y="166420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900" name="Google Shape;900;p57"/>
          <p:cNvSpPr txBox="1"/>
          <p:nvPr/>
        </p:nvSpPr>
        <p:spPr>
          <a:xfrm>
            <a:off x="7269480" y="2148840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C6FF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2BC6FF"/>
                </a:solidFill>
                <a:latin typeface="Arial"/>
                <a:ea typeface="Arial"/>
                <a:cs typeface="Arial"/>
                <a:sym typeface="Arial"/>
              </a:rPr>
              <a:t>INJECTION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p57"/>
          <p:cNvSpPr txBox="1"/>
          <p:nvPr/>
        </p:nvSpPr>
        <p:spPr>
          <a:xfrm>
            <a:off x="7269480" y="2487168"/>
            <a:ext cx="1298448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Fake media fed past the camera.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2" name="Google Shape;902;p57"/>
          <p:cNvSpPr/>
          <p:nvPr/>
        </p:nvSpPr>
        <p:spPr>
          <a:xfrm>
            <a:off x="457200" y="3794760"/>
            <a:ext cx="64008" cy="731520"/>
          </a:xfrm>
          <a:prstGeom prst="rect">
            <a:avLst/>
          </a:prstGeom>
          <a:solidFill>
            <a:srgbClr val="EE2A8F"/>
          </a:solidFill>
          <a:ln cap="flat" cmpd="sng" w="12700">
            <a:solidFill>
              <a:srgbClr val="EE2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57"/>
          <p:cNvSpPr txBox="1"/>
          <p:nvPr/>
        </p:nvSpPr>
        <p:spPr>
          <a:xfrm>
            <a:off x="658368" y="3794760"/>
            <a:ext cx="802843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C6FF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2BC6FF"/>
                </a:solidFill>
                <a:latin typeface="Arial"/>
                <a:ea typeface="Arial"/>
                <a:cs typeface="Arial"/>
                <a:sym typeface="Arial"/>
              </a:rPr>
              <a:t>NIST says live capture and liveness detection do not cover every case. Gartner expects 30% of enterprises to distrust identity verification used alone by 2026.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58"/>
          <p:cNvSpPr txBox="1"/>
          <p:nvPr>
            <p:ph type="title"/>
          </p:nvPr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lang="en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SIX WEAKNESSES AND </a:t>
            </a:r>
            <a:r>
              <a:rPr b="1" lang="en" sz="2400">
                <a:solidFill>
                  <a:srgbClr val="2BC6FF"/>
                </a:solidFill>
                <a:latin typeface="Arial"/>
                <a:ea typeface="Arial"/>
                <a:cs typeface="Arial"/>
                <a:sym typeface="Arial"/>
              </a:rPr>
              <a:t>REAL CASES</a:t>
            </a:r>
            <a:endParaRPr sz="2400"/>
          </a:p>
        </p:txBody>
      </p:sp>
      <p:sp>
        <p:nvSpPr>
          <p:cNvPr id="910" name="Google Shape;910;p58"/>
          <p:cNvSpPr/>
          <p:nvPr/>
        </p:nvSpPr>
        <p:spPr>
          <a:xfrm>
            <a:off x="457200" y="1097280"/>
            <a:ext cx="2651760" cy="1664208"/>
          </a:xfrm>
          <a:prstGeom prst="roundRect">
            <a:avLst>
              <a:gd fmla="val 4396" name="adj"/>
            </a:avLst>
          </a:prstGeom>
          <a:solidFill>
            <a:srgbClr val="1C1352"/>
          </a:solidFill>
          <a:ln cap="flat" cmpd="sng" w="9525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58"/>
          <p:cNvSpPr/>
          <p:nvPr/>
        </p:nvSpPr>
        <p:spPr>
          <a:xfrm>
            <a:off x="2834640" y="1207008"/>
            <a:ext cx="73152" cy="73152"/>
          </a:xfrm>
          <a:prstGeom prst="rect">
            <a:avLst/>
          </a:prstGeom>
          <a:solidFill>
            <a:srgbClr val="EE2A8F"/>
          </a:solidFill>
          <a:ln cap="flat" cmpd="sng" w="12700">
            <a:solidFill>
              <a:srgbClr val="EE2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58"/>
          <p:cNvSpPr/>
          <p:nvPr/>
        </p:nvSpPr>
        <p:spPr>
          <a:xfrm>
            <a:off x="2944368" y="1207008"/>
            <a:ext cx="73152" cy="73152"/>
          </a:xfrm>
          <a:prstGeom prst="rect">
            <a:avLst/>
          </a:prstGeom>
          <a:solidFill>
            <a:srgbClr val="2BC6FF"/>
          </a:solidFill>
          <a:ln cap="flat" cmpd="sng" w="12700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58"/>
          <p:cNvSpPr txBox="1"/>
          <p:nvPr/>
        </p:nvSpPr>
        <p:spPr>
          <a:xfrm>
            <a:off x="640080" y="1234440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C6FF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2BC6FF"/>
                </a:solidFill>
                <a:latin typeface="Arial"/>
                <a:ea typeface="Arial"/>
                <a:cs typeface="Arial"/>
                <a:sym typeface="Arial"/>
              </a:rPr>
              <a:t>Fake and synthetic identities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4" name="Google Shape;914;p58"/>
          <p:cNvSpPr txBox="1"/>
          <p:nvPr/>
        </p:nvSpPr>
        <p:spPr>
          <a:xfrm>
            <a:off x="640080" y="1719072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2A8F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EE2A8F"/>
                </a:solidFill>
                <a:latin typeface="Arial"/>
                <a:ea typeface="Arial"/>
                <a:cs typeface="Arial"/>
                <a:sym typeface="Arial"/>
              </a:rPr>
              <a:t>ATTACKS RESOLUTION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5" name="Google Shape;915;p58"/>
          <p:cNvSpPr txBox="1"/>
          <p:nvPr/>
        </p:nvSpPr>
        <p:spPr>
          <a:xfrm>
            <a:off x="640080" y="1993392"/>
            <a:ext cx="2331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Smile ID: one syndicate used 100 stolen faces for over 160,000 attacks in a month.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6" name="Google Shape;916;p58"/>
          <p:cNvSpPr/>
          <p:nvPr/>
        </p:nvSpPr>
        <p:spPr>
          <a:xfrm>
            <a:off x="3246120" y="1097280"/>
            <a:ext cx="2651760" cy="1664208"/>
          </a:xfrm>
          <a:prstGeom prst="roundRect">
            <a:avLst>
              <a:gd fmla="val 4396" name="adj"/>
            </a:avLst>
          </a:prstGeom>
          <a:solidFill>
            <a:srgbClr val="1C1352"/>
          </a:solidFill>
          <a:ln cap="flat" cmpd="sng" w="9525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p58"/>
          <p:cNvSpPr/>
          <p:nvPr/>
        </p:nvSpPr>
        <p:spPr>
          <a:xfrm>
            <a:off x="5623560" y="1207008"/>
            <a:ext cx="73152" cy="73152"/>
          </a:xfrm>
          <a:prstGeom prst="rect">
            <a:avLst/>
          </a:prstGeom>
          <a:solidFill>
            <a:srgbClr val="EE2A8F"/>
          </a:solidFill>
          <a:ln cap="flat" cmpd="sng" w="12700">
            <a:solidFill>
              <a:srgbClr val="EE2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58"/>
          <p:cNvSpPr/>
          <p:nvPr/>
        </p:nvSpPr>
        <p:spPr>
          <a:xfrm>
            <a:off x="5733288" y="1207008"/>
            <a:ext cx="73152" cy="73152"/>
          </a:xfrm>
          <a:prstGeom prst="rect">
            <a:avLst/>
          </a:prstGeom>
          <a:solidFill>
            <a:srgbClr val="2BC6FF"/>
          </a:solidFill>
          <a:ln cap="flat" cmpd="sng" w="12700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p58"/>
          <p:cNvSpPr txBox="1"/>
          <p:nvPr/>
        </p:nvSpPr>
        <p:spPr>
          <a:xfrm>
            <a:off x="3429000" y="1234440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C6FF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2BC6FF"/>
                </a:solidFill>
                <a:latin typeface="Arial"/>
                <a:ea typeface="Arial"/>
                <a:cs typeface="Arial"/>
                <a:sym typeface="Arial"/>
              </a:rPr>
              <a:t>Stolen documents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0" name="Google Shape;920;p58"/>
          <p:cNvSpPr txBox="1"/>
          <p:nvPr/>
        </p:nvSpPr>
        <p:spPr>
          <a:xfrm>
            <a:off x="3429000" y="1719072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2A8F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EE2A8F"/>
                </a:solidFill>
                <a:latin typeface="Arial"/>
                <a:ea typeface="Arial"/>
                <a:cs typeface="Arial"/>
                <a:sym typeface="Arial"/>
              </a:rPr>
              <a:t>ATTACKS VALIDATION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1" name="Google Shape;921;p58"/>
          <p:cNvSpPr txBox="1"/>
          <p:nvPr/>
        </p:nvSpPr>
        <p:spPr>
          <a:xfrm>
            <a:off x="3429000" y="1993392"/>
            <a:ext cx="2331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KnowBe4: a real person's stolen identity passed every background check.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2" name="Google Shape;922;p58"/>
          <p:cNvSpPr/>
          <p:nvPr/>
        </p:nvSpPr>
        <p:spPr>
          <a:xfrm>
            <a:off x="6035040" y="1097280"/>
            <a:ext cx="2651760" cy="1664208"/>
          </a:xfrm>
          <a:prstGeom prst="roundRect">
            <a:avLst>
              <a:gd fmla="val 4396" name="adj"/>
            </a:avLst>
          </a:prstGeom>
          <a:solidFill>
            <a:srgbClr val="1C1352"/>
          </a:solidFill>
          <a:ln cap="flat" cmpd="sng" w="9525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58"/>
          <p:cNvSpPr/>
          <p:nvPr/>
        </p:nvSpPr>
        <p:spPr>
          <a:xfrm>
            <a:off x="8412480" y="1207008"/>
            <a:ext cx="73152" cy="73152"/>
          </a:xfrm>
          <a:prstGeom prst="rect">
            <a:avLst/>
          </a:prstGeom>
          <a:solidFill>
            <a:srgbClr val="EE2A8F"/>
          </a:solidFill>
          <a:ln cap="flat" cmpd="sng" w="12700">
            <a:solidFill>
              <a:srgbClr val="EE2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58"/>
          <p:cNvSpPr/>
          <p:nvPr/>
        </p:nvSpPr>
        <p:spPr>
          <a:xfrm>
            <a:off x="8522208" y="1207008"/>
            <a:ext cx="73152" cy="73152"/>
          </a:xfrm>
          <a:prstGeom prst="rect">
            <a:avLst/>
          </a:prstGeom>
          <a:solidFill>
            <a:srgbClr val="2BC6FF"/>
          </a:solidFill>
          <a:ln cap="flat" cmpd="sng" w="12700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58"/>
          <p:cNvSpPr txBox="1"/>
          <p:nvPr/>
        </p:nvSpPr>
        <p:spPr>
          <a:xfrm>
            <a:off x="6217920" y="1234440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C6FF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2BC6FF"/>
                </a:solidFill>
                <a:latin typeface="Arial"/>
                <a:ea typeface="Arial"/>
                <a:cs typeface="Arial"/>
                <a:sym typeface="Arial"/>
              </a:rPr>
              <a:t>Deepfakes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p58"/>
          <p:cNvSpPr txBox="1"/>
          <p:nvPr/>
        </p:nvSpPr>
        <p:spPr>
          <a:xfrm>
            <a:off x="6217920" y="1719072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2A8F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EE2A8F"/>
                </a:solidFill>
                <a:latin typeface="Arial"/>
                <a:ea typeface="Arial"/>
                <a:cs typeface="Arial"/>
                <a:sym typeface="Arial"/>
              </a:rPr>
              <a:t>ATTACKS VERIFICATION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p58"/>
          <p:cNvSpPr txBox="1"/>
          <p:nvPr/>
        </p:nvSpPr>
        <p:spPr>
          <a:xfrm>
            <a:off x="6217920" y="1993392"/>
            <a:ext cx="2331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fake photo and deepfake technology were used to get hired.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p58"/>
          <p:cNvSpPr/>
          <p:nvPr/>
        </p:nvSpPr>
        <p:spPr>
          <a:xfrm>
            <a:off x="457200" y="2880360"/>
            <a:ext cx="2651760" cy="1664208"/>
          </a:xfrm>
          <a:prstGeom prst="roundRect">
            <a:avLst>
              <a:gd fmla="val 4396" name="adj"/>
            </a:avLst>
          </a:prstGeom>
          <a:solidFill>
            <a:srgbClr val="1C1352"/>
          </a:solidFill>
          <a:ln cap="flat" cmpd="sng" w="9525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p58"/>
          <p:cNvSpPr/>
          <p:nvPr/>
        </p:nvSpPr>
        <p:spPr>
          <a:xfrm>
            <a:off x="2834640" y="2990088"/>
            <a:ext cx="73152" cy="73152"/>
          </a:xfrm>
          <a:prstGeom prst="rect">
            <a:avLst/>
          </a:prstGeom>
          <a:solidFill>
            <a:srgbClr val="EE2A8F"/>
          </a:solidFill>
          <a:ln cap="flat" cmpd="sng" w="12700">
            <a:solidFill>
              <a:srgbClr val="EE2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58"/>
          <p:cNvSpPr/>
          <p:nvPr/>
        </p:nvSpPr>
        <p:spPr>
          <a:xfrm>
            <a:off x="2944368" y="2990088"/>
            <a:ext cx="73152" cy="73152"/>
          </a:xfrm>
          <a:prstGeom prst="rect">
            <a:avLst/>
          </a:prstGeom>
          <a:solidFill>
            <a:srgbClr val="2BC6FF"/>
          </a:solidFill>
          <a:ln cap="flat" cmpd="sng" w="12700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58"/>
          <p:cNvSpPr txBox="1"/>
          <p:nvPr/>
        </p:nvSpPr>
        <p:spPr>
          <a:xfrm>
            <a:off x="640080" y="3017520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C6FF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2BC6FF"/>
                </a:solidFill>
                <a:latin typeface="Arial"/>
                <a:ea typeface="Arial"/>
                <a:cs typeface="Arial"/>
                <a:sym typeface="Arial"/>
              </a:rPr>
              <a:t>AI-generated documents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" name="Google Shape;932;p58"/>
          <p:cNvSpPr txBox="1"/>
          <p:nvPr/>
        </p:nvSpPr>
        <p:spPr>
          <a:xfrm>
            <a:off x="640080" y="3502152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2A8F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EE2A8F"/>
                </a:solidFill>
                <a:latin typeface="Arial"/>
                <a:ea typeface="Arial"/>
                <a:cs typeface="Arial"/>
                <a:sym typeface="Arial"/>
              </a:rPr>
              <a:t>ATTACKS VALIDATION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p58"/>
          <p:cNvSpPr txBox="1"/>
          <p:nvPr/>
        </p:nvSpPr>
        <p:spPr>
          <a:xfrm>
            <a:off x="640080" y="3776472"/>
            <a:ext cx="2331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OnlyFake IDs passed the OKX checks.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" name="Google Shape;934;p58"/>
          <p:cNvSpPr/>
          <p:nvPr/>
        </p:nvSpPr>
        <p:spPr>
          <a:xfrm>
            <a:off x="3246120" y="2880360"/>
            <a:ext cx="2651760" cy="1664208"/>
          </a:xfrm>
          <a:prstGeom prst="roundRect">
            <a:avLst>
              <a:gd fmla="val 4396" name="adj"/>
            </a:avLst>
          </a:prstGeom>
          <a:solidFill>
            <a:srgbClr val="1C1352"/>
          </a:solidFill>
          <a:ln cap="flat" cmpd="sng" w="9525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58"/>
          <p:cNvSpPr/>
          <p:nvPr/>
        </p:nvSpPr>
        <p:spPr>
          <a:xfrm>
            <a:off x="5623560" y="2990088"/>
            <a:ext cx="73152" cy="73152"/>
          </a:xfrm>
          <a:prstGeom prst="rect">
            <a:avLst/>
          </a:prstGeom>
          <a:solidFill>
            <a:srgbClr val="EE2A8F"/>
          </a:solidFill>
          <a:ln cap="flat" cmpd="sng" w="12700">
            <a:solidFill>
              <a:srgbClr val="EE2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58"/>
          <p:cNvSpPr/>
          <p:nvPr/>
        </p:nvSpPr>
        <p:spPr>
          <a:xfrm>
            <a:off x="5733288" y="2990088"/>
            <a:ext cx="73152" cy="73152"/>
          </a:xfrm>
          <a:prstGeom prst="rect">
            <a:avLst/>
          </a:prstGeom>
          <a:solidFill>
            <a:srgbClr val="2BC6FF"/>
          </a:solidFill>
          <a:ln cap="flat" cmpd="sng" w="12700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p58"/>
          <p:cNvSpPr txBox="1"/>
          <p:nvPr/>
        </p:nvSpPr>
        <p:spPr>
          <a:xfrm>
            <a:off x="3429000" y="3017520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C6FF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2BC6FF"/>
                </a:solidFill>
                <a:latin typeface="Arial"/>
                <a:ea typeface="Arial"/>
                <a:cs typeface="Arial"/>
                <a:sym typeface="Arial"/>
              </a:rPr>
              <a:t>Social engineering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p58"/>
          <p:cNvSpPr txBox="1"/>
          <p:nvPr/>
        </p:nvSpPr>
        <p:spPr>
          <a:xfrm>
            <a:off x="3429000" y="3502152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2A8F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EE2A8F"/>
                </a:solidFill>
                <a:latin typeface="Arial"/>
                <a:ea typeface="Arial"/>
                <a:cs typeface="Arial"/>
                <a:sym typeface="Arial"/>
              </a:rPr>
              <a:t>ATTACKS HELP DESKS, RECOVERY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Google Shape;939;p58"/>
          <p:cNvSpPr txBox="1"/>
          <p:nvPr/>
        </p:nvSpPr>
        <p:spPr>
          <a:xfrm>
            <a:off x="3429000" y="3776472"/>
            <a:ext cx="2331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MGM Resorts 2023 began at the help desk.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0" name="Google Shape;940;p58"/>
          <p:cNvSpPr/>
          <p:nvPr/>
        </p:nvSpPr>
        <p:spPr>
          <a:xfrm>
            <a:off x="6035040" y="2880360"/>
            <a:ext cx="2651760" cy="1664208"/>
          </a:xfrm>
          <a:prstGeom prst="roundRect">
            <a:avLst>
              <a:gd fmla="val 4396" name="adj"/>
            </a:avLst>
          </a:prstGeom>
          <a:solidFill>
            <a:srgbClr val="1C1352"/>
          </a:solidFill>
          <a:ln cap="flat" cmpd="sng" w="9525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p58"/>
          <p:cNvSpPr/>
          <p:nvPr/>
        </p:nvSpPr>
        <p:spPr>
          <a:xfrm>
            <a:off x="8412480" y="2990088"/>
            <a:ext cx="73152" cy="73152"/>
          </a:xfrm>
          <a:prstGeom prst="rect">
            <a:avLst/>
          </a:prstGeom>
          <a:solidFill>
            <a:srgbClr val="EE2A8F"/>
          </a:solidFill>
          <a:ln cap="flat" cmpd="sng" w="12700">
            <a:solidFill>
              <a:srgbClr val="EE2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p58"/>
          <p:cNvSpPr/>
          <p:nvPr/>
        </p:nvSpPr>
        <p:spPr>
          <a:xfrm>
            <a:off x="8522208" y="2990088"/>
            <a:ext cx="73152" cy="73152"/>
          </a:xfrm>
          <a:prstGeom prst="rect">
            <a:avLst/>
          </a:prstGeom>
          <a:solidFill>
            <a:srgbClr val="2BC6FF"/>
          </a:solidFill>
          <a:ln cap="flat" cmpd="sng" w="12700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58"/>
          <p:cNvSpPr txBox="1"/>
          <p:nvPr/>
        </p:nvSpPr>
        <p:spPr>
          <a:xfrm>
            <a:off x="6217920" y="3017520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C6FF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2BC6FF"/>
                </a:solidFill>
                <a:latin typeface="Arial"/>
                <a:ea typeface="Arial"/>
                <a:cs typeface="Arial"/>
                <a:sym typeface="Arial"/>
              </a:rPr>
              <a:t>Weak verification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p58"/>
          <p:cNvSpPr txBox="1"/>
          <p:nvPr/>
        </p:nvSpPr>
        <p:spPr>
          <a:xfrm>
            <a:off x="6217920" y="3502152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2A8F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EE2A8F"/>
                </a:solidFill>
                <a:latin typeface="Arial"/>
                <a:ea typeface="Arial"/>
                <a:cs typeface="Arial"/>
                <a:sym typeface="Arial"/>
              </a:rPr>
              <a:t>ATTACKS VERIFICATION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p58"/>
          <p:cNvSpPr txBox="1"/>
          <p:nvPr/>
        </p:nvSpPr>
        <p:spPr>
          <a:xfrm>
            <a:off x="6217920" y="3776472"/>
            <a:ext cx="2331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SIMs registered under other people's IDs in Kenya.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59"/>
          <p:cNvSpPr txBox="1"/>
          <p:nvPr>
            <p:ph type="title"/>
          </p:nvPr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lang="en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CASE STUDY: KNOWBE4 HIRES</a:t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BC6FF"/>
              </a:buClr>
              <a:buSzPts val="2200"/>
              <a:buFont typeface="Arial"/>
              <a:buNone/>
            </a:pPr>
            <a:r>
              <a:rPr b="1" lang="en" sz="2200">
                <a:solidFill>
                  <a:srgbClr val="2BC6FF"/>
                </a:solidFill>
                <a:latin typeface="Arial"/>
                <a:ea typeface="Arial"/>
                <a:cs typeface="Arial"/>
                <a:sym typeface="Arial"/>
              </a:rPr>
              <a:t>A FAKE ENGINEER (2024)</a:t>
            </a:r>
            <a:endParaRPr sz="2400"/>
          </a:p>
        </p:txBody>
      </p:sp>
      <p:cxnSp>
        <p:nvCxnSpPr>
          <p:cNvPr id="952" name="Google Shape;952;p59"/>
          <p:cNvCxnSpPr/>
          <p:nvPr/>
        </p:nvCxnSpPr>
        <p:spPr>
          <a:xfrm>
            <a:off x="822960" y="1618488"/>
            <a:ext cx="7498080" cy="0"/>
          </a:xfrm>
          <a:prstGeom prst="straightConnector1">
            <a:avLst/>
          </a:prstGeom>
          <a:noFill/>
          <a:ln cap="flat" cmpd="sng" w="19050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3" name="Google Shape;953;p59"/>
          <p:cNvSpPr/>
          <p:nvPr/>
        </p:nvSpPr>
        <p:spPr>
          <a:xfrm>
            <a:off x="1005840" y="1371600"/>
            <a:ext cx="457200" cy="457200"/>
          </a:xfrm>
          <a:prstGeom prst="ellipse">
            <a:avLst/>
          </a:prstGeom>
          <a:solidFill>
            <a:srgbClr val="EE2A8F"/>
          </a:solidFill>
          <a:ln cap="flat" cmpd="sng" w="12700">
            <a:solidFill>
              <a:srgbClr val="EE2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59"/>
          <p:cNvSpPr txBox="1"/>
          <p:nvPr/>
        </p:nvSpPr>
        <p:spPr>
          <a:xfrm>
            <a:off x="1005840" y="1371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5" name="Google Shape;955;p59"/>
          <p:cNvSpPr/>
          <p:nvPr/>
        </p:nvSpPr>
        <p:spPr>
          <a:xfrm>
            <a:off x="457200" y="1965960"/>
            <a:ext cx="1554480" cy="1600200"/>
          </a:xfrm>
          <a:prstGeom prst="roundRect">
            <a:avLst>
              <a:gd fmla="val 4706" name="adj"/>
            </a:avLst>
          </a:prstGeom>
          <a:solidFill>
            <a:srgbClr val="1C1352"/>
          </a:solidFill>
          <a:ln cap="flat" cmpd="sng" w="9525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59"/>
          <p:cNvSpPr/>
          <p:nvPr/>
        </p:nvSpPr>
        <p:spPr>
          <a:xfrm>
            <a:off x="1737360" y="2075688"/>
            <a:ext cx="73152" cy="73152"/>
          </a:xfrm>
          <a:prstGeom prst="rect">
            <a:avLst/>
          </a:prstGeom>
          <a:solidFill>
            <a:srgbClr val="EE2A8F"/>
          </a:solidFill>
          <a:ln cap="flat" cmpd="sng" w="12700">
            <a:solidFill>
              <a:srgbClr val="EE2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59"/>
          <p:cNvSpPr/>
          <p:nvPr/>
        </p:nvSpPr>
        <p:spPr>
          <a:xfrm>
            <a:off x="1847088" y="2075688"/>
            <a:ext cx="73152" cy="73152"/>
          </a:xfrm>
          <a:prstGeom prst="rect">
            <a:avLst/>
          </a:prstGeom>
          <a:solidFill>
            <a:srgbClr val="2BC6FF"/>
          </a:solidFill>
          <a:ln cap="flat" cmpd="sng" w="12700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59"/>
          <p:cNvSpPr txBox="1"/>
          <p:nvPr/>
        </p:nvSpPr>
        <p:spPr>
          <a:xfrm>
            <a:off x="594360" y="21031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C6FF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2BC6FF"/>
                </a:solidFill>
                <a:latin typeface="Arial"/>
                <a:ea typeface="Arial"/>
                <a:cs typeface="Arial"/>
                <a:sym typeface="Arial"/>
              </a:rPr>
              <a:t>APPLY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9" name="Google Shape;959;p59"/>
          <p:cNvSpPr txBox="1"/>
          <p:nvPr/>
        </p:nvSpPr>
        <p:spPr>
          <a:xfrm>
            <a:off x="594360" y="2450592"/>
            <a:ext cx="129844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0" i="0" lang="en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Real stolen US identity. AI-enhanced stock photo.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0" name="Google Shape;960;p59"/>
          <p:cNvSpPr/>
          <p:nvPr/>
        </p:nvSpPr>
        <p:spPr>
          <a:xfrm>
            <a:off x="2674620" y="1371600"/>
            <a:ext cx="457200" cy="457200"/>
          </a:xfrm>
          <a:prstGeom prst="ellipse">
            <a:avLst/>
          </a:prstGeom>
          <a:solidFill>
            <a:srgbClr val="EE2A8F"/>
          </a:solidFill>
          <a:ln cap="flat" cmpd="sng" w="12700">
            <a:solidFill>
              <a:srgbClr val="EE2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59"/>
          <p:cNvSpPr txBox="1"/>
          <p:nvPr/>
        </p:nvSpPr>
        <p:spPr>
          <a:xfrm>
            <a:off x="2674620" y="1371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2" name="Google Shape;962;p59"/>
          <p:cNvSpPr/>
          <p:nvPr/>
        </p:nvSpPr>
        <p:spPr>
          <a:xfrm>
            <a:off x="2125980" y="1965960"/>
            <a:ext cx="1554480" cy="1600200"/>
          </a:xfrm>
          <a:prstGeom prst="roundRect">
            <a:avLst>
              <a:gd fmla="val 4706" name="adj"/>
            </a:avLst>
          </a:prstGeom>
          <a:solidFill>
            <a:srgbClr val="1C1352"/>
          </a:solidFill>
          <a:ln cap="flat" cmpd="sng" w="9525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59"/>
          <p:cNvSpPr/>
          <p:nvPr/>
        </p:nvSpPr>
        <p:spPr>
          <a:xfrm>
            <a:off x="3406140" y="2075688"/>
            <a:ext cx="73152" cy="73152"/>
          </a:xfrm>
          <a:prstGeom prst="rect">
            <a:avLst/>
          </a:prstGeom>
          <a:solidFill>
            <a:srgbClr val="EE2A8F"/>
          </a:solidFill>
          <a:ln cap="flat" cmpd="sng" w="12700">
            <a:solidFill>
              <a:srgbClr val="EE2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4" name="Google Shape;964;p59"/>
          <p:cNvSpPr/>
          <p:nvPr/>
        </p:nvSpPr>
        <p:spPr>
          <a:xfrm>
            <a:off x="3515868" y="2075688"/>
            <a:ext cx="73152" cy="73152"/>
          </a:xfrm>
          <a:prstGeom prst="rect">
            <a:avLst/>
          </a:prstGeom>
          <a:solidFill>
            <a:srgbClr val="2BC6FF"/>
          </a:solidFill>
          <a:ln cap="flat" cmpd="sng" w="12700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59"/>
          <p:cNvSpPr txBox="1"/>
          <p:nvPr/>
        </p:nvSpPr>
        <p:spPr>
          <a:xfrm>
            <a:off x="2263140" y="21031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C6FF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2BC6FF"/>
                </a:solidFill>
                <a:latin typeface="Arial"/>
                <a:ea typeface="Arial"/>
                <a:cs typeface="Arial"/>
                <a:sym typeface="Arial"/>
              </a:rPr>
              <a:t>INTERVIEW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p59"/>
          <p:cNvSpPr txBox="1"/>
          <p:nvPr/>
        </p:nvSpPr>
        <p:spPr>
          <a:xfrm>
            <a:off x="2263140" y="2450592"/>
            <a:ext cx="129844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0" i="0" lang="en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Four video interviews match the photo.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7" name="Google Shape;967;p59"/>
          <p:cNvSpPr/>
          <p:nvPr/>
        </p:nvSpPr>
        <p:spPr>
          <a:xfrm>
            <a:off x="4343400" y="1371600"/>
            <a:ext cx="457200" cy="457200"/>
          </a:xfrm>
          <a:prstGeom prst="ellipse">
            <a:avLst/>
          </a:prstGeom>
          <a:solidFill>
            <a:srgbClr val="EE2A8F"/>
          </a:solidFill>
          <a:ln cap="flat" cmpd="sng" w="12700">
            <a:solidFill>
              <a:srgbClr val="EE2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59"/>
          <p:cNvSpPr txBox="1"/>
          <p:nvPr/>
        </p:nvSpPr>
        <p:spPr>
          <a:xfrm>
            <a:off x="4343400" y="1371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Google Shape;969;p59"/>
          <p:cNvSpPr/>
          <p:nvPr/>
        </p:nvSpPr>
        <p:spPr>
          <a:xfrm>
            <a:off x="3794760" y="1965960"/>
            <a:ext cx="1554480" cy="1600200"/>
          </a:xfrm>
          <a:prstGeom prst="roundRect">
            <a:avLst>
              <a:gd fmla="val 4706" name="adj"/>
            </a:avLst>
          </a:prstGeom>
          <a:solidFill>
            <a:srgbClr val="1C1352"/>
          </a:solidFill>
          <a:ln cap="flat" cmpd="sng" w="9525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59"/>
          <p:cNvSpPr/>
          <p:nvPr/>
        </p:nvSpPr>
        <p:spPr>
          <a:xfrm>
            <a:off x="5074920" y="2075688"/>
            <a:ext cx="73152" cy="73152"/>
          </a:xfrm>
          <a:prstGeom prst="rect">
            <a:avLst/>
          </a:prstGeom>
          <a:solidFill>
            <a:srgbClr val="EE2A8F"/>
          </a:solidFill>
          <a:ln cap="flat" cmpd="sng" w="12700">
            <a:solidFill>
              <a:srgbClr val="EE2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59"/>
          <p:cNvSpPr/>
          <p:nvPr/>
        </p:nvSpPr>
        <p:spPr>
          <a:xfrm>
            <a:off x="5184648" y="2075688"/>
            <a:ext cx="73152" cy="73152"/>
          </a:xfrm>
          <a:prstGeom prst="rect">
            <a:avLst/>
          </a:prstGeom>
          <a:solidFill>
            <a:srgbClr val="2BC6FF"/>
          </a:solidFill>
          <a:ln cap="flat" cmpd="sng" w="12700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59"/>
          <p:cNvSpPr txBox="1"/>
          <p:nvPr/>
        </p:nvSpPr>
        <p:spPr>
          <a:xfrm>
            <a:off x="3931920" y="21031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C6FF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2BC6FF"/>
                </a:solidFill>
                <a:latin typeface="Arial"/>
                <a:ea typeface="Arial"/>
                <a:cs typeface="Arial"/>
                <a:sym typeface="Arial"/>
              </a:rPr>
              <a:t>CHECKS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3" name="Google Shape;973;p59"/>
          <p:cNvSpPr txBox="1"/>
          <p:nvPr/>
        </p:nvSpPr>
        <p:spPr>
          <a:xfrm>
            <a:off x="3931920" y="2450592"/>
            <a:ext cx="129844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0" i="0" lang="en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Background and reference checks pass.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4" name="Google Shape;974;p59"/>
          <p:cNvSpPr/>
          <p:nvPr/>
        </p:nvSpPr>
        <p:spPr>
          <a:xfrm>
            <a:off x="6012180" y="1371600"/>
            <a:ext cx="457200" cy="457200"/>
          </a:xfrm>
          <a:prstGeom prst="ellipse">
            <a:avLst/>
          </a:prstGeom>
          <a:solidFill>
            <a:srgbClr val="EE2A8F"/>
          </a:solidFill>
          <a:ln cap="flat" cmpd="sng" w="12700">
            <a:solidFill>
              <a:srgbClr val="EE2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59"/>
          <p:cNvSpPr txBox="1"/>
          <p:nvPr/>
        </p:nvSpPr>
        <p:spPr>
          <a:xfrm>
            <a:off x="6012180" y="1371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6" name="Google Shape;976;p59"/>
          <p:cNvSpPr/>
          <p:nvPr/>
        </p:nvSpPr>
        <p:spPr>
          <a:xfrm>
            <a:off x="5463540" y="1965960"/>
            <a:ext cx="1554480" cy="1600200"/>
          </a:xfrm>
          <a:prstGeom prst="roundRect">
            <a:avLst>
              <a:gd fmla="val 4706" name="adj"/>
            </a:avLst>
          </a:prstGeom>
          <a:solidFill>
            <a:srgbClr val="1C1352"/>
          </a:solidFill>
          <a:ln cap="flat" cmpd="sng" w="9525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59"/>
          <p:cNvSpPr/>
          <p:nvPr/>
        </p:nvSpPr>
        <p:spPr>
          <a:xfrm>
            <a:off x="6743700" y="2075688"/>
            <a:ext cx="73152" cy="73152"/>
          </a:xfrm>
          <a:prstGeom prst="rect">
            <a:avLst/>
          </a:prstGeom>
          <a:solidFill>
            <a:srgbClr val="EE2A8F"/>
          </a:solidFill>
          <a:ln cap="flat" cmpd="sng" w="12700">
            <a:solidFill>
              <a:srgbClr val="EE2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59"/>
          <p:cNvSpPr/>
          <p:nvPr/>
        </p:nvSpPr>
        <p:spPr>
          <a:xfrm>
            <a:off x="6853428" y="2075688"/>
            <a:ext cx="73152" cy="73152"/>
          </a:xfrm>
          <a:prstGeom prst="rect">
            <a:avLst/>
          </a:prstGeom>
          <a:solidFill>
            <a:srgbClr val="2BC6FF"/>
          </a:solidFill>
          <a:ln cap="flat" cmpd="sng" w="12700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p59"/>
          <p:cNvSpPr txBox="1"/>
          <p:nvPr/>
        </p:nvSpPr>
        <p:spPr>
          <a:xfrm>
            <a:off x="5600700" y="21031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C6FF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2BC6FF"/>
                </a:solidFill>
                <a:latin typeface="Arial"/>
                <a:ea typeface="Arial"/>
                <a:cs typeface="Arial"/>
                <a:sym typeface="Arial"/>
              </a:rPr>
              <a:t>HIRE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0" name="Google Shape;980;p59"/>
          <p:cNvSpPr txBox="1"/>
          <p:nvPr/>
        </p:nvSpPr>
        <p:spPr>
          <a:xfrm>
            <a:off x="5600700" y="2450592"/>
            <a:ext cx="129844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0" i="0" lang="en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Laptop shipped to a US laptop farm.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1" name="Google Shape;981;p59"/>
          <p:cNvSpPr/>
          <p:nvPr/>
        </p:nvSpPr>
        <p:spPr>
          <a:xfrm>
            <a:off x="7680960" y="1371600"/>
            <a:ext cx="457200" cy="457200"/>
          </a:xfrm>
          <a:prstGeom prst="ellipse">
            <a:avLst/>
          </a:prstGeom>
          <a:solidFill>
            <a:srgbClr val="2BC6FF"/>
          </a:solidFill>
          <a:ln cap="flat" cmpd="sng" w="12700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p59"/>
          <p:cNvSpPr txBox="1"/>
          <p:nvPr/>
        </p:nvSpPr>
        <p:spPr>
          <a:xfrm>
            <a:off x="7680960" y="1371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0A2E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B0A2E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3" name="Google Shape;983;p59"/>
          <p:cNvSpPr/>
          <p:nvPr/>
        </p:nvSpPr>
        <p:spPr>
          <a:xfrm>
            <a:off x="7132320" y="1965960"/>
            <a:ext cx="1554480" cy="1600200"/>
          </a:xfrm>
          <a:prstGeom prst="roundRect">
            <a:avLst>
              <a:gd fmla="val 4706" name="adj"/>
            </a:avLst>
          </a:prstGeom>
          <a:solidFill>
            <a:srgbClr val="1C1352"/>
          </a:solidFill>
          <a:ln cap="flat" cmpd="sng" w="9525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p59"/>
          <p:cNvSpPr/>
          <p:nvPr/>
        </p:nvSpPr>
        <p:spPr>
          <a:xfrm>
            <a:off x="8412480" y="2075688"/>
            <a:ext cx="73152" cy="73152"/>
          </a:xfrm>
          <a:prstGeom prst="rect">
            <a:avLst/>
          </a:prstGeom>
          <a:solidFill>
            <a:srgbClr val="EE2A8F"/>
          </a:solidFill>
          <a:ln cap="flat" cmpd="sng" w="12700">
            <a:solidFill>
              <a:srgbClr val="EE2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5" name="Google Shape;985;p59"/>
          <p:cNvSpPr/>
          <p:nvPr/>
        </p:nvSpPr>
        <p:spPr>
          <a:xfrm>
            <a:off x="8522208" y="2075688"/>
            <a:ext cx="73152" cy="73152"/>
          </a:xfrm>
          <a:prstGeom prst="rect">
            <a:avLst/>
          </a:prstGeom>
          <a:solidFill>
            <a:srgbClr val="2BC6FF"/>
          </a:solidFill>
          <a:ln cap="flat" cmpd="sng" w="12700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6" name="Google Shape;986;p59"/>
          <p:cNvSpPr txBox="1"/>
          <p:nvPr/>
        </p:nvSpPr>
        <p:spPr>
          <a:xfrm>
            <a:off x="7269480" y="21031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C6FF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2BC6FF"/>
                </a:solidFill>
                <a:latin typeface="Arial"/>
                <a:ea typeface="Arial"/>
                <a:cs typeface="Arial"/>
                <a:sym typeface="Arial"/>
              </a:rPr>
              <a:t>DETECT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7" name="Google Shape;987;p59"/>
          <p:cNvSpPr txBox="1"/>
          <p:nvPr/>
        </p:nvSpPr>
        <p:spPr>
          <a:xfrm>
            <a:off x="7269480" y="2450592"/>
            <a:ext cx="129844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0" i="0" lang="en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Endpoint alert on 15 July 2024.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8" name="Google Shape;988;p59"/>
          <p:cNvSpPr/>
          <p:nvPr/>
        </p:nvSpPr>
        <p:spPr>
          <a:xfrm>
            <a:off x="457200" y="3749040"/>
            <a:ext cx="8229600" cy="960120"/>
          </a:xfrm>
          <a:prstGeom prst="roundRect">
            <a:avLst>
              <a:gd fmla="val 7619" name="adj"/>
            </a:avLst>
          </a:prstGeom>
          <a:solidFill>
            <a:srgbClr val="1C1352"/>
          </a:solidFill>
          <a:ln cap="flat" cmpd="sng" w="9525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p59"/>
          <p:cNvSpPr/>
          <p:nvPr/>
        </p:nvSpPr>
        <p:spPr>
          <a:xfrm>
            <a:off x="8412480" y="3858768"/>
            <a:ext cx="73152" cy="73152"/>
          </a:xfrm>
          <a:prstGeom prst="rect">
            <a:avLst/>
          </a:prstGeom>
          <a:solidFill>
            <a:srgbClr val="EE2A8F"/>
          </a:solidFill>
          <a:ln cap="flat" cmpd="sng" w="12700">
            <a:solidFill>
              <a:srgbClr val="EE2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p59"/>
          <p:cNvSpPr/>
          <p:nvPr/>
        </p:nvSpPr>
        <p:spPr>
          <a:xfrm>
            <a:off x="8522208" y="3858768"/>
            <a:ext cx="73152" cy="73152"/>
          </a:xfrm>
          <a:prstGeom prst="rect">
            <a:avLst/>
          </a:prstGeom>
          <a:solidFill>
            <a:srgbClr val="2BC6FF"/>
          </a:solidFill>
          <a:ln cap="flat" cmpd="sng" w="12700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1" name="Google Shape;991;p59"/>
          <p:cNvSpPr txBox="1"/>
          <p:nvPr/>
        </p:nvSpPr>
        <p:spPr>
          <a:xfrm>
            <a:off x="640080" y="384048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C6FF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2BC6FF"/>
                </a:solidFill>
                <a:latin typeface="Arial"/>
                <a:ea typeface="Arial"/>
                <a:cs typeface="Arial"/>
                <a:sym typeface="Arial"/>
              </a:rPr>
              <a:t>WHAT WENT WRONG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2" name="Google Shape;992;p59"/>
          <p:cNvSpPr txBox="1"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Resolution and validation passed because the identity was real. Verification only matched a face to a photo the attacker supplied. No data was lost.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60"/>
          <p:cNvSpPr txBox="1"/>
          <p:nvPr>
            <p:ph type="title"/>
          </p:nvPr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lang="en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EVIDENCE FROM </a:t>
            </a:r>
            <a:r>
              <a:rPr b="1" lang="en" sz="2400">
                <a:solidFill>
                  <a:srgbClr val="2BC6FF"/>
                </a:solidFill>
                <a:latin typeface="Arial"/>
                <a:ea typeface="Arial"/>
                <a:cs typeface="Arial"/>
                <a:sym typeface="Arial"/>
              </a:rPr>
              <a:t>AFRICA AND KENYA</a:t>
            </a:r>
            <a:endParaRPr sz="2400"/>
          </a:p>
        </p:txBody>
      </p:sp>
      <p:sp>
        <p:nvSpPr>
          <p:cNvPr id="999" name="Google Shape;999;p60"/>
          <p:cNvSpPr/>
          <p:nvPr/>
        </p:nvSpPr>
        <p:spPr>
          <a:xfrm>
            <a:off x="457200" y="1097280"/>
            <a:ext cx="4023360" cy="3108960"/>
          </a:xfrm>
          <a:prstGeom prst="roundRect">
            <a:avLst>
              <a:gd fmla="val 2353" name="adj"/>
            </a:avLst>
          </a:prstGeom>
          <a:solidFill>
            <a:srgbClr val="1C1352"/>
          </a:solidFill>
          <a:ln cap="flat" cmpd="sng" w="9525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60"/>
          <p:cNvSpPr/>
          <p:nvPr/>
        </p:nvSpPr>
        <p:spPr>
          <a:xfrm>
            <a:off x="4206240" y="1207008"/>
            <a:ext cx="73152" cy="73152"/>
          </a:xfrm>
          <a:prstGeom prst="rect">
            <a:avLst/>
          </a:prstGeom>
          <a:solidFill>
            <a:srgbClr val="EE2A8F"/>
          </a:solidFill>
          <a:ln cap="flat" cmpd="sng" w="12700">
            <a:solidFill>
              <a:srgbClr val="EE2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60"/>
          <p:cNvSpPr/>
          <p:nvPr/>
        </p:nvSpPr>
        <p:spPr>
          <a:xfrm>
            <a:off x="4315968" y="1207008"/>
            <a:ext cx="73152" cy="73152"/>
          </a:xfrm>
          <a:prstGeom prst="rect">
            <a:avLst/>
          </a:prstGeom>
          <a:solidFill>
            <a:srgbClr val="2BC6FF"/>
          </a:solidFill>
          <a:ln cap="flat" cmpd="sng" w="12700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60"/>
          <p:cNvSpPr/>
          <p:nvPr/>
        </p:nvSpPr>
        <p:spPr>
          <a:xfrm>
            <a:off x="640080" y="1234440"/>
            <a:ext cx="411480" cy="411480"/>
          </a:xfrm>
          <a:prstGeom prst="ellipse">
            <a:avLst/>
          </a:prstGeom>
          <a:solidFill>
            <a:srgbClr val="2BC6FF"/>
          </a:solidFill>
          <a:ln cap="flat" cmpd="sng" w="12700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lobe africa icon" id="1003" name="Google Shape;1003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8835" y="1333195"/>
            <a:ext cx="213970" cy="213970"/>
          </a:xfrm>
          <a:prstGeom prst="rect">
            <a:avLst/>
          </a:prstGeom>
          <a:noFill/>
          <a:ln>
            <a:noFill/>
          </a:ln>
        </p:spPr>
      </p:pic>
      <p:sp>
        <p:nvSpPr>
          <p:cNvPr id="1004" name="Google Shape;1004;p60"/>
          <p:cNvSpPr txBox="1"/>
          <p:nvPr/>
        </p:nvSpPr>
        <p:spPr>
          <a:xfrm>
            <a:off x="1188720" y="1234440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C6FF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2BC6FF"/>
                </a:solidFill>
                <a:latin typeface="Arial"/>
                <a:ea typeface="Arial"/>
                <a:cs typeface="Arial"/>
                <a:sym typeface="Arial"/>
              </a:rPr>
              <a:t>AFRICA (Smile ID, vendor data)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5" name="Google Shape;1005;p60"/>
          <p:cNvSpPr txBox="1"/>
          <p:nvPr/>
        </p:nvSpPr>
        <p:spPr>
          <a:xfrm>
            <a:off x="640080" y="173736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2A8F"/>
              </a:buClr>
              <a:buSzPts val="3200"/>
              <a:buFont typeface="Arial"/>
              <a:buNone/>
            </a:pPr>
            <a:r>
              <a:rPr b="1" i="0" lang="en" sz="3200" u="none" cap="none" strike="noStrike">
                <a:solidFill>
                  <a:srgbClr val="EE2A8F"/>
                </a:solidFill>
                <a:latin typeface="Arial"/>
                <a:ea typeface="Arial"/>
                <a:cs typeface="Arial"/>
                <a:sym typeface="Arial"/>
              </a:rPr>
              <a:t>69%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6" name="Google Shape;1006;p60"/>
          <p:cNvSpPr txBox="1"/>
          <p:nvPr/>
        </p:nvSpPr>
        <p:spPr>
          <a:xfrm>
            <a:off x="640080" y="226771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of confirmed biometric fraud cases in 2025 were driven by AI manipulation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7" name="Google Shape;1007;p60"/>
          <p:cNvSpPr txBox="1"/>
          <p:nvPr/>
        </p:nvSpPr>
        <p:spPr>
          <a:xfrm>
            <a:off x="640080" y="2697480"/>
            <a:ext cx="3657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Generative AI was behind over a third of new biometric fraud cases in 2024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Authentication fraud was 5 times onboarding fraud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8" name="Google Shape;1008;p60"/>
          <p:cNvSpPr/>
          <p:nvPr/>
        </p:nvSpPr>
        <p:spPr>
          <a:xfrm>
            <a:off x="4663440" y="1097280"/>
            <a:ext cx="4023360" cy="3108960"/>
          </a:xfrm>
          <a:prstGeom prst="roundRect">
            <a:avLst>
              <a:gd fmla="val 2353" name="adj"/>
            </a:avLst>
          </a:prstGeom>
          <a:solidFill>
            <a:srgbClr val="1C1352"/>
          </a:solidFill>
          <a:ln cap="flat" cmpd="sng" w="9525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p60"/>
          <p:cNvSpPr/>
          <p:nvPr/>
        </p:nvSpPr>
        <p:spPr>
          <a:xfrm>
            <a:off x="8412480" y="1207008"/>
            <a:ext cx="73152" cy="73152"/>
          </a:xfrm>
          <a:prstGeom prst="rect">
            <a:avLst/>
          </a:prstGeom>
          <a:solidFill>
            <a:srgbClr val="EE2A8F"/>
          </a:solidFill>
          <a:ln cap="flat" cmpd="sng" w="12700">
            <a:solidFill>
              <a:srgbClr val="EE2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0" name="Google Shape;1010;p60"/>
          <p:cNvSpPr/>
          <p:nvPr/>
        </p:nvSpPr>
        <p:spPr>
          <a:xfrm>
            <a:off x="8522208" y="1207008"/>
            <a:ext cx="73152" cy="73152"/>
          </a:xfrm>
          <a:prstGeom prst="rect">
            <a:avLst/>
          </a:prstGeom>
          <a:solidFill>
            <a:srgbClr val="2BC6FF"/>
          </a:solidFill>
          <a:ln cap="flat" cmpd="sng" w="12700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60"/>
          <p:cNvSpPr/>
          <p:nvPr/>
        </p:nvSpPr>
        <p:spPr>
          <a:xfrm>
            <a:off x="4846320" y="1234440"/>
            <a:ext cx="411480" cy="411480"/>
          </a:xfrm>
          <a:prstGeom prst="ellipse">
            <a:avLst/>
          </a:prstGeom>
          <a:solidFill>
            <a:srgbClr val="2BC6FF"/>
          </a:solidFill>
          <a:ln cap="flat" cmpd="sng" w="12700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mobile alt icon" id="1012" name="Google Shape;1012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45075" y="1333195"/>
            <a:ext cx="213970" cy="213970"/>
          </a:xfrm>
          <a:prstGeom prst="rect">
            <a:avLst/>
          </a:prstGeom>
          <a:noFill/>
          <a:ln>
            <a:noFill/>
          </a:ln>
        </p:spPr>
      </p:pic>
      <p:sp>
        <p:nvSpPr>
          <p:cNvPr id="1013" name="Google Shape;1013;p60"/>
          <p:cNvSpPr txBox="1"/>
          <p:nvPr/>
        </p:nvSpPr>
        <p:spPr>
          <a:xfrm>
            <a:off x="5394960" y="1234440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C6FF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2BC6FF"/>
                </a:solidFill>
                <a:latin typeface="Arial"/>
                <a:ea typeface="Arial"/>
                <a:cs typeface="Arial"/>
                <a:sym typeface="Arial"/>
              </a:rPr>
              <a:t>KENYA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4" name="Google Shape;1014;p60"/>
          <p:cNvSpPr txBox="1"/>
          <p:nvPr/>
        </p:nvSpPr>
        <p:spPr>
          <a:xfrm>
            <a:off x="4846320" y="173736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2A8F"/>
              </a:buClr>
              <a:buSzPts val="3200"/>
              <a:buFont typeface="Arial"/>
              <a:buNone/>
            </a:pPr>
            <a:r>
              <a:rPr b="1" i="0" lang="en" sz="3200" u="none" cap="none" strike="noStrike">
                <a:solidFill>
                  <a:srgbClr val="EE2A8F"/>
                </a:solidFill>
                <a:latin typeface="Arial"/>
                <a:ea typeface="Arial"/>
                <a:cs typeface="Arial"/>
                <a:sym typeface="Arial"/>
              </a:rPr>
              <a:t>Sh491.6M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5" name="Google Shape;1015;p60"/>
          <p:cNvSpPr txBox="1"/>
          <p:nvPr/>
        </p:nvSpPr>
        <p:spPr>
          <a:xfrm>
            <a:off x="4846320" y="226771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lost to SIM swap fraud in 2025 (Interpol estimate)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Google Shape;1016;p60"/>
          <p:cNvSpPr txBox="1"/>
          <p:nvPr/>
        </p:nvSpPr>
        <p:spPr>
          <a:xfrm>
            <a:off x="4846320" y="2697480"/>
            <a:ext cx="3657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Communications Authority fraud complaints rose from 47 to 86 between quarters in 2026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SIM registration is the enrollment step for mobile money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Authority plans an ID-to-SIM checker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" name="Google Shape;1017;p60"/>
          <p:cNvSpPr/>
          <p:nvPr/>
        </p:nvSpPr>
        <p:spPr>
          <a:xfrm>
            <a:off x="457200" y="4343400"/>
            <a:ext cx="64008" cy="384048"/>
          </a:xfrm>
          <a:prstGeom prst="rect">
            <a:avLst/>
          </a:prstGeom>
          <a:solidFill>
            <a:srgbClr val="EE2A8F"/>
          </a:solidFill>
          <a:ln cap="flat" cmpd="sng" w="12700">
            <a:solidFill>
              <a:srgbClr val="EE2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60"/>
          <p:cNvSpPr txBox="1"/>
          <p:nvPr/>
        </p:nvSpPr>
        <p:spPr>
          <a:xfrm>
            <a:off x="658368" y="4343400"/>
            <a:ext cx="80284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C6FF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2BC6FF"/>
                </a:solidFill>
                <a:latin typeface="Arial"/>
                <a:ea typeface="Arial"/>
                <a:cs typeface="Arial"/>
                <a:sym typeface="Arial"/>
              </a:rPr>
              <a:t>Kenyan cases show weak enrollment verification, not proven AI use.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61"/>
          <p:cNvSpPr txBox="1"/>
          <p:nvPr>
            <p:ph type="title"/>
          </p:nvPr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lang="en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DEFENDING </a:t>
            </a:r>
            <a:r>
              <a:rPr b="1" lang="en" sz="2400">
                <a:solidFill>
                  <a:srgbClr val="2BC6FF"/>
                </a:solidFill>
                <a:latin typeface="Arial"/>
                <a:ea typeface="Arial"/>
                <a:cs typeface="Arial"/>
                <a:sym typeface="Arial"/>
              </a:rPr>
              <a:t>ENROLLMENT</a:t>
            </a:r>
            <a:endParaRPr sz="2400"/>
          </a:p>
        </p:txBody>
      </p:sp>
      <p:sp>
        <p:nvSpPr>
          <p:cNvPr id="1025" name="Google Shape;1025;p61"/>
          <p:cNvSpPr/>
          <p:nvPr/>
        </p:nvSpPr>
        <p:spPr>
          <a:xfrm>
            <a:off x="457200" y="1097280"/>
            <a:ext cx="2651760" cy="1417320"/>
          </a:xfrm>
          <a:prstGeom prst="roundRect">
            <a:avLst>
              <a:gd fmla="val 5161" name="adj"/>
            </a:avLst>
          </a:prstGeom>
          <a:solidFill>
            <a:srgbClr val="1C1352"/>
          </a:solidFill>
          <a:ln cap="flat" cmpd="sng" w="9525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p61"/>
          <p:cNvSpPr/>
          <p:nvPr/>
        </p:nvSpPr>
        <p:spPr>
          <a:xfrm>
            <a:off x="2834640" y="1207008"/>
            <a:ext cx="73152" cy="73152"/>
          </a:xfrm>
          <a:prstGeom prst="rect">
            <a:avLst/>
          </a:prstGeom>
          <a:solidFill>
            <a:srgbClr val="EE2A8F"/>
          </a:solidFill>
          <a:ln cap="flat" cmpd="sng" w="12700">
            <a:solidFill>
              <a:srgbClr val="EE2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7" name="Google Shape;1027;p61"/>
          <p:cNvSpPr/>
          <p:nvPr/>
        </p:nvSpPr>
        <p:spPr>
          <a:xfrm>
            <a:off x="2944368" y="1207008"/>
            <a:ext cx="73152" cy="73152"/>
          </a:xfrm>
          <a:prstGeom prst="rect">
            <a:avLst/>
          </a:prstGeom>
          <a:solidFill>
            <a:srgbClr val="2BC6FF"/>
          </a:solidFill>
          <a:ln cap="flat" cmpd="sng" w="12700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8" name="Google Shape;1028;p61"/>
          <p:cNvSpPr/>
          <p:nvPr/>
        </p:nvSpPr>
        <p:spPr>
          <a:xfrm>
            <a:off x="640080" y="1234440"/>
            <a:ext cx="411480" cy="411480"/>
          </a:xfrm>
          <a:prstGeom prst="ellipse">
            <a:avLst/>
          </a:prstGeom>
          <a:solidFill>
            <a:srgbClr val="2BC6FF"/>
          </a:solidFill>
          <a:ln cap="flat" cmpd="sng" w="12700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ile signature icon" id="1029" name="Google Shape;1029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8835" y="1333195"/>
            <a:ext cx="213970" cy="213970"/>
          </a:xfrm>
          <a:prstGeom prst="rect">
            <a:avLst/>
          </a:prstGeom>
          <a:noFill/>
          <a:ln>
            <a:noFill/>
          </a:ln>
        </p:spPr>
      </p:pic>
      <p:sp>
        <p:nvSpPr>
          <p:cNvPr id="1030" name="Google Shape;1030;p61"/>
          <p:cNvSpPr txBox="1"/>
          <p:nvPr/>
        </p:nvSpPr>
        <p:spPr>
          <a:xfrm>
            <a:off x="1170432" y="1234440"/>
            <a:ext cx="1600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C6FF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2BC6FF"/>
                </a:solidFill>
                <a:latin typeface="Arial"/>
                <a:ea typeface="Arial"/>
                <a:cs typeface="Arial"/>
                <a:sym typeface="Arial"/>
              </a:rPr>
              <a:t>SIGNED EVIDENCE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1" name="Google Shape;1031;p61"/>
          <p:cNvSpPr txBox="1"/>
          <p:nvPr/>
        </p:nvSpPr>
        <p:spPr>
          <a:xfrm>
            <a:off x="640080" y="1737360"/>
            <a:ext cx="2331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0" i="0" lang="en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Verify the issuer's signature. Forged images fail.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2" name="Google Shape;1032;p61"/>
          <p:cNvSpPr/>
          <p:nvPr/>
        </p:nvSpPr>
        <p:spPr>
          <a:xfrm>
            <a:off x="3246120" y="1097280"/>
            <a:ext cx="2651760" cy="1417320"/>
          </a:xfrm>
          <a:prstGeom prst="roundRect">
            <a:avLst>
              <a:gd fmla="val 5161" name="adj"/>
            </a:avLst>
          </a:prstGeom>
          <a:solidFill>
            <a:srgbClr val="1C1352"/>
          </a:solidFill>
          <a:ln cap="flat" cmpd="sng" w="9525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61"/>
          <p:cNvSpPr/>
          <p:nvPr/>
        </p:nvSpPr>
        <p:spPr>
          <a:xfrm>
            <a:off x="5623560" y="1207008"/>
            <a:ext cx="73152" cy="73152"/>
          </a:xfrm>
          <a:prstGeom prst="rect">
            <a:avLst/>
          </a:prstGeom>
          <a:solidFill>
            <a:srgbClr val="EE2A8F"/>
          </a:solidFill>
          <a:ln cap="flat" cmpd="sng" w="12700">
            <a:solidFill>
              <a:srgbClr val="EE2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Google Shape;1034;p61"/>
          <p:cNvSpPr/>
          <p:nvPr/>
        </p:nvSpPr>
        <p:spPr>
          <a:xfrm>
            <a:off x="5733288" y="1207008"/>
            <a:ext cx="73152" cy="73152"/>
          </a:xfrm>
          <a:prstGeom prst="rect">
            <a:avLst/>
          </a:prstGeom>
          <a:solidFill>
            <a:srgbClr val="2BC6FF"/>
          </a:solidFill>
          <a:ln cap="flat" cmpd="sng" w="12700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5" name="Google Shape;1035;p61"/>
          <p:cNvSpPr/>
          <p:nvPr/>
        </p:nvSpPr>
        <p:spPr>
          <a:xfrm>
            <a:off x="3429000" y="1234440"/>
            <a:ext cx="411480" cy="411480"/>
          </a:xfrm>
          <a:prstGeom prst="ellipse">
            <a:avLst/>
          </a:prstGeom>
          <a:solidFill>
            <a:srgbClr val="2BC6FF"/>
          </a:solidFill>
          <a:ln cap="flat" cmpd="sng" w="12700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amera icon" id="1036" name="Google Shape;1036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7755" y="1333195"/>
            <a:ext cx="213970" cy="213970"/>
          </a:xfrm>
          <a:prstGeom prst="rect">
            <a:avLst/>
          </a:prstGeom>
          <a:noFill/>
          <a:ln>
            <a:noFill/>
          </a:ln>
        </p:spPr>
      </p:pic>
      <p:sp>
        <p:nvSpPr>
          <p:cNvPr id="1037" name="Google Shape;1037;p61"/>
          <p:cNvSpPr txBox="1"/>
          <p:nvPr/>
        </p:nvSpPr>
        <p:spPr>
          <a:xfrm>
            <a:off x="3959352" y="1234440"/>
            <a:ext cx="1600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C6FF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2BC6FF"/>
                </a:solidFill>
                <a:latin typeface="Arial"/>
                <a:ea typeface="Arial"/>
                <a:cs typeface="Arial"/>
                <a:sym typeface="Arial"/>
              </a:rPr>
              <a:t>DETECT INJECTION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8" name="Google Shape;1038;p61"/>
          <p:cNvSpPr txBox="1"/>
          <p:nvPr/>
        </p:nvSpPr>
        <p:spPr>
          <a:xfrm>
            <a:off x="3429000" y="1737360"/>
            <a:ext cx="2331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0" i="0" lang="en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Virtual camera detection, media analysis, device attestation.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9" name="Google Shape;1039;p61"/>
          <p:cNvSpPr/>
          <p:nvPr/>
        </p:nvSpPr>
        <p:spPr>
          <a:xfrm>
            <a:off x="6035040" y="1097280"/>
            <a:ext cx="2651760" cy="1417320"/>
          </a:xfrm>
          <a:prstGeom prst="roundRect">
            <a:avLst>
              <a:gd fmla="val 5161" name="adj"/>
            </a:avLst>
          </a:prstGeom>
          <a:solidFill>
            <a:srgbClr val="1C1352"/>
          </a:solidFill>
          <a:ln cap="flat" cmpd="sng" w="9525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p61"/>
          <p:cNvSpPr/>
          <p:nvPr/>
        </p:nvSpPr>
        <p:spPr>
          <a:xfrm>
            <a:off x="8412480" y="1207008"/>
            <a:ext cx="73152" cy="73152"/>
          </a:xfrm>
          <a:prstGeom prst="rect">
            <a:avLst/>
          </a:prstGeom>
          <a:solidFill>
            <a:srgbClr val="EE2A8F"/>
          </a:solidFill>
          <a:ln cap="flat" cmpd="sng" w="12700">
            <a:solidFill>
              <a:srgbClr val="EE2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61"/>
          <p:cNvSpPr/>
          <p:nvPr/>
        </p:nvSpPr>
        <p:spPr>
          <a:xfrm>
            <a:off x="8522208" y="1207008"/>
            <a:ext cx="73152" cy="73152"/>
          </a:xfrm>
          <a:prstGeom prst="rect">
            <a:avLst/>
          </a:prstGeom>
          <a:solidFill>
            <a:srgbClr val="2BC6FF"/>
          </a:solidFill>
          <a:ln cap="flat" cmpd="sng" w="12700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p61"/>
          <p:cNvSpPr/>
          <p:nvPr/>
        </p:nvSpPr>
        <p:spPr>
          <a:xfrm>
            <a:off x="6217920" y="1234440"/>
            <a:ext cx="411480" cy="411480"/>
          </a:xfrm>
          <a:prstGeom prst="ellipse">
            <a:avLst/>
          </a:prstGeom>
          <a:solidFill>
            <a:srgbClr val="2BC6FF"/>
          </a:solidFill>
          <a:ln cap="flat" cmpd="sng" w="12700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user check icon" id="1043" name="Google Shape;1043;p6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16675" y="1333195"/>
            <a:ext cx="213970" cy="213970"/>
          </a:xfrm>
          <a:prstGeom prst="rect">
            <a:avLst/>
          </a:prstGeom>
          <a:noFill/>
          <a:ln>
            <a:noFill/>
          </a:ln>
        </p:spPr>
      </p:pic>
      <p:sp>
        <p:nvSpPr>
          <p:cNvPr id="1044" name="Google Shape;1044;p61"/>
          <p:cNvSpPr txBox="1"/>
          <p:nvPr/>
        </p:nvSpPr>
        <p:spPr>
          <a:xfrm>
            <a:off x="6748272" y="1234440"/>
            <a:ext cx="1600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C6FF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2BC6FF"/>
                </a:solidFill>
                <a:latin typeface="Arial"/>
                <a:ea typeface="Arial"/>
                <a:cs typeface="Arial"/>
                <a:sym typeface="Arial"/>
              </a:rPr>
              <a:t>HUMAN PROMPTS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5" name="Google Shape;1045;p61"/>
          <p:cNvSpPr txBox="1"/>
          <p:nvPr/>
        </p:nvSpPr>
        <p:spPr>
          <a:xfrm>
            <a:off x="6217920" y="1737360"/>
            <a:ext cx="2331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0" i="0" lang="en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Random movements in attended sessions.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6" name="Google Shape;1046;p61"/>
          <p:cNvSpPr/>
          <p:nvPr/>
        </p:nvSpPr>
        <p:spPr>
          <a:xfrm>
            <a:off x="457200" y="2606040"/>
            <a:ext cx="2651760" cy="1417320"/>
          </a:xfrm>
          <a:prstGeom prst="roundRect">
            <a:avLst>
              <a:gd fmla="val 5161" name="adj"/>
            </a:avLst>
          </a:prstGeom>
          <a:solidFill>
            <a:srgbClr val="1C1352"/>
          </a:solidFill>
          <a:ln cap="flat" cmpd="sng" w="9525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61"/>
          <p:cNvSpPr/>
          <p:nvPr/>
        </p:nvSpPr>
        <p:spPr>
          <a:xfrm>
            <a:off x="2834640" y="2715768"/>
            <a:ext cx="73152" cy="73152"/>
          </a:xfrm>
          <a:prstGeom prst="rect">
            <a:avLst/>
          </a:prstGeom>
          <a:solidFill>
            <a:srgbClr val="EE2A8F"/>
          </a:solidFill>
          <a:ln cap="flat" cmpd="sng" w="12700">
            <a:solidFill>
              <a:srgbClr val="EE2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61"/>
          <p:cNvSpPr/>
          <p:nvPr/>
        </p:nvSpPr>
        <p:spPr>
          <a:xfrm>
            <a:off x="2944368" y="2715768"/>
            <a:ext cx="73152" cy="73152"/>
          </a:xfrm>
          <a:prstGeom prst="rect">
            <a:avLst/>
          </a:prstGeom>
          <a:solidFill>
            <a:srgbClr val="2BC6FF"/>
          </a:solidFill>
          <a:ln cap="flat" cmpd="sng" w="12700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9" name="Google Shape;1049;p61"/>
          <p:cNvSpPr/>
          <p:nvPr/>
        </p:nvSpPr>
        <p:spPr>
          <a:xfrm>
            <a:off x="640080" y="2743200"/>
            <a:ext cx="411480" cy="411480"/>
          </a:xfrm>
          <a:prstGeom prst="ellipse">
            <a:avLst/>
          </a:prstGeom>
          <a:solidFill>
            <a:srgbClr val="2BC6FF"/>
          </a:solidFill>
          <a:ln cap="flat" cmpd="sng" w="12700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earch icon" id="1050" name="Google Shape;1050;p6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8835" y="2841955"/>
            <a:ext cx="213970" cy="213970"/>
          </a:xfrm>
          <a:prstGeom prst="rect">
            <a:avLst/>
          </a:prstGeom>
          <a:noFill/>
          <a:ln>
            <a:noFill/>
          </a:ln>
        </p:spPr>
      </p:pic>
      <p:sp>
        <p:nvSpPr>
          <p:cNvPr id="1051" name="Google Shape;1051;p61"/>
          <p:cNvSpPr txBox="1"/>
          <p:nvPr/>
        </p:nvSpPr>
        <p:spPr>
          <a:xfrm>
            <a:off x="1170432" y="2743200"/>
            <a:ext cx="1600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C6FF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2BC6FF"/>
                </a:solidFill>
                <a:latin typeface="Arial"/>
                <a:ea typeface="Arial"/>
                <a:cs typeface="Arial"/>
                <a:sym typeface="Arial"/>
              </a:rPr>
              <a:t>FRAUD SIGNALS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2" name="Google Shape;1052;p61"/>
          <p:cNvSpPr txBox="1"/>
          <p:nvPr/>
        </p:nvSpPr>
        <p:spPr>
          <a:xfrm>
            <a:off x="640080" y="3246120"/>
            <a:ext cx="2331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0" i="0" lang="en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Device fingerprint, SIM swap and velocity checks.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3" name="Google Shape;1053;p61"/>
          <p:cNvSpPr/>
          <p:nvPr/>
        </p:nvSpPr>
        <p:spPr>
          <a:xfrm>
            <a:off x="3246120" y="2606040"/>
            <a:ext cx="2651760" cy="1417320"/>
          </a:xfrm>
          <a:prstGeom prst="roundRect">
            <a:avLst>
              <a:gd fmla="val 5161" name="adj"/>
            </a:avLst>
          </a:prstGeom>
          <a:solidFill>
            <a:srgbClr val="1C1352"/>
          </a:solidFill>
          <a:ln cap="flat" cmpd="sng" w="9525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4" name="Google Shape;1054;p61"/>
          <p:cNvSpPr/>
          <p:nvPr/>
        </p:nvSpPr>
        <p:spPr>
          <a:xfrm>
            <a:off x="5623560" y="2715768"/>
            <a:ext cx="73152" cy="73152"/>
          </a:xfrm>
          <a:prstGeom prst="rect">
            <a:avLst/>
          </a:prstGeom>
          <a:solidFill>
            <a:srgbClr val="EE2A8F"/>
          </a:solidFill>
          <a:ln cap="flat" cmpd="sng" w="12700">
            <a:solidFill>
              <a:srgbClr val="EE2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5" name="Google Shape;1055;p61"/>
          <p:cNvSpPr/>
          <p:nvPr/>
        </p:nvSpPr>
        <p:spPr>
          <a:xfrm>
            <a:off x="5733288" y="2715768"/>
            <a:ext cx="73152" cy="73152"/>
          </a:xfrm>
          <a:prstGeom prst="rect">
            <a:avLst/>
          </a:prstGeom>
          <a:solidFill>
            <a:srgbClr val="2BC6FF"/>
          </a:solidFill>
          <a:ln cap="flat" cmpd="sng" w="12700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6" name="Google Shape;1056;p61"/>
          <p:cNvSpPr/>
          <p:nvPr/>
        </p:nvSpPr>
        <p:spPr>
          <a:xfrm>
            <a:off x="3429000" y="2743200"/>
            <a:ext cx="411480" cy="411480"/>
          </a:xfrm>
          <a:prstGeom prst="ellipse">
            <a:avLst/>
          </a:prstGeom>
          <a:solidFill>
            <a:srgbClr val="2BC6FF"/>
          </a:solidFill>
          <a:ln cap="flat" cmpd="sng" w="12700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ock icon" id="1057" name="Google Shape;1057;p6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527755" y="2841955"/>
            <a:ext cx="213970" cy="213970"/>
          </a:xfrm>
          <a:prstGeom prst="rect">
            <a:avLst/>
          </a:prstGeom>
          <a:noFill/>
          <a:ln>
            <a:noFill/>
          </a:ln>
        </p:spPr>
      </p:pic>
      <p:sp>
        <p:nvSpPr>
          <p:cNvPr id="1058" name="Google Shape;1058;p61"/>
          <p:cNvSpPr txBox="1"/>
          <p:nvPr/>
        </p:nvSpPr>
        <p:spPr>
          <a:xfrm>
            <a:off x="3959352" y="2743200"/>
            <a:ext cx="1600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C6FF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2BC6FF"/>
                </a:solidFill>
                <a:latin typeface="Arial"/>
                <a:ea typeface="Arial"/>
                <a:cs typeface="Arial"/>
                <a:sym typeface="Arial"/>
              </a:rPr>
              <a:t>SAFE RECOVERY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9" name="Google Shape;1059;p61"/>
          <p:cNvSpPr txBox="1"/>
          <p:nvPr/>
        </p:nvSpPr>
        <p:spPr>
          <a:xfrm>
            <a:off x="3429000" y="3246120"/>
            <a:ext cx="2331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0" i="0" lang="en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 security questions. Verify resets through a second trusted channel.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0" name="Google Shape;1060;p61"/>
          <p:cNvSpPr/>
          <p:nvPr/>
        </p:nvSpPr>
        <p:spPr>
          <a:xfrm>
            <a:off x="6035040" y="2606040"/>
            <a:ext cx="2651760" cy="1417320"/>
          </a:xfrm>
          <a:prstGeom prst="roundRect">
            <a:avLst>
              <a:gd fmla="val 5161" name="adj"/>
            </a:avLst>
          </a:prstGeom>
          <a:solidFill>
            <a:srgbClr val="1C1352"/>
          </a:solidFill>
          <a:ln cap="flat" cmpd="sng" w="9525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1" name="Google Shape;1061;p61"/>
          <p:cNvSpPr/>
          <p:nvPr/>
        </p:nvSpPr>
        <p:spPr>
          <a:xfrm>
            <a:off x="8412480" y="2715768"/>
            <a:ext cx="73152" cy="73152"/>
          </a:xfrm>
          <a:prstGeom prst="rect">
            <a:avLst/>
          </a:prstGeom>
          <a:solidFill>
            <a:srgbClr val="EE2A8F"/>
          </a:solidFill>
          <a:ln cap="flat" cmpd="sng" w="12700">
            <a:solidFill>
              <a:srgbClr val="EE2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61"/>
          <p:cNvSpPr/>
          <p:nvPr/>
        </p:nvSpPr>
        <p:spPr>
          <a:xfrm>
            <a:off x="8522208" y="2715768"/>
            <a:ext cx="73152" cy="73152"/>
          </a:xfrm>
          <a:prstGeom prst="rect">
            <a:avLst/>
          </a:prstGeom>
          <a:solidFill>
            <a:srgbClr val="2BC6FF"/>
          </a:solidFill>
          <a:ln cap="flat" cmpd="sng" w="12700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61"/>
          <p:cNvSpPr/>
          <p:nvPr/>
        </p:nvSpPr>
        <p:spPr>
          <a:xfrm>
            <a:off x="6217920" y="2743200"/>
            <a:ext cx="411480" cy="411480"/>
          </a:xfrm>
          <a:prstGeom prst="ellipse">
            <a:avLst/>
          </a:prstGeom>
          <a:solidFill>
            <a:srgbClr val="2BC6FF"/>
          </a:solidFill>
          <a:ln cap="flat" cmpd="sng" w="12700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bell icon" id="1064" name="Google Shape;1064;p6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16675" y="2841955"/>
            <a:ext cx="213970" cy="213970"/>
          </a:xfrm>
          <a:prstGeom prst="rect">
            <a:avLst/>
          </a:prstGeom>
          <a:noFill/>
          <a:ln>
            <a:noFill/>
          </a:ln>
        </p:spPr>
      </p:pic>
      <p:sp>
        <p:nvSpPr>
          <p:cNvPr id="1065" name="Google Shape;1065;p61"/>
          <p:cNvSpPr txBox="1"/>
          <p:nvPr/>
        </p:nvSpPr>
        <p:spPr>
          <a:xfrm>
            <a:off x="6748272" y="2743200"/>
            <a:ext cx="1600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C6FF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2BC6FF"/>
                </a:solidFill>
                <a:latin typeface="Arial"/>
                <a:ea typeface="Arial"/>
                <a:cs typeface="Arial"/>
                <a:sym typeface="Arial"/>
              </a:rPr>
              <a:t>LET OWNERS CHECK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6" name="Google Shape;1066;p61"/>
          <p:cNvSpPr txBox="1"/>
          <p:nvPr/>
        </p:nvSpPr>
        <p:spPr>
          <a:xfrm>
            <a:off x="6217920" y="3246120"/>
            <a:ext cx="2331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0" i="0" lang="en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Proofing notifications and ID-to-SIM checkers.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7" name="Google Shape;1067;p61"/>
          <p:cNvSpPr/>
          <p:nvPr/>
        </p:nvSpPr>
        <p:spPr>
          <a:xfrm>
            <a:off x="457200" y="4251960"/>
            <a:ext cx="64008" cy="384048"/>
          </a:xfrm>
          <a:prstGeom prst="rect">
            <a:avLst/>
          </a:prstGeom>
          <a:solidFill>
            <a:srgbClr val="EE2A8F"/>
          </a:solidFill>
          <a:ln cap="flat" cmpd="sng" w="12700">
            <a:solidFill>
              <a:srgbClr val="EE2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8" name="Google Shape;1068;p61"/>
          <p:cNvSpPr txBox="1"/>
          <p:nvPr/>
        </p:nvSpPr>
        <p:spPr>
          <a:xfrm>
            <a:off x="658368" y="4251960"/>
            <a:ext cx="80284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C6FF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2BC6FF"/>
                </a:solidFill>
                <a:latin typeface="Arial"/>
                <a:ea typeface="Arial"/>
                <a:cs typeface="Arial"/>
                <a:sym typeface="Arial"/>
              </a:rPr>
              <a:t>No single control is enough. Layer them.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62"/>
          <p:cNvSpPr txBox="1"/>
          <p:nvPr>
            <p:ph type="title"/>
          </p:nvPr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lang="en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KEY </a:t>
            </a:r>
            <a:r>
              <a:rPr b="1" lang="en" sz="2400">
                <a:solidFill>
                  <a:srgbClr val="2BC6FF"/>
                </a:solidFill>
                <a:latin typeface="Arial"/>
                <a:ea typeface="Arial"/>
                <a:cs typeface="Arial"/>
                <a:sym typeface="Arial"/>
              </a:rPr>
              <a:t>TAKEAWAYS</a:t>
            </a:r>
            <a:endParaRPr sz="2400"/>
          </a:p>
        </p:txBody>
      </p:sp>
      <p:sp>
        <p:nvSpPr>
          <p:cNvPr id="1075" name="Google Shape;1075;p62"/>
          <p:cNvSpPr/>
          <p:nvPr/>
        </p:nvSpPr>
        <p:spPr>
          <a:xfrm>
            <a:off x="457200" y="1188720"/>
            <a:ext cx="2651760" cy="2468880"/>
          </a:xfrm>
          <a:prstGeom prst="roundRect">
            <a:avLst>
              <a:gd fmla="val 2963" name="adj"/>
            </a:avLst>
          </a:prstGeom>
          <a:solidFill>
            <a:srgbClr val="1C1352"/>
          </a:solidFill>
          <a:ln cap="flat" cmpd="sng" w="9525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6" name="Google Shape;1076;p62"/>
          <p:cNvSpPr/>
          <p:nvPr/>
        </p:nvSpPr>
        <p:spPr>
          <a:xfrm>
            <a:off x="2834640" y="1298448"/>
            <a:ext cx="73152" cy="73152"/>
          </a:xfrm>
          <a:prstGeom prst="rect">
            <a:avLst/>
          </a:prstGeom>
          <a:solidFill>
            <a:srgbClr val="EE2A8F"/>
          </a:solidFill>
          <a:ln cap="flat" cmpd="sng" w="12700">
            <a:solidFill>
              <a:srgbClr val="EE2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7" name="Google Shape;1077;p62"/>
          <p:cNvSpPr/>
          <p:nvPr/>
        </p:nvSpPr>
        <p:spPr>
          <a:xfrm>
            <a:off x="2944368" y="1298448"/>
            <a:ext cx="73152" cy="73152"/>
          </a:xfrm>
          <a:prstGeom prst="rect">
            <a:avLst/>
          </a:prstGeom>
          <a:solidFill>
            <a:srgbClr val="2BC6FF"/>
          </a:solidFill>
          <a:ln cap="flat" cmpd="sng" w="12700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8" name="Google Shape;1078;p62"/>
          <p:cNvSpPr/>
          <p:nvPr/>
        </p:nvSpPr>
        <p:spPr>
          <a:xfrm>
            <a:off x="640080" y="1371600"/>
            <a:ext cx="502920" cy="502920"/>
          </a:xfrm>
          <a:prstGeom prst="ellipse">
            <a:avLst/>
          </a:prstGeom>
          <a:solidFill>
            <a:srgbClr val="2BC6FF"/>
          </a:solidFill>
          <a:ln cap="flat" cmpd="sng" w="12700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key icon" id="1079" name="Google Shape;1079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0781" y="1492301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080" name="Google Shape;1080;p62"/>
          <p:cNvSpPr txBox="1"/>
          <p:nvPr/>
        </p:nvSpPr>
        <p:spPr>
          <a:xfrm>
            <a:off x="640080" y="2011680"/>
            <a:ext cx="2331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C6FF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2BC6FF"/>
                </a:solidFill>
                <a:latin typeface="Arial"/>
                <a:ea typeface="Arial"/>
                <a:cs typeface="Arial"/>
                <a:sym typeface="Arial"/>
              </a:rPr>
              <a:t>TRUST STARTS AT ENROLLMENT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1" name="Google Shape;1081;p62"/>
          <p:cNvSpPr txBox="1"/>
          <p:nvPr/>
        </p:nvSpPr>
        <p:spPr>
          <a:xfrm>
            <a:off x="640080" y="2606040"/>
            <a:ext cx="23317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0" i="0" lang="en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Authentication is only as strong as the proofing behind it.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2" name="Google Shape;1082;p62"/>
          <p:cNvSpPr/>
          <p:nvPr/>
        </p:nvSpPr>
        <p:spPr>
          <a:xfrm>
            <a:off x="3246120" y="1188720"/>
            <a:ext cx="2651760" cy="2468880"/>
          </a:xfrm>
          <a:prstGeom prst="roundRect">
            <a:avLst>
              <a:gd fmla="val 2963" name="adj"/>
            </a:avLst>
          </a:prstGeom>
          <a:solidFill>
            <a:srgbClr val="1C1352"/>
          </a:solidFill>
          <a:ln cap="flat" cmpd="sng" w="9525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p62"/>
          <p:cNvSpPr/>
          <p:nvPr/>
        </p:nvSpPr>
        <p:spPr>
          <a:xfrm>
            <a:off x="5623560" y="1298448"/>
            <a:ext cx="73152" cy="73152"/>
          </a:xfrm>
          <a:prstGeom prst="rect">
            <a:avLst/>
          </a:prstGeom>
          <a:solidFill>
            <a:srgbClr val="EE2A8F"/>
          </a:solidFill>
          <a:ln cap="flat" cmpd="sng" w="12700">
            <a:solidFill>
              <a:srgbClr val="EE2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4" name="Google Shape;1084;p62"/>
          <p:cNvSpPr/>
          <p:nvPr/>
        </p:nvSpPr>
        <p:spPr>
          <a:xfrm>
            <a:off x="5733288" y="1298448"/>
            <a:ext cx="73152" cy="73152"/>
          </a:xfrm>
          <a:prstGeom prst="rect">
            <a:avLst/>
          </a:prstGeom>
          <a:solidFill>
            <a:srgbClr val="2BC6FF"/>
          </a:solidFill>
          <a:ln cap="flat" cmpd="sng" w="12700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5" name="Google Shape;1085;p62"/>
          <p:cNvSpPr/>
          <p:nvPr/>
        </p:nvSpPr>
        <p:spPr>
          <a:xfrm>
            <a:off x="3429000" y="1371600"/>
            <a:ext cx="502920" cy="502920"/>
          </a:xfrm>
          <a:prstGeom prst="ellipse">
            <a:avLst/>
          </a:prstGeom>
          <a:solidFill>
            <a:srgbClr val="2BC6FF"/>
          </a:solidFill>
          <a:ln cap="flat" cmpd="sng" w="12700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robot icon" id="1086" name="Google Shape;1086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9701" y="1492301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087" name="Google Shape;1087;p62"/>
          <p:cNvSpPr txBox="1"/>
          <p:nvPr/>
        </p:nvSpPr>
        <p:spPr>
          <a:xfrm>
            <a:off x="3429000" y="2011680"/>
            <a:ext cx="2331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C6FF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2BC6FF"/>
                </a:solidFill>
                <a:latin typeface="Arial"/>
                <a:ea typeface="Arial"/>
                <a:cs typeface="Arial"/>
                <a:sym typeface="Arial"/>
              </a:rPr>
              <a:t>AI ATTACKS THE EVIDENCE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8" name="Google Shape;1088;p62"/>
          <p:cNvSpPr txBox="1"/>
          <p:nvPr/>
        </p:nvSpPr>
        <p:spPr>
          <a:xfrm>
            <a:off x="3429000" y="2606040"/>
            <a:ext cx="23317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0" i="0" lang="en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Documents, faces and voices are now easy to generate.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9" name="Google Shape;1089;p62"/>
          <p:cNvSpPr/>
          <p:nvPr/>
        </p:nvSpPr>
        <p:spPr>
          <a:xfrm>
            <a:off x="6035040" y="1188720"/>
            <a:ext cx="2651760" cy="2468880"/>
          </a:xfrm>
          <a:prstGeom prst="roundRect">
            <a:avLst>
              <a:gd fmla="val 2963" name="adj"/>
            </a:avLst>
          </a:prstGeom>
          <a:solidFill>
            <a:srgbClr val="1C1352"/>
          </a:solidFill>
          <a:ln cap="flat" cmpd="sng" w="9525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0" name="Google Shape;1090;p62"/>
          <p:cNvSpPr/>
          <p:nvPr/>
        </p:nvSpPr>
        <p:spPr>
          <a:xfrm>
            <a:off x="8412480" y="1298448"/>
            <a:ext cx="73152" cy="73152"/>
          </a:xfrm>
          <a:prstGeom prst="rect">
            <a:avLst/>
          </a:prstGeom>
          <a:solidFill>
            <a:srgbClr val="EE2A8F"/>
          </a:solidFill>
          <a:ln cap="flat" cmpd="sng" w="12700">
            <a:solidFill>
              <a:srgbClr val="EE2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1" name="Google Shape;1091;p62"/>
          <p:cNvSpPr/>
          <p:nvPr/>
        </p:nvSpPr>
        <p:spPr>
          <a:xfrm>
            <a:off x="8522208" y="1298448"/>
            <a:ext cx="73152" cy="73152"/>
          </a:xfrm>
          <a:prstGeom prst="rect">
            <a:avLst/>
          </a:prstGeom>
          <a:solidFill>
            <a:srgbClr val="2BC6FF"/>
          </a:solidFill>
          <a:ln cap="flat" cmpd="sng" w="12700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2" name="Google Shape;1092;p62"/>
          <p:cNvSpPr/>
          <p:nvPr/>
        </p:nvSpPr>
        <p:spPr>
          <a:xfrm>
            <a:off x="6217920" y="1371600"/>
            <a:ext cx="502920" cy="502920"/>
          </a:xfrm>
          <a:prstGeom prst="ellipse">
            <a:avLst/>
          </a:prstGeom>
          <a:solidFill>
            <a:srgbClr val="2BC6FF"/>
          </a:solidFill>
          <a:ln cap="flat" cmpd="sng" w="12700">
            <a:solidFill>
              <a:srgbClr val="2B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ayer group icon" id="1093" name="Google Shape;1093;p6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8621" y="1492301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094" name="Google Shape;1094;p62"/>
          <p:cNvSpPr txBox="1"/>
          <p:nvPr/>
        </p:nvSpPr>
        <p:spPr>
          <a:xfrm>
            <a:off x="6217920" y="2011680"/>
            <a:ext cx="2331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C6FF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2BC6FF"/>
                </a:solidFill>
                <a:latin typeface="Arial"/>
                <a:ea typeface="Arial"/>
                <a:cs typeface="Arial"/>
                <a:sym typeface="Arial"/>
              </a:rPr>
              <a:t>LAYER THE DEFENCE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5" name="Google Shape;1095;p62"/>
          <p:cNvSpPr txBox="1"/>
          <p:nvPr/>
        </p:nvSpPr>
        <p:spPr>
          <a:xfrm>
            <a:off x="6217920" y="2606040"/>
            <a:ext cx="23317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0" i="0" lang="en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Signed evidence, injection detection, fraud signals and human review.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6" name="Google Shape;1096;p62"/>
          <p:cNvSpPr/>
          <p:nvPr/>
        </p:nvSpPr>
        <p:spPr>
          <a:xfrm>
            <a:off x="457200" y="4023360"/>
            <a:ext cx="64008" cy="411480"/>
          </a:xfrm>
          <a:prstGeom prst="rect">
            <a:avLst/>
          </a:prstGeom>
          <a:solidFill>
            <a:srgbClr val="EE2A8F"/>
          </a:solidFill>
          <a:ln cap="flat" cmpd="sng" w="12700">
            <a:solidFill>
              <a:srgbClr val="EE2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62"/>
          <p:cNvSpPr txBox="1"/>
          <p:nvPr/>
        </p:nvSpPr>
        <p:spPr>
          <a:xfrm>
            <a:off x="658368" y="4023360"/>
            <a:ext cx="80284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C6FF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2BC6FF"/>
                </a:solidFill>
                <a:latin typeface="Arial"/>
                <a:ea typeface="Arial"/>
                <a:cs typeface="Arial"/>
                <a:sym typeface="Arial"/>
              </a:rPr>
              <a:t>Next: how the CSP, Verifier and Relying Party use the enrolled identity.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6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 sz="2900"/>
              <a:t>THREE </a:t>
            </a:r>
            <a:r>
              <a:rPr lang="en" sz="2900">
                <a:solidFill>
                  <a:schemeClr val="accent6"/>
                </a:solidFill>
              </a:rPr>
              <a:t>AUTHENTICATION ROLES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1103" name="Google Shape;1103;p63"/>
          <p:cNvSpPr txBox="1"/>
          <p:nvPr>
            <p:ph idx="1" type="subTitle"/>
          </p:nvPr>
        </p:nvSpPr>
        <p:spPr>
          <a:xfrm>
            <a:off x="720000" y="3275725"/>
            <a:ext cx="2469000" cy="7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700"/>
              <a:t>Enrolls subscribers, manages accounts and links authenticators.</a:t>
            </a:r>
            <a:endParaRPr/>
          </a:p>
        </p:txBody>
      </p:sp>
      <p:sp>
        <p:nvSpPr>
          <p:cNvPr id="1104" name="Google Shape;1104;p63"/>
          <p:cNvSpPr txBox="1"/>
          <p:nvPr>
            <p:ph idx="2" type="subTitle"/>
          </p:nvPr>
        </p:nvSpPr>
        <p:spPr>
          <a:xfrm>
            <a:off x="3337500" y="3274789"/>
            <a:ext cx="2469000" cy="7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700"/>
              <a:t>Checks whether a user controls a valid registered authenticator.</a:t>
            </a:r>
            <a:endParaRPr/>
          </a:p>
        </p:txBody>
      </p:sp>
      <p:sp>
        <p:nvSpPr>
          <p:cNvPr id="1105" name="Google Shape;1105;p63"/>
          <p:cNvSpPr txBox="1"/>
          <p:nvPr>
            <p:ph idx="3" type="subTitle"/>
          </p:nvPr>
        </p:nvSpPr>
        <p:spPr>
          <a:xfrm>
            <a:off x="5961725" y="3275725"/>
            <a:ext cx="2469000" cy="7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700"/>
              <a:t>The app that trusts a login result and decides what access to allow.</a:t>
            </a:r>
            <a:endParaRPr/>
          </a:p>
        </p:txBody>
      </p:sp>
      <p:sp>
        <p:nvSpPr>
          <p:cNvPr id="1106" name="Google Shape;1106;p63"/>
          <p:cNvSpPr txBox="1"/>
          <p:nvPr>
            <p:ph idx="4" type="subTitle"/>
          </p:nvPr>
        </p:nvSpPr>
        <p:spPr>
          <a:xfrm>
            <a:off x="720000" y="2904075"/>
            <a:ext cx="24690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700"/>
              <a:t>CSP (Credential Service Provider)</a:t>
            </a:r>
            <a:endParaRPr sz="1800">
              <a:latin typeface="Russo One"/>
              <a:ea typeface="Russo One"/>
              <a:cs typeface="Russo One"/>
              <a:sym typeface="Russo One"/>
            </a:endParaRPr>
          </a:p>
        </p:txBody>
      </p:sp>
      <p:sp>
        <p:nvSpPr>
          <p:cNvPr id="1107" name="Google Shape;1107;p63"/>
          <p:cNvSpPr txBox="1"/>
          <p:nvPr>
            <p:ph idx="5" type="subTitle"/>
          </p:nvPr>
        </p:nvSpPr>
        <p:spPr>
          <a:xfrm>
            <a:off x="5961725" y="2904075"/>
            <a:ext cx="24690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100"/>
              <a:t>RELYING PARTY</a:t>
            </a:r>
            <a:endParaRPr>
              <a:latin typeface="Russo One"/>
              <a:ea typeface="Russo One"/>
              <a:cs typeface="Russo One"/>
              <a:sym typeface="Russo One"/>
            </a:endParaRPr>
          </a:p>
        </p:txBody>
      </p:sp>
      <p:sp>
        <p:nvSpPr>
          <p:cNvPr id="1108" name="Google Shape;1108;p63"/>
          <p:cNvSpPr txBox="1"/>
          <p:nvPr>
            <p:ph idx="6" type="subTitle"/>
          </p:nvPr>
        </p:nvSpPr>
        <p:spPr>
          <a:xfrm>
            <a:off x="3337500" y="2904063"/>
            <a:ext cx="24690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200"/>
              <a:t>VERIFIER</a:t>
            </a:r>
            <a:endParaRPr>
              <a:latin typeface="Russo One"/>
              <a:ea typeface="Russo One"/>
              <a:cs typeface="Russo One"/>
              <a:sym typeface="Russo One"/>
            </a:endParaRPr>
          </a:p>
        </p:txBody>
      </p:sp>
      <p:grpSp>
        <p:nvGrpSpPr>
          <p:cNvPr id="1109" name="Google Shape;1109;p63"/>
          <p:cNvGrpSpPr/>
          <p:nvPr/>
        </p:nvGrpSpPr>
        <p:grpSpPr>
          <a:xfrm>
            <a:off x="1496127" y="1405145"/>
            <a:ext cx="916748" cy="1056774"/>
            <a:chOff x="1377327" y="1405145"/>
            <a:chExt cx="916748" cy="1056774"/>
          </a:xfrm>
        </p:grpSpPr>
        <p:sp>
          <p:nvSpPr>
            <p:cNvPr id="1110" name="Google Shape;1110;p63"/>
            <p:cNvSpPr/>
            <p:nvPr/>
          </p:nvSpPr>
          <p:spPr>
            <a:xfrm rot="10800000">
              <a:off x="1468775" y="1496625"/>
              <a:ext cx="825300" cy="845400"/>
            </a:xfrm>
            <a:prstGeom prst="snipRoundRect">
              <a:avLst>
                <a:gd fmla="val 0" name="adj1"/>
                <a:gd fmla="val 22422" name="adj2"/>
              </a:avLst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accent3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111" name="Google Shape;1111;p63"/>
            <p:cNvSpPr/>
            <p:nvPr/>
          </p:nvSpPr>
          <p:spPr>
            <a:xfrm rot="-2700000">
              <a:off x="1694060" y="2319613"/>
              <a:ext cx="117852" cy="117905"/>
            </a:xfrm>
            <a:custGeom>
              <a:rect b="b" l="l" r="r" t="t"/>
              <a:pathLst>
                <a:path extrusionOk="0" h="209740" w="209645">
                  <a:moveTo>
                    <a:pt x="209645" y="209741"/>
                  </a:moveTo>
                  <a:lnTo>
                    <a:pt x="0" y="209741"/>
                  </a:lnTo>
                  <a:lnTo>
                    <a:pt x="0" y="0"/>
                  </a:lnTo>
                  <a:lnTo>
                    <a:pt x="209645" y="209741"/>
                  </a:lnTo>
                  <a:close/>
                </a:path>
              </a:pathLst>
            </a:custGeom>
            <a:solidFill>
              <a:schemeClr val="accent6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112" name="Google Shape;1112;p63"/>
            <p:cNvSpPr/>
            <p:nvPr/>
          </p:nvSpPr>
          <p:spPr>
            <a:xfrm rot="5400000">
              <a:off x="1377312" y="1405159"/>
              <a:ext cx="91479" cy="91450"/>
            </a:xfrm>
            <a:custGeom>
              <a:rect b="b" l="l" r="r" t="t"/>
              <a:pathLst>
                <a:path extrusionOk="0" h="48386" w="39052">
                  <a:moveTo>
                    <a:pt x="-649" y="-121"/>
                  </a:moveTo>
                  <a:lnTo>
                    <a:pt x="38403" y="-121"/>
                  </a:lnTo>
                  <a:lnTo>
                    <a:pt x="38403" y="48266"/>
                  </a:lnTo>
                  <a:lnTo>
                    <a:pt x="-649" y="48266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1113" name="Google Shape;1113;p63"/>
          <p:cNvGrpSpPr/>
          <p:nvPr/>
        </p:nvGrpSpPr>
        <p:grpSpPr>
          <a:xfrm>
            <a:off x="4066527" y="1405145"/>
            <a:ext cx="918123" cy="1056774"/>
            <a:chOff x="4066527" y="1405145"/>
            <a:chExt cx="918123" cy="1056774"/>
          </a:xfrm>
        </p:grpSpPr>
        <p:sp>
          <p:nvSpPr>
            <p:cNvPr id="1114" name="Google Shape;1114;p63"/>
            <p:cNvSpPr/>
            <p:nvPr/>
          </p:nvSpPr>
          <p:spPr>
            <a:xfrm rot="10800000">
              <a:off x="4159350" y="1496625"/>
              <a:ext cx="825300" cy="845400"/>
            </a:xfrm>
            <a:prstGeom prst="snipRoundRect">
              <a:avLst>
                <a:gd fmla="val 0" name="adj1"/>
                <a:gd fmla="val 22422" name="adj2"/>
              </a:avLst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accent3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115" name="Google Shape;1115;p63"/>
            <p:cNvSpPr/>
            <p:nvPr/>
          </p:nvSpPr>
          <p:spPr>
            <a:xfrm rot="-2700000">
              <a:off x="4383260" y="2319613"/>
              <a:ext cx="117852" cy="117905"/>
            </a:xfrm>
            <a:custGeom>
              <a:rect b="b" l="l" r="r" t="t"/>
              <a:pathLst>
                <a:path extrusionOk="0" h="209740" w="209645">
                  <a:moveTo>
                    <a:pt x="209645" y="209741"/>
                  </a:moveTo>
                  <a:lnTo>
                    <a:pt x="0" y="209741"/>
                  </a:lnTo>
                  <a:lnTo>
                    <a:pt x="0" y="0"/>
                  </a:lnTo>
                  <a:lnTo>
                    <a:pt x="209645" y="209741"/>
                  </a:lnTo>
                  <a:close/>
                </a:path>
              </a:pathLst>
            </a:custGeom>
            <a:solidFill>
              <a:schemeClr val="accent6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116" name="Google Shape;1116;p63"/>
            <p:cNvSpPr/>
            <p:nvPr/>
          </p:nvSpPr>
          <p:spPr>
            <a:xfrm rot="5400000">
              <a:off x="4066512" y="1405159"/>
              <a:ext cx="91479" cy="91450"/>
            </a:xfrm>
            <a:custGeom>
              <a:rect b="b" l="l" r="r" t="t"/>
              <a:pathLst>
                <a:path extrusionOk="0" h="48386" w="39052">
                  <a:moveTo>
                    <a:pt x="-649" y="-121"/>
                  </a:moveTo>
                  <a:lnTo>
                    <a:pt x="38403" y="-121"/>
                  </a:lnTo>
                  <a:lnTo>
                    <a:pt x="38403" y="48266"/>
                  </a:lnTo>
                  <a:lnTo>
                    <a:pt x="-649" y="48266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1117" name="Google Shape;1117;p63"/>
          <p:cNvGrpSpPr/>
          <p:nvPr/>
        </p:nvGrpSpPr>
        <p:grpSpPr>
          <a:xfrm>
            <a:off x="6638302" y="1405145"/>
            <a:ext cx="919498" cy="1056774"/>
            <a:chOff x="6755727" y="1405145"/>
            <a:chExt cx="919498" cy="1056774"/>
          </a:xfrm>
        </p:grpSpPr>
        <p:sp>
          <p:nvSpPr>
            <p:cNvPr id="1118" name="Google Shape;1118;p63"/>
            <p:cNvSpPr/>
            <p:nvPr/>
          </p:nvSpPr>
          <p:spPr>
            <a:xfrm rot="10800000">
              <a:off x="6849925" y="1496625"/>
              <a:ext cx="825300" cy="845400"/>
            </a:xfrm>
            <a:prstGeom prst="snipRoundRect">
              <a:avLst>
                <a:gd fmla="val 0" name="adj1"/>
                <a:gd fmla="val 22422" name="adj2"/>
              </a:avLst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accent3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119" name="Google Shape;1119;p63"/>
            <p:cNvSpPr/>
            <p:nvPr/>
          </p:nvSpPr>
          <p:spPr>
            <a:xfrm rot="-2700000">
              <a:off x="7072460" y="2319613"/>
              <a:ext cx="117852" cy="117905"/>
            </a:xfrm>
            <a:custGeom>
              <a:rect b="b" l="l" r="r" t="t"/>
              <a:pathLst>
                <a:path extrusionOk="0" h="209740" w="209645">
                  <a:moveTo>
                    <a:pt x="209645" y="209741"/>
                  </a:moveTo>
                  <a:lnTo>
                    <a:pt x="0" y="209741"/>
                  </a:lnTo>
                  <a:lnTo>
                    <a:pt x="0" y="0"/>
                  </a:lnTo>
                  <a:lnTo>
                    <a:pt x="209645" y="209741"/>
                  </a:lnTo>
                  <a:close/>
                </a:path>
              </a:pathLst>
            </a:custGeom>
            <a:solidFill>
              <a:schemeClr val="accent6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120" name="Google Shape;1120;p63"/>
            <p:cNvSpPr/>
            <p:nvPr/>
          </p:nvSpPr>
          <p:spPr>
            <a:xfrm rot="5400000">
              <a:off x="6755712" y="1405159"/>
              <a:ext cx="91479" cy="91450"/>
            </a:xfrm>
            <a:custGeom>
              <a:rect b="b" l="l" r="r" t="t"/>
              <a:pathLst>
                <a:path extrusionOk="0" h="48386" w="39052">
                  <a:moveTo>
                    <a:pt x="-649" y="-121"/>
                  </a:moveTo>
                  <a:lnTo>
                    <a:pt x="38403" y="-121"/>
                  </a:lnTo>
                  <a:lnTo>
                    <a:pt x="38403" y="48266"/>
                  </a:lnTo>
                  <a:lnTo>
                    <a:pt x="-649" y="48266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1121" name="Google Shape;1121;p63"/>
          <p:cNvGrpSpPr/>
          <p:nvPr/>
        </p:nvGrpSpPr>
        <p:grpSpPr>
          <a:xfrm>
            <a:off x="1877537" y="1739912"/>
            <a:ext cx="264362" cy="321001"/>
            <a:chOff x="10852342" y="3132107"/>
            <a:chExt cx="385423" cy="467999"/>
          </a:xfrm>
        </p:grpSpPr>
        <p:sp>
          <p:nvSpPr>
            <p:cNvPr id="1122" name="Google Shape;1122;p63"/>
            <p:cNvSpPr/>
            <p:nvPr/>
          </p:nvSpPr>
          <p:spPr>
            <a:xfrm>
              <a:off x="10962465" y="3517518"/>
              <a:ext cx="165176" cy="27529"/>
            </a:xfrm>
            <a:custGeom>
              <a:rect b="b" l="l" r="r" t="t"/>
              <a:pathLst>
                <a:path extrusionOk="0" h="27529" w="165176">
                  <a:moveTo>
                    <a:pt x="0" y="0"/>
                  </a:moveTo>
                  <a:lnTo>
                    <a:pt x="165176" y="0"/>
                  </a:lnTo>
                  <a:lnTo>
                    <a:pt x="165176" y="27529"/>
                  </a:lnTo>
                  <a:lnTo>
                    <a:pt x="0" y="2752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3" name="Google Shape;1123;p63"/>
            <p:cNvSpPr/>
            <p:nvPr/>
          </p:nvSpPr>
          <p:spPr>
            <a:xfrm>
              <a:off x="11003759" y="3572577"/>
              <a:ext cx="82588" cy="27529"/>
            </a:xfrm>
            <a:custGeom>
              <a:rect b="b" l="l" r="r" t="t"/>
              <a:pathLst>
                <a:path extrusionOk="0" h="27529" w="82588">
                  <a:moveTo>
                    <a:pt x="0" y="0"/>
                  </a:moveTo>
                  <a:lnTo>
                    <a:pt x="82588" y="0"/>
                  </a:lnTo>
                  <a:lnTo>
                    <a:pt x="82588" y="27529"/>
                  </a:lnTo>
                  <a:lnTo>
                    <a:pt x="0" y="2752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4" name="Google Shape;1124;p63"/>
            <p:cNvSpPr/>
            <p:nvPr/>
          </p:nvSpPr>
          <p:spPr>
            <a:xfrm>
              <a:off x="10852342" y="3132107"/>
              <a:ext cx="178946" cy="357882"/>
            </a:xfrm>
            <a:custGeom>
              <a:rect b="b" l="l" r="r" t="t"/>
              <a:pathLst>
                <a:path extrusionOk="0" h="357882" w="178946">
                  <a:moveTo>
                    <a:pt x="122512" y="357882"/>
                  </a:moveTo>
                  <a:lnTo>
                    <a:pt x="178947" y="357882"/>
                  </a:lnTo>
                  <a:lnTo>
                    <a:pt x="178947" y="13800"/>
                  </a:lnTo>
                  <a:cubicBezTo>
                    <a:pt x="167437" y="5141"/>
                    <a:pt x="153134" y="0"/>
                    <a:pt x="137653" y="0"/>
                  </a:cubicBezTo>
                  <a:cubicBezTo>
                    <a:pt x="122171" y="0"/>
                    <a:pt x="107870" y="5142"/>
                    <a:pt x="96359" y="13802"/>
                  </a:cubicBezTo>
                  <a:lnTo>
                    <a:pt x="96359" y="123882"/>
                  </a:lnTo>
                  <a:lnTo>
                    <a:pt x="68829" y="123882"/>
                  </a:lnTo>
                  <a:lnTo>
                    <a:pt x="68829" y="68824"/>
                  </a:lnTo>
                  <a:cubicBezTo>
                    <a:pt x="3437" y="68824"/>
                    <a:pt x="-25538" y="152809"/>
                    <a:pt x="27583" y="192706"/>
                  </a:cubicBezTo>
                  <a:cubicBezTo>
                    <a:pt x="-22453" y="230284"/>
                    <a:pt x="-284" y="309559"/>
                    <a:pt x="61432" y="316184"/>
                  </a:cubicBezTo>
                  <a:lnTo>
                    <a:pt x="97752" y="241729"/>
                  </a:lnTo>
                  <a:lnTo>
                    <a:pt x="122494" y="253798"/>
                  </a:lnTo>
                  <a:lnTo>
                    <a:pt x="81814" y="337193"/>
                  </a:lnTo>
                  <a:cubicBezTo>
                    <a:pt x="90856" y="349578"/>
                    <a:pt x="104918" y="357212"/>
                    <a:pt x="120302" y="357836"/>
                  </a:cubicBezTo>
                  <a:cubicBezTo>
                    <a:pt x="121034" y="357868"/>
                    <a:pt x="121771" y="357882"/>
                    <a:pt x="122512" y="35788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5" name="Google Shape;1125;p63"/>
            <p:cNvSpPr/>
            <p:nvPr/>
          </p:nvSpPr>
          <p:spPr>
            <a:xfrm>
              <a:off x="11058818" y="3132107"/>
              <a:ext cx="178947" cy="357884"/>
            </a:xfrm>
            <a:custGeom>
              <a:rect b="b" l="l" r="r" t="t"/>
              <a:pathLst>
                <a:path extrusionOk="0" h="357884" w="178947">
                  <a:moveTo>
                    <a:pt x="151364" y="192706"/>
                  </a:moveTo>
                  <a:cubicBezTo>
                    <a:pt x="204491" y="152805"/>
                    <a:pt x="175499" y="68824"/>
                    <a:pt x="110118" y="68824"/>
                  </a:cubicBezTo>
                  <a:lnTo>
                    <a:pt x="110118" y="123882"/>
                  </a:lnTo>
                  <a:lnTo>
                    <a:pt x="82588" y="123882"/>
                  </a:lnTo>
                  <a:lnTo>
                    <a:pt x="82588" y="13802"/>
                  </a:lnTo>
                  <a:cubicBezTo>
                    <a:pt x="71077" y="5142"/>
                    <a:pt x="56776" y="0"/>
                    <a:pt x="41294" y="0"/>
                  </a:cubicBezTo>
                  <a:cubicBezTo>
                    <a:pt x="25812" y="0"/>
                    <a:pt x="11510" y="5141"/>
                    <a:pt x="0" y="13800"/>
                  </a:cubicBezTo>
                  <a:lnTo>
                    <a:pt x="0" y="357882"/>
                  </a:lnTo>
                  <a:cubicBezTo>
                    <a:pt x="52275" y="357870"/>
                    <a:pt x="50176" y="357913"/>
                    <a:pt x="52069" y="357848"/>
                  </a:cubicBezTo>
                  <a:cubicBezTo>
                    <a:pt x="72238" y="357168"/>
                    <a:pt x="90841" y="345725"/>
                    <a:pt x="100558" y="327163"/>
                  </a:cubicBezTo>
                  <a:lnTo>
                    <a:pt x="57031" y="254864"/>
                  </a:lnTo>
                  <a:lnTo>
                    <a:pt x="80615" y="240665"/>
                  </a:lnTo>
                  <a:lnTo>
                    <a:pt x="125295" y="314881"/>
                  </a:lnTo>
                  <a:cubicBezTo>
                    <a:pt x="182231" y="302011"/>
                    <a:pt x="198416" y="228044"/>
                    <a:pt x="151364" y="19270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26" name="Google Shape;1126;p63"/>
          <p:cNvGrpSpPr/>
          <p:nvPr/>
        </p:nvGrpSpPr>
        <p:grpSpPr>
          <a:xfrm>
            <a:off x="4441528" y="1739903"/>
            <a:ext cx="298469" cy="321001"/>
            <a:chOff x="6459636" y="3132107"/>
            <a:chExt cx="435150" cy="468000"/>
          </a:xfrm>
        </p:grpSpPr>
        <p:sp>
          <p:nvSpPr>
            <p:cNvPr id="1127" name="Google Shape;1127;p63"/>
            <p:cNvSpPr/>
            <p:nvPr/>
          </p:nvSpPr>
          <p:spPr>
            <a:xfrm>
              <a:off x="6459636" y="3132107"/>
              <a:ext cx="385411" cy="468000"/>
            </a:xfrm>
            <a:custGeom>
              <a:rect b="b" l="l" r="r" t="t"/>
              <a:pathLst>
                <a:path extrusionOk="0" h="468000" w="385411">
                  <a:moveTo>
                    <a:pt x="385412" y="0"/>
                  </a:moveTo>
                  <a:lnTo>
                    <a:pt x="0" y="0"/>
                  </a:lnTo>
                  <a:lnTo>
                    <a:pt x="0" y="426706"/>
                  </a:lnTo>
                  <a:cubicBezTo>
                    <a:pt x="0" y="449512"/>
                    <a:pt x="18487" y="468000"/>
                    <a:pt x="41293" y="468000"/>
                  </a:cubicBezTo>
                  <a:lnTo>
                    <a:pt x="41294" y="468000"/>
                  </a:lnTo>
                  <a:cubicBezTo>
                    <a:pt x="64100" y="468000"/>
                    <a:pt x="82588" y="449512"/>
                    <a:pt x="82588" y="426706"/>
                  </a:cubicBezTo>
                  <a:lnTo>
                    <a:pt x="82588" y="385412"/>
                  </a:lnTo>
                  <a:lnTo>
                    <a:pt x="385412" y="385412"/>
                  </a:lnTo>
                  <a:close/>
                  <a:moveTo>
                    <a:pt x="55059" y="192706"/>
                  </a:moveTo>
                  <a:lnTo>
                    <a:pt x="192706" y="192706"/>
                  </a:lnTo>
                  <a:lnTo>
                    <a:pt x="192706" y="220235"/>
                  </a:lnTo>
                  <a:lnTo>
                    <a:pt x="55059" y="220235"/>
                  </a:lnTo>
                  <a:close/>
                  <a:moveTo>
                    <a:pt x="55059" y="247765"/>
                  </a:moveTo>
                  <a:lnTo>
                    <a:pt x="192706" y="247765"/>
                  </a:lnTo>
                  <a:lnTo>
                    <a:pt x="192706" y="275294"/>
                  </a:lnTo>
                  <a:lnTo>
                    <a:pt x="55059" y="275294"/>
                  </a:lnTo>
                  <a:close/>
                  <a:moveTo>
                    <a:pt x="330353" y="330353"/>
                  </a:moveTo>
                  <a:lnTo>
                    <a:pt x="55059" y="330353"/>
                  </a:lnTo>
                  <a:lnTo>
                    <a:pt x="55059" y="302824"/>
                  </a:lnTo>
                  <a:lnTo>
                    <a:pt x="330353" y="302824"/>
                  </a:lnTo>
                  <a:close/>
                  <a:moveTo>
                    <a:pt x="330353" y="275294"/>
                  </a:moveTo>
                  <a:lnTo>
                    <a:pt x="220235" y="275294"/>
                  </a:lnTo>
                  <a:lnTo>
                    <a:pt x="220235" y="247765"/>
                  </a:lnTo>
                  <a:lnTo>
                    <a:pt x="330353" y="247765"/>
                  </a:lnTo>
                  <a:close/>
                  <a:moveTo>
                    <a:pt x="330353" y="220235"/>
                  </a:moveTo>
                  <a:lnTo>
                    <a:pt x="220235" y="220235"/>
                  </a:lnTo>
                  <a:lnTo>
                    <a:pt x="220235" y="192706"/>
                  </a:lnTo>
                  <a:lnTo>
                    <a:pt x="330353" y="192706"/>
                  </a:lnTo>
                  <a:close/>
                  <a:moveTo>
                    <a:pt x="330353" y="165176"/>
                  </a:moveTo>
                  <a:lnTo>
                    <a:pt x="55059" y="165176"/>
                  </a:lnTo>
                  <a:lnTo>
                    <a:pt x="55059" y="55059"/>
                  </a:lnTo>
                  <a:lnTo>
                    <a:pt x="330353" y="5505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8" name="Google Shape;1128;p63"/>
            <p:cNvSpPr/>
            <p:nvPr/>
          </p:nvSpPr>
          <p:spPr>
            <a:xfrm>
              <a:off x="6542224" y="3214695"/>
              <a:ext cx="220235" cy="55058"/>
            </a:xfrm>
            <a:custGeom>
              <a:rect b="b" l="l" r="r" t="t"/>
              <a:pathLst>
                <a:path extrusionOk="0" h="55058" w="220235">
                  <a:moveTo>
                    <a:pt x="0" y="0"/>
                  </a:moveTo>
                  <a:lnTo>
                    <a:pt x="220235" y="0"/>
                  </a:lnTo>
                  <a:lnTo>
                    <a:pt x="220235" y="55059"/>
                  </a:lnTo>
                  <a:lnTo>
                    <a:pt x="0" y="5505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9" name="Google Shape;1129;p63"/>
            <p:cNvSpPr/>
            <p:nvPr/>
          </p:nvSpPr>
          <p:spPr>
            <a:xfrm>
              <a:off x="6555950" y="3545048"/>
              <a:ext cx="338836" cy="55058"/>
            </a:xfrm>
            <a:custGeom>
              <a:rect b="b" l="l" r="r" t="t"/>
              <a:pathLst>
                <a:path extrusionOk="0" h="55058" w="338836">
                  <a:moveTo>
                    <a:pt x="13803" y="0"/>
                  </a:moveTo>
                  <a:cubicBezTo>
                    <a:pt x="12887" y="7750"/>
                    <a:pt x="18062" y="31053"/>
                    <a:pt x="0" y="55059"/>
                  </a:cubicBezTo>
                  <a:lnTo>
                    <a:pt x="259579" y="55059"/>
                  </a:lnTo>
                  <a:cubicBezTo>
                    <a:pt x="295837" y="55059"/>
                    <a:pt x="326835" y="32123"/>
                    <a:pt x="338837" y="0"/>
                  </a:cubicBezTo>
                  <a:cubicBezTo>
                    <a:pt x="314983" y="0"/>
                    <a:pt x="29052" y="0"/>
                    <a:pt x="138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30" name="Google Shape;1130;p63"/>
          <p:cNvGrpSpPr/>
          <p:nvPr/>
        </p:nvGrpSpPr>
        <p:grpSpPr>
          <a:xfrm>
            <a:off x="7023424" y="1739927"/>
            <a:ext cx="308722" cy="321001"/>
            <a:chOff x="6452162" y="2083279"/>
            <a:chExt cx="450098" cy="468000"/>
          </a:xfrm>
        </p:grpSpPr>
        <p:sp>
          <p:nvSpPr>
            <p:cNvPr id="1131" name="Google Shape;1131;p63"/>
            <p:cNvSpPr/>
            <p:nvPr/>
          </p:nvSpPr>
          <p:spPr>
            <a:xfrm>
              <a:off x="6589808" y="2399867"/>
              <a:ext cx="96352" cy="123882"/>
            </a:xfrm>
            <a:custGeom>
              <a:rect b="b" l="l" r="r" t="t"/>
              <a:pathLst>
                <a:path extrusionOk="0" h="123882" w="96352">
                  <a:moveTo>
                    <a:pt x="0" y="0"/>
                  </a:moveTo>
                  <a:lnTo>
                    <a:pt x="0" y="123882"/>
                  </a:lnTo>
                  <a:lnTo>
                    <a:pt x="963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2" name="Google Shape;1132;p63"/>
            <p:cNvSpPr/>
            <p:nvPr/>
          </p:nvSpPr>
          <p:spPr>
            <a:xfrm>
              <a:off x="6624685" y="2248455"/>
              <a:ext cx="277575" cy="275294"/>
            </a:xfrm>
            <a:custGeom>
              <a:rect b="b" l="l" r="r" t="t"/>
              <a:pathLst>
                <a:path extrusionOk="0" h="275294" w="277575">
                  <a:moveTo>
                    <a:pt x="277575" y="0"/>
                  </a:moveTo>
                  <a:lnTo>
                    <a:pt x="130299" y="0"/>
                  </a:lnTo>
                  <a:lnTo>
                    <a:pt x="130299" y="151412"/>
                  </a:lnTo>
                  <a:lnTo>
                    <a:pt x="96352" y="151412"/>
                  </a:lnTo>
                  <a:lnTo>
                    <a:pt x="0" y="275294"/>
                  </a:lnTo>
                  <a:lnTo>
                    <a:pt x="277575" y="275294"/>
                  </a:lnTo>
                  <a:lnTo>
                    <a:pt x="201104" y="13764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3" name="Google Shape;1133;p63"/>
            <p:cNvSpPr/>
            <p:nvPr/>
          </p:nvSpPr>
          <p:spPr>
            <a:xfrm>
              <a:off x="6548514" y="2165867"/>
              <a:ext cx="178941" cy="206718"/>
            </a:xfrm>
            <a:custGeom>
              <a:rect b="b" l="l" r="r" t="t"/>
              <a:pathLst>
                <a:path extrusionOk="0" h="206718" w="178941">
                  <a:moveTo>
                    <a:pt x="178941" y="206718"/>
                  </a:moveTo>
                  <a:cubicBezTo>
                    <a:pt x="178941" y="197165"/>
                    <a:pt x="178941" y="9554"/>
                    <a:pt x="178941" y="0"/>
                  </a:cubicBezTo>
                  <a:lnTo>
                    <a:pt x="0" y="0"/>
                  </a:lnTo>
                  <a:lnTo>
                    <a:pt x="0" y="20671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4" name="Google Shape;1134;p63"/>
            <p:cNvSpPr/>
            <p:nvPr/>
          </p:nvSpPr>
          <p:spPr>
            <a:xfrm>
              <a:off x="6452162" y="2083279"/>
              <a:ext cx="82588" cy="468000"/>
            </a:xfrm>
            <a:custGeom>
              <a:rect b="b" l="l" r="r" t="t"/>
              <a:pathLst>
                <a:path extrusionOk="0" h="468000" w="82588">
                  <a:moveTo>
                    <a:pt x="41294" y="0"/>
                  </a:moveTo>
                  <a:cubicBezTo>
                    <a:pt x="18525" y="0"/>
                    <a:pt x="0" y="18525"/>
                    <a:pt x="0" y="41294"/>
                  </a:cubicBezTo>
                  <a:cubicBezTo>
                    <a:pt x="0" y="53027"/>
                    <a:pt x="5017" y="64245"/>
                    <a:pt x="13764" y="72072"/>
                  </a:cubicBezTo>
                  <a:lnTo>
                    <a:pt x="13765" y="72072"/>
                  </a:lnTo>
                  <a:lnTo>
                    <a:pt x="13765" y="468000"/>
                  </a:lnTo>
                  <a:lnTo>
                    <a:pt x="68824" y="468000"/>
                  </a:lnTo>
                  <a:lnTo>
                    <a:pt x="68824" y="72072"/>
                  </a:lnTo>
                  <a:lnTo>
                    <a:pt x="68824" y="72071"/>
                  </a:lnTo>
                  <a:cubicBezTo>
                    <a:pt x="77571" y="64245"/>
                    <a:pt x="82588" y="53027"/>
                    <a:pt x="82588" y="41294"/>
                  </a:cubicBezTo>
                  <a:cubicBezTo>
                    <a:pt x="82588" y="18525"/>
                    <a:pt x="64063" y="0"/>
                    <a:pt x="412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35" name="Google Shape;1135;p63"/>
          <p:cNvSpPr txBox="1"/>
          <p:nvPr/>
        </p:nvSpPr>
        <p:spPr>
          <a:xfrm>
            <a:off x="969264" y="4700016"/>
            <a:ext cx="7223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29C7FE"/>
                </a:solidFill>
                <a:latin typeface="Roboto"/>
                <a:ea typeface="Roboto"/>
                <a:cs typeface="Roboto"/>
                <a:sym typeface="Roboto"/>
              </a:rPr>
              <a:t>CSP manages  •  Verifier checks  •  RP provides access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6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 sz="3100"/>
              <a:t>HOW </a:t>
            </a:r>
            <a:r>
              <a:rPr lang="en" sz="3100">
                <a:solidFill>
                  <a:schemeClr val="accent6"/>
                </a:solidFill>
              </a:rPr>
              <a:t>LOGIN WORKS</a:t>
            </a:r>
            <a:endParaRPr>
              <a:solidFill>
                <a:schemeClr val="accent6"/>
              </a:solidFill>
            </a:endParaRPr>
          </a:p>
        </p:txBody>
      </p:sp>
      <p:grpSp>
        <p:nvGrpSpPr>
          <p:cNvPr id="1141" name="Google Shape;1141;p64"/>
          <p:cNvGrpSpPr/>
          <p:nvPr/>
        </p:nvGrpSpPr>
        <p:grpSpPr>
          <a:xfrm>
            <a:off x="957387" y="1584984"/>
            <a:ext cx="1467300" cy="641109"/>
            <a:chOff x="854700" y="1584984"/>
            <a:chExt cx="1467300" cy="641109"/>
          </a:xfrm>
        </p:grpSpPr>
        <p:sp>
          <p:nvSpPr>
            <p:cNvPr id="1142" name="Google Shape;1142;p64"/>
            <p:cNvSpPr/>
            <p:nvPr/>
          </p:nvSpPr>
          <p:spPr>
            <a:xfrm rot="-2609770">
              <a:off x="1106998" y="2038562"/>
              <a:ext cx="155336" cy="155407"/>
            </a:xfrm>
            <a:custGeom>
              <a:rect b="b" l="l" r="r" t="t"/>
              <a:pathLst>
                <a:path extrusionOk="0" h="209740" w="209645">
                  <a:moveTo>
                    <a:pt x="209645" y="209741"/>
                  </a:moveTo>
                  <a:lnTo>
                    <a:pt x="0" y="209741"/>
                  </a:lnTo>
                  <a:lnTo>
                    <a:pt x="0" y="0"/>
                  </a:lnTo>
                  <a:lnTo>
                    <a:pt x="209645" y="20974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143" name="Google Shape;1143;p64"/>
            <p:cNvSpPr/>
            <p:nvPr/>
          </p:nvSpPr>
          <p:spPr>
            <a:xfrm rot="10800000">
              <a:off x="854700" y="1584984"/>
              <a:ext cx="1467300" cy="477900"/>
            </a:xfrm>
            <a:prstGeom prst="snipRoundRect">
              <a:avLst>
                <a:gd fmla="val 0" name="adj1"/>
                <a:gd fmla="val 40668" name="adj2"/>
              </a:avLst>
            </a:prstGeom>
            <a:noFill/>
            <a:ln cap="flat" cmpd="sng" w="9525">
              <a:solidFill>
                <a:schemeClr val="accent3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sp>
        <p:nvSpPr>
          <p:cNvPr id="1144" name="Google Shape;1144;p64"/>
          <p:cNvSpPr txBox="1"/>
          <p:nvPr/>
        </p:nvSpPr>
        <p:spPr>
          <a:xfrm>
            <a:off x="1147398" y="1627677"/>
            <a:ext cx="108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01</a:t>
            </a:r>
            <a:endParaRPr b="0" i="0" sz="1800" u="none" cap="none" strike="noStrike">
              <a:solidFill>
                <a:srgbClr val="FFFFFF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  <p:grpSp>
        <p:nvGrpSpPr>
          <p:cNvPr id="1145" name="Google Shape;1145;p64"/>
          <p:cNvGrpSpPr/>
          <p:nvPr/>
        </p:nvGrpSpPr>
        <p:grpSpPr>
          <a:xfrm>
            <a:off x="2798111" y="1584985"/>
            <a:ext cx="1467300" cy="641108"/>
            <a:chOff x="2798111" y="1584985"/>
            <a:chExt cx="1467300" cy="641108"/>
          </a:xfrm>
        </p:grpSpPr>
        <p:sp>
          <p:nvSpPr>
            <p:cNvPr id="1146" name="Google Shape;1146;p64"/>
            <p:cNvSpPr/>
            <p:nvPr/>
          </p:nvSpPr>
          <p:spPr>
            <a:xfrm rot="-2609770">
              <a:off x="3045128" y="2038562"/>
              <a:ext cx="155336" cy="155407"/>
            </a:xfrm>
            <a:custGeom>
              <a:rect b="b" l="l" r="r" t="t"/>
              <a:pathLst>
                <a:path extrusionOk="0" h="209740" w="209645">
                  <a:moveTo>
                    <a:pt x="209645" y="209741"/>
                  </a:moveTo>
                  <a:lnTo>
                    <a:pt x="0" y="209741"/>
                  </a:lnTo>
                  <a:lnTo>
                    <a:pt x="0" y="0"/>
                  </a:lnTo>
                  <a:lnTo>
                    <a:pt x="209645" y="20974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147" name="Google Shape;1147;p64"/>
            <p:cNvSpPr/>
            <p:nvPr/>
          </p:nvSpPr>
          <p:spPr>
            <a:xfrm rot="10800000">
              <a:off x="2798111" y="1584985"/>
              <a:ext cx="1467300" cy="477900"/>
            </a:xfrm>
            <a:prstGeom prst="snipRoundRect">
              <a:avLst>
                <a:gd fmla="val 0" name="adj1"/>
                <a:gd fmla="val 40668" name="adj2"/>
              </a:avLst>
            </a:prstGeom>
            <a:noFill/>
            <a:ln cap="flat" cmpd="sng" w="9525">
              <a:solidFill>
                <a:schemeClr val="accent3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sp>
        <p:nvSpPr>
          <p:cNvPr id="1148" name="Google Shape;1148;p64"/>
          <p:cNvSpPr txBox="1"/>
          <p:nvPr/>
        </p:nvSpPr>
        <p:spPr>
          <a:xfrm>
            <a:off x="3012971" y="1627677"/>
            <a:ext cx="108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02</a:t>
            </a:r>
            <a:endParaRPr b="0" i="0" sz="1800" u="none" cap="none" strike="noStrike">
              <a:solidFill>
                <a:srgbClr val="FFFFFF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  <p:grpSp>
        <p:nvGrpSpPr>
          <p:cNvPr id="1149" name="Google Shape;1149;p64"/>
          <p:cNvGrpSpPr/>
          <p:nvPr/>
        </p:nvGrpSpPr>
        <p:grpSpPr>
          <a:xfrm>
            <a:off x="4741522" y="1584985"/>
            <a:ext cx="1467300" cy="641108"/>
            <a:chOff x="4741522" y="1584985"/>
            <a:chExt cx="1467300" cy="641108"/>
          </a:xfrm>
        </p:grpSpPr>
        <p:sp>
          <p:nvSpPr>
            <p:cNvPr id="1150" name="Google Shape;1150;p64"/>
            <p:cNvSpPr/>
            <p:nvPr/>
          </p:nvSpPr>
          <p:spPr>
            <a:xfrm rot="-2609770">
              <a:off x="4988540" y="2038562"/>
              <a:ext cx="155336" cy="155407"/>
            </a:xfrm>
            <a:custGeom>
              <a:rect b="b" l="l" r="r" t="t"/>
              <a:pathLst>
                <a:path extrusionOk="0" h="209740" w="209645">
                  <a:moveTo>
                    <a:pt x="209645" y="209741"/>
                  </a:moveTo>
                  <a:lnTo>
                    <a:pt x="0" y="209741"/>
                  </a:lnTo>
                  <a:lnTo>
                    <a:pt x="0" y="0"/>
                  </a:lnTo>
                  <a:lnTo>
                    <a:pt x="209645" y="20974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151" name="Google Shape;1151;p64"/>
            <p:cNvSpPr/>
            <p:nvPr/>
          </p:nvSpPr>
          <p:spPr>
            <a:xfrm rot="10800000">
              <a:off x="4741522" y="1584985"/>
              <a:ext cx="1467300" cy="477900"/>
            </a:xfrm>
            <a:prstGeom prst="snipRoundRect">
              <a:avLst>
                <a:gd fmla="val 0" name="adj1"/>
                <a:gd fmla="val 40668" name="adj2"/>
              </a:avLst>
            </a:prstGeom>
            <a:noFill/>
            <a:ln cap="flat" cmpd="sng" w="9525">
              <a:solidFill>
                <a:schemeClr val="accent3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sp>
        <p:nvSpPr>
          <p:cNvPr id="1152" name="Google Shape;1152;p64"/>
          <p:cNvSpPr txBox="1"/>
          <p:nvPr/>
        </p:nvSpPr>
        <p:spPr>
          <a:xfrm>
            <a:off x="4956383" y="1627677"/>
            <a:ext cx="108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03</a:t>
            </a:r>
            <a:endParaRPr b="0" i="0" sz="1800" u="none" cap="none" strike="noStrike">
              <a:solidFill>
                <a:srgbClr val="FFFFFF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  <p:grpSp>
        <p:nvGrpSpPr>
          <p:cNvPr id="1153" name="Google Shape;1153;p64"/>
          <p:cNvGrpSpPr/>
          <p:nvPr/>
        </p:nvGrpSpPr>
        <p:grpSpPr>
          <a:xfrm>
            <a:off x="6684933" y="1584985"/>
            <a:ext cx="1467300" cy="641108"/>
            <a:chOff x="6684933" y="1584985"/>
            <a:chExt cx="1467300" cy="641108"/>
          </a:xfrm>
        </p:grpSpPr>
        <p:sp>
          <p:nvSpPr>
            <p:cNvPr id="1154" name="Google Shape;1154;p64"/>
            <p:cNvSpPr/>
            <p:nvPr/>
          </p:nvSpPr>
          <p:spPr>
            <a:xfrm rot="-2609770">
              <a:off x="6931952" y="2038562"/>
              <a:ext cx="155336" cy="155407"/>
            </a:xfrm>
            <a:custGeom>
              <a:rect b="b" l="l" r="r" t="t"/>
              <a:pathLst>
                <a:path extrusionOk="0" h="209740" w="209645">
                  <a:moveTo>
                    <a:pt x="209645" y="209741"/>
                  </a:moveTo>
                  <a:lnTo>
                    <a:pt x="0" y="209741"/>
                  </a:lnTo>
                  <a:lnTo>
                    <a:pt x="0" y="0"/>
                  </a:lnTo>
                  <a:lnTo>
                    <a:pt x="209645" y="20974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155" name="Google Shape;1155;p64"/>
            <p:cNvSpPr/>
            <p:nvPr/>
          </p:nvSpPr>
          <p:spPr>
            <a:xfrm rot="10800000">
              <a:off x="6684933" y="1584985"/>
              <a:ext cx="1467300" cy="477900"/>
            </a:xfrm>
            <a:prstGeom prst="snipRoundRect">
              <a:avLst>
                <a:gd fmla="val 0" name="adj1"/>
                <a:gd fmla="val 40668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sp>
        <p:nvSpPr>
          <p:cNvPr id="1156" name="Google Shape;1156;p64"/>
          <p:cNvSpPr txBox="1"/>
          <p:nvPr/>
        </p:nvSpPr>
        <p:spPr>
          <a:xfrm>
            <a:off x="6899862" y="1655350"/>
            <a:ext cx="10872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04</a:t>
            </a:r>
            <a:endParaRPr b="0" i="0" sz="1800" u="none" cap="none" strike="noStrike">
              <a:solidFill>
                <a:srgbClr val="FFFFFF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  <p:cxnSp>
        <p:nvCxnSpPr>
          <p:cNvPr id="1157" name="Google Shape;1157;p64"/>
          <p:cNvCxnSpPr/>
          <p:nvPr/>
        </p:nvCxnSpPr>
        <p:spPr>
          <a:xfrm>
            <a:off x="1155720" y="2454527"/>
            <a:ext cx="5866200" cy="0"/>
          </a:xfrm>
          <a:prstGeom prst="straightConnector1">
            <a:avLst/>
          </a:prstGeom>
          <a:noFill/>
          <a:ln cap="rnd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8" name="Google Shape;1158;p64"/>
          <p:cNvSpPr/>
          <p:nvPr/>
        </p:nvSpPr>
        <p:spPr>
          <a:xfrm>
            <a:off x="5026938" y="2412802"/>
            <a:ext cx="91500" cy="91500"/>
          </a:xfrm>
          <a:prstGeom prst="diamond">
            <a:avLst/>
          </a:prstGeom>
          <a:solidFill>
            <a:srgbClr val="3C134D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159" name="Google Shape;1159;p64"/>
          <p:cNvSpPr/>
          <p:nvPr/>
        </p:nvSpPr>
        <p:spPr>
          <a:xfrm>
            <a:off x="3083486" y="2412802"/>
            <a:ext cx="91500" cy="91500"/>
          </a:xfrm>
          <a:prstGeom prst="diamond">
            <a:avLst/>
          </a:prstGeom>
          <a:solidFill>
            <a:srgbClr val="3C134D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160" name="Google Shape;1160;p64"/>
          <p:cNvSpPr/>
          <p:nvPr/>
        </p:nvSpPr>
        <p:spPr>
          <a:xfrm>
            <a:off x="1145314" y="2412802"/>
            <a:ext cx="91500" cy="91500"/>
          </a:xfrm>
          <a:prstGeom prst="diamond">
            <a:avLst/>
          </a:prstGeom>
          <a:solidFill>
            <a:srgbClr val="3C134D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161" name="Google Shape;1161;p64"/>
          <p:cNvSpPr/>
          <p:nvPr/>
        </p:nvSpPr>
        <p:spPr>
          <a:xfrm>
            <a:off x="6970390" y="2412802"/>
            <a:ext cx="91500" cy="91500"/>
          </a:xfrm>
          <a:prstGeom prst="diamond">
            <a:avLst/>
          </a:prstGeom>
          <a:solidFill>
            <a:srgbClr val="ED218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162" name="Google Shape;1162;p64"/>
          <p:cNvSpPr txBox="1"/>
          <p:nvPr/>
        </p:nvSpPr>
        <p:spPr>
          <a:xfrm>
            <a:off x="854313" y="2793200"/>
            <a:ext cx="1673400" cy="4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rPr>
              <a:t>REQUEST</a:t>
            </a:r>
            <a:endParaRPr b="0" i="0" sz="2400" u="none" cap="none" strike="noStrike">
              <a:solidFill>
                <a:schemeClr val="dk1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  <p:sp>
        <p:nvSpPr>
          <p:cNvPr id="1163" name="Google Shape;1163;p64"/>
          <p:cNvSpPr txBox="1"/>
          <p:nvPr/>
        </p:nvSpPr>
        <p:spPr>
          <a:xfrm>
            <a:off x="854300" y="3152425"/>
            <a:ext cx="16734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Student opens the portal and selects Sign in.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4" name="Google Shape;1164;p64"/>
          <p:cNvSpPr txBox="1"/>
          <p:nvPr/>
        </p:nvSpPr>
        <p:spPr>
          <a:xfrm>
            <a:off x="2795988" y="2793200"/>
            <a:ext cx="1673400" cy="4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rPr>
              <a:t>VERIFY</a:t>
            </a:r>
            <a:endParaRPr b="0" i="0" sz="2400" u="none" cap="none" strike="noStrike">
              <a:solidFill>
                <a:schemeClr val="dk1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  <p:sp>
        <p:nvSpPr>
          <p:cNvPr id="1165" name="Google Shape;1165;p64"/>
          <p:cNvSpPr txBox="1"/>
          <p:nvPr/>
        </p:nvSpPr>
        <p:spPr>
          <a:xfrm>
            <a:off x="2795975" y="3152425"/>
            <a:ext cx="16734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Verifier checks the registered authenticator.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6" name="Google Shape;1166;p64"/>
          <p:cNvSpPr txBox="1"/>
          <p:nvPr/>
        </p:nvSpPr>
        <p:spPr>
          <a:xfrm>
            <a:off x="4741138" y="2793200"/>
            <a:ext cx="1673400" cy="4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rPr>
              <a:t>TRUST</a:t>
            </a:r>
            <a:endParaRPr b="0" i="0" sz="2400" u="none" cap="none" strike="noStrike">
              <a:solidFill>
                <a:schemeClr val="dk1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  <p:sp>
        <p:nvSpPr>
          <p:cNvPr id="1167" name="Google Shape;1167;p64"/>
          <p:cNvSpPr txBox="1"/>
          <p:nvPr/>
        </p:nvSpPr>
        <p:spPr>
          <a:xfrm>
            <a:off x="4741125" y="3152425"/>
            <a:ext cx="16734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Identity service sends a trusted login result.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8" name="Google Shape;1168;p64"/>
          <p:cNvSpPr txBox="1"/>
          <p:nvPr/>
        </p:nvSpPr>
        <p:spPr>
          <a:xfrm>
            <a:off x="6686313" y="2793200"/>
            <a:ext cx="1673400" cy="4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rPr>
              <a:t>ACCESS</a:t>
            </a:r>
            <a:endParaRPr b="0" i="0" sz="2400" u="none" cap="none" strike="noStrike">
              <a:solidFill>
                <a:schemeClr val="dk1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  <p:sp>
        <p:nvSpPr>
          <p:cNvPr id="1169" name="Google Shape;1169;p64"/>
          <p:cNvSpPr txBox="1"/>
          <p:nvPr/>
        </p:nvSpPr>
        <p:spPr>
          <a:xfrm>
            <a:off x="6686300" y="3152425"/>
            <a:ext cx="16734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Portal validates it and applies permissions.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0" name="Google Shape;1170;p64"/>
          <p:cNvSpPr txBox="1"/>
          <p:nvPr/>
        </p:nvSpPr>
        <p:spPr>
          <a:xfrm>
            <a:off x="969264" y="4700016"/>
            <a:ext cx="7223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29C7FE"/>
                </a:solidFill>
                <a:latin typeface="Roboto"/>
                <a:ea typeface="Roboto"/>
                <a:cs typeface="Roboto"/>
                <a:sym typeface="Roboto"/>
              </a:rPr>
              <a:t>The CSP maintains the subscriber account and registered authenticators.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p6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 sz="3000"/>
              <a:t>CLOUD &amp; </a:t>
            </a:r>
            <a:r>
              <a:rPr lang="en" sz="3000">
                <a:solidFill>
                  <a:schemeClr val="accent6"/>
                </a:solidFill>
              </a:rPr>
              <a:t>HYBRID SYSTEMS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1176" name="Google Shape;1176;p65"/>
          <p:cNvSpPr txBox="1"/>
          <p:nvPr>
            <p:ph idx="3" type="subTitle"/>
          </p:nvPr>
        </p:nvSpPr>
        <p:spPr>
          <a:xfrm>
            <a:off x="2526588" y="1814000"/>
            <a:ext cx="5254500" cy="10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700"/>
              <a:t>Each user signs in separately. One trusted identity service can authenticate users for several cloud apps (relying parties).</a:t>
            </a:r>
            <a:endParaRPr/>
          </a:p>
        </p:txBody>
      </p:sp>
      <p:sp>
        <p:nvSpPr>
          <p:cNvPr id="1177" name="Google Shape;1177;p65"/>
          <p:cNvSpPr txBox="1"/>
          <p:nvPr>
            <p:ph idx="4" type="subTitle"/>
          </p:nvPr>
        </p:nvSpPr>
        <p:spPr>
          <a:xfrm>
            <a:off x="2526588" y="3417425"/>
            <a:ext cx="5254500" cy="10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700"/>
              <a:t>Cloud applications and internal servers can share a trusted login system. Example: a student portal and university records.</a:t>
            </a:r>
            <a:endParaRPr/>
          </a:p>
        </p:txBody>
      </p:sp>
      <p:sp>
        <p:nvSpPr>
          <p:cNvPr id="1178" name="Google Shape;1178;p65"/>
          <p:cNvSpPr txBox="1"/>
          <p:nvPr>
            <p:ph idx="1" type="subTitle"/>
          </p:nvPr>
        </p:nvSpPr>
        <p:spPr>
          <a:xfrm>
            <a:off x="2526588" y="1448200"/>
            <a:ext cx="5254500" cy="4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200"/>
              <a:t>MULTI-USER &amp; CLOUD</a:t>
            </a:r>
            <a:endParaRPr/>
          </a:p>
        </p:txBody>
      </p:sp>
      <p:sp>
        <p:nvSpPr>
          <p:cNvPr id="1179" name="Google Shape;1179;p65"/>
          <p:cNvSpPr txBox="1"/>
          <p:nvPr>
            <p:ph idx="2" type="subTitle"/>
          </p:nvPr>
        </p:nvSpPr>
        <p:spPr>
          <a:xfrm>
            <a:off x="2526588" y="3051625"/>
            <a:ext cx="5254500" cy="4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200"/>
              <a:t>HYBRID CLOUD</a:t>
            </a:r>
            <a:endParaRPr/>
          </a:p>
        </p:txBody>
      </p:sp>
      <p:grpSp>
        <p:nvGrpSpPr>
          <p:cNvPr id="1180" name="Google Shape;1180;p65"/>
          <p:cNvGrpSpPr/>
          <p:nvPr/>
        </p:nvGrpSpPr>
        <p:grpSpPr>
          <a:xfrm>
            <a:off x="1362913" y="3099675"/>
            <a:ext cx="975266" cy="959249"/>
            <a:chOff x="1235575" y="3099675"/>
            <a:chExt cx="975266" cy="959249"/>
          </a:xfrm>
        </p:grpSpPr>
        <p:sp>
          <p:nvSpPr>
            <p:cNvPr id="1181" name="Google Shape;1181;p65"/>
            <p:cNvSpPr/>
            <p:nvPr/>
          </p:nvSpPr>
          <p:spPr>
            <a:xfrm rot="10800000">
              <a:off x="1235575" y="3099675"/>
              <a:ext cx="825300" cy="845400"/>
            </a:xfrm>
            <a:prstGeom prst="snipRoundRect">
              <a:avLst>
                <a:gd fmla="val 0" name="adj1"/>
                <a:gd fmla="val 22422" name="adj2"/>
              </a:avLst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accent3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182" name="Google Shape;1182;p65"/>
            <p:cNvSpPr/>
            <p:nvPr/>
          </p:nvSpPr>
          <p:spPr>
            <a:xfrm rot="-8100000">
              <a:off x="2068562" y="3153902"/>
              <a:ext cx="117852" cy="117905"/>
            </a:xfrm>
            <a:custGeom>
              <a:rect b="b" l="l" r="r" t="t"/>
              <a:pathLst>
                <a:path extrusionOk="0" h="209740" w="209645">
                  <a:moveTo>
                    <a:pt x="209645" y="209741"/>
                  </a:moveTo>
                  <a:lnTo>
                    <a:pt x="0" y="209741"/>
                  </a:lnTo>
                  <a:lnTo>
                    <a:pt x="0" y="0"/>
                  </a:lnTo>
                  <a:lnTo>
                    <a:pt x="209645" y="209741"/>
                  </a:lnTo>
                  <a:close/>
                </a:path>
              </a:pathLst>
            </a:custGeom>
            <a:solidFill>
              <a:schemeClr val="accent6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183" name="Google Shape;1183;p65"/>
            <p:cNvSpPr/>
            <p:nvPr/>
          </p:nvSpPr>
          <p:spPr>
            <a:xfrm rot="5400000">
              <a:off x="1424512" y="3967459"/>
              <a:ext cx="91479" cy="91450"/>
            </a:xfrm>
            <a:custGeom>
              <a:rect b="b" l="l" r="r" t="t"/>
              <a:pathLst>
                <a:path extrusionOk="0" h="48386" w="39052">
                  <a:moveTo>
                    <a:pt x="-649" y="-121"/>
                  </a:moveTo>
                  <a:lnTo>
                    <a:pt x="38403" y="-121"/>
                  </a:lnTo>
                  <a:lnTo>
                    <a:pt x="38403" y="48266"/>
                  </a:lnTo>
                  <a:lnTo>
                    <a:pt x="-649" y="48266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1184" name="Google Shape;1184;p65"/>
          <p:cNvGrpSpPr/>
          <p:nvPr/>
        </p:nvGrpSpPr>
        <p:grpSpPr>
          <a:xfrm>
            <a:off x="1362913" y="1497900"/>
            <a:ext cx="975266" cy="966449"/>
            <a:chOff x="1235575" y="1497900"/>
            <a:chExt cx="975266" cy="966449"/>
          </a:xfrm>
        </p:grpSpPr>
        <p:sp>
          <p:nvSpPr>
            <p:cNvPr id="1185" name="Google Shape;1185;p65"/>
            <p:cNvSpPr/>
            <p:nvPr/>
          </p:nvSpPr>
          <p:spPr>
            <a:xfrm rot="10800000">
              <a:off x="1235575" y="1497900"/>
              <a:ext cx="825300" cy="845400"/>
            </a:xfrm>
            <a:prstGeom prst="snipRoundRect">
              <a:avLst>
                <a:gd fmla="val 0" name="adj1"/>
                <a:gd fmla="val 22422" name="adj2"/>
              </a:avLst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accent3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186" name="Google Shape;1186;p65"/>
            <p:cNvSpPr/>
            <p:nvPr/>
          </p:nvSpPr>
          <p:spPr>
            <a:xfrm rot="5400000">
              <a:off x="1424512" y="2372884"/>
              <a:ext cx="91479" cy="91450"/>
            </a:xfrm>
            <a:custGeom>
              <a:rect b="b" l="l" r="r" t="t"/>
              <a:pathLst>
                <a:path extrusionOk="0" h="48386" w="39052">
                  <a:moveTo>
                    <a:pt x="-649" y="-121"/>
                  </a:moveTo>
                  <a:lnTo>
                    <a:pt x="38403" y="-121"/>
                  </a:lnTo>
                  <a:lnTo>
                    <a:pt x="38403" y="48266"/>
                  </a:lnTo>
                  <a:lnTo>
                    <a:pt x="-649" y="48266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187" name="Google Shape;1187;p65"/>
            <p:cNvSpPr/>
            <p:nvPr/>
          </p:nvSpPr>
          <p:spPr>
            <a:xfrm rot="-8100000">
              <a:off x="2068562" y="1560077"/>
              <a:ext cx="117852" cy="117905"/>
            </a:xfrm>
            <a:custGeom>
              <a:rect b="b" l="l" r="r" t="t"/>
              <a:pathLst>
                <a:path extrusionOk="0" h="209740" w="209645">
                  <a:moveTo>
                    <a:pt x="209645" y="209741"/>
                  </a:moveTo>
                  <a:lnTo>
                    <a:pt x="0" y="209741"/>
                  </a:lnTo>
                  <a:lnTo>
                    <a:pt x="0" y="0"/>
                  </a:lnTo>
                  <a:lnTo>
                    <a:pt x="209645" y="209741"/>
                  </a:lnTo>
                  <a:close/>
                </a:path>
              </a:pathLst>
            </a:custGeom>
            <a:solidFill>
              <a:schemeClr val="accent6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1188" name="Google Shape;1188;p65"/>
          <p:cNvGrpSpPr/>
          <p:nvPr/>
        </p:nvGrpSpPr>
        <p:grpSpPr>
          <a:xfrm>
            <a:off x="1626923" y="1743296"/>
            <a:ext cx="320980" cy="321143"/>
            <a:chOff x="8627247" y="1034450"/>
            <a:chExt cx="467969" cy="468207"/>
          </a:xfrm>
        </p:grpSpPr>
        <p:sp>
          <p:nvSpPr>
            <p:cNvPr id="1189" name="Google Shape;1189;p65"/>
            <p:cNvSpPr/>
            <p:nvPr/>
          </p:nvSpPr>
          <p:spPr>
            <a:xfrm rot="-2700000">
              <a:off x="8759244" y="1278549"/>
              <a:ext cx="45533" cy="138792"/>
            </a:xfrm>
            <a:custGeom>
              <a:rect b="b" l="l" r="r" t="t"/>
              <a:pathLst>
                <a:path extrusionOk="0" h="138715" w="45508">
                  <a:moveTo>
                    <a:pt x="0" y="0"/>
                  </a:moveTo>
                  <a:lnTo>
                    <a:pt x="45508" y="0"/>
                  </a:lnTo>
                  <a:lnTo>
                    <a:pt x="45508" y="138715"/>
                  </a:lnTo>
                  <a:lnTo>
                    <a:pt x="0" y="13871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0" name="Google Shape;1190;p65"/>
            <p:cNvSpPr/>
            <p:nvPr/>
          </p:nvSpPr>
          <p:spPr>
            <a:xfrm>
              <a:off x="8723700" y="1076982"/>
              <a:ext cx="103062" cy="90603"/>
            </a:xfrm>
            <a:custGeom>
              <a:rect b="b" l="l" r="r" t="t"/>
              <a:pathLst>
                <a:path extrusionOk="0" h="90603" w="103062">
                  <a:moveTo>
                    <a:pt x="80008" y="37574"/>
                  </a:moveTo>
                  <a:cubicBezTo>
                    <a:pt x="87199" y="28610"/>
                    <a:pt x="94902" y="20112"/>
                    <a:pt x="103063" y="12114"/>
                  </a:cubicBezTo>
                  <a:lnTo>
                    <a:pt x="54605" y="0"/>
                  </a:lnTo>
                  <a:lnTo>
                    <a:pt x="0" y="54604"/>
                  </a:lnTo>
                  <a:lnTo>
                    <a:pt x="36000" y="9060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1" name="Google Shape;1191;p65"/>
            <p:cNvSpPr/>
            <p:nvPr/>
          </p:nvSpPr>
          <p:spPr>
            <a:xfrm>
              <a:off x="8962381" y="1303206"/>
              <a:ext cx="90604" cy="103062"/>
            </a:xfrm>
            <a:custGeom>
              <a:rect b="b" l="l" r="r" t="t"/>
              <a:pathLst>
                <a:path extrusionOk="0" h="103062" w="90604">
                  <a:moveTo>
                    <a:pt x="53029" y="23057"/>
                  </a:moveTo>
                  <a:lnTo>
                    <a:pt x="0" y="67063"/>
                  </a:lnTo>
                  <a:lnTo>
                    <a:pt x="35999" y="103063"/>
                  </a:lnTo>
                  <a:lnTo>
                    <a:pt x="90604" y="48457"/>
                  </a:lnTo>
                  <a:lnTo>
                    <a:pt x="78489" y="0"/>
                  </a:lnTo>
                  <a:cubicBezTo>
                    <a:pt x="70491" y="8161"/>
                    <a:pt x="61994" y="15865"/>
                    <a:pt x="53029" y="230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2" name="Google Shape;1192;p65"/>
            <p:cNvSpPr/>
            <p:nvPr/>
          </p:nvSpPr>
          <p:spPr>
            <a:xfrm rot="-2700000">
              <a:off x="8622561" y="1365479"/>
              <a:ext cx="99006" cy="27757"/>
            </a:xfrm>
            <a:custGeom>
              <a:rect b="b" l="l" r="r" t="t"/>
              <a:pathLst>
                <a:path extrusionOk="0" h="27742" w="98951">
                  <a:moveTo>
                    <a:pt x="0" y="0"/>
                  </a:moveTo>
                  <a:lnTo>
                    <a:pt x="98951" y="0"/>
                  </a:lnTo>
                  <a:lnTo>
                    <a:pt x="98951" y="27743"/>
                  </a:lnTo>
                  <a:lnTo>
                    <a:pt x="0" y="2774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3" name="Google Shape;1193;p65"/>
            <p:cNvSpPr/>
            <p:nvPr/>
          </p:nvSpPr>
          <p:spPr>
            <a:xfrm rot="-2700000">
              <a:off x="8638108" y="1414526"/>
              <a:ext cx="126765" cy="27757"/>
            </a:xfrm>
            <a:custGeom>
              <a:rect b="b" l="l" r="r" t="t"/>
              <a:pathLst>
                <a:path extrusionOk="0" h="27742" w="126695">
                  <a:moveTo>
                    <a:pt x="0" y="0"/>
                  </a:moveTo>
                  <a:lnTo>
                    <a:pt x="126695" y="0"/>
                  </a:lnTo>
                  <a:lnTo>
                    <a:pt x="126695" y="27743"/>
                  </a:lnTo>
                  <a:lnTo>
                    <a:pt x="0" y="2774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4" name="Google Shape;1194;p65"/>
            <p:cNvSpPr/>
            <p:nvPr/>
          </p:nvSpPr>
          <p:spPr>
            <a:xfrm rot="-2700000">
              <a:off x="8701025" y="1443960"/>
              <a:ext cx="99007" cy="27757"/>
            </a:xfrm>
            <a:custGeom>
              <a:rect b="b" l="l" r="r" t="t"/>
              <a:pathLst>
                <a:path extrusionOk="0" h="27742" w="98952">
                  <a:moveTo>
                    <a:pt x="0" y="0"/>
                  </a:moveTo>
                  <a:lnTo>
                    <a:pt x="98952" y="0"/>
                  </a:lnTo>
                  <a:lnTo>
                    <a:pt x="98952" y="27743"/>
                  </a:lnTo>
                  <a:lnTo>
                    <a:pt x="0" y="2774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5" name="Google Shape;1195;p65"/>
            <p:cNvSpPr/>
            <p:nvPr/>
          </p:nvSpPr>
          <p:spPr>
            <a:xfrm>
              <a:off x="8891841" y="1182314"/>
              <a:ext cx="55487" cy="55506"/>
            </a:xfrm>
            <a:custGeom>
              <a:rect b="b" l="l" r="r" t="t"/>
              <a:pathLst>
                <a:path extrusionOk="0" h="55506" w="55487">
                  <a:moveTo>
                    <a:pt x="8133" y="8132"/>
                  </a:moveTo>
                  <a:cubicBezTo>
                    <a:pt x="-2711" y="18978"/>
                    <a:pt x="-2711" y="36528"/>
                    <a:pt x="8133" y="47372"/>
                  </a:cubicBezTo>
                  <a:cubicBezTo>
                    <a:pt x="18977" y="58217"/>
                    <a:pt x="36528" y="58218"/>
                    <a:pt x="47374" y="47372"/>
                  </a:cubicBezTo>
                  <a:lnTo>
                    <a:pt x="47374" y="47373"/>
                  </a:lnTo>
                  <a:cubicBezTo>
                    <a:pt x="58192" y="36555"/>
                    <a:pt x="58192" y="18952"/>
                    <a:pt x="47374" y="8132"/>
                  </a:cubicBezTo>
                  <a:cubicBezTo>
                    <a:pt x="36530" y="-2709"/>
                    <a:pt x="18979" y="-2712"/>
                    <a:pt x="8133" y="81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6" name="Google Shape;1196;p65"/>
            <p:cNvSpPr/>
            <p:nvPr/>
          </p:nvSpPr>
          <p:spPr>
            <a:xfrm>
              <a:off x="8967076" y="1034450"/>
              <a:ext cx="128140" cy="128135"/>
            </a:xfrm>
            <a:custGeom>
              <a:rect b="b" l="l" r="r" t="t"/>
              <a:pathLst>
                <a:path extrusionOk="0" h="128135" w="128140">
                  <a:moveTo>
                    <a:pt x="121268" y="6865"/>
                  </a:moveTo>
                  <a:cubicBezTo>
                    <a:pt x="115676" y="6306"/>
                    <a:pt x="65585" y="-8561"/>
                    <a:pt x="0" y="7277"/>
                  </a:cubicBezTo>
                  <a:lnTo>
                    <a:pt x="120859" y="128135"/>
                  </a:lnTo>
                  <a:cubicBezTo>
                    <a:pt x="136709" y="62498"/>
                    <a:pt x="121828" y="12473"/>
                    <a:pt x="121268" y="686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7" name="Google Shape;1197;p65"/>
            <p:cNvSpPr/>
            <p:nvPr/>
          </p:nvSpPr>
          <p:spPr>
            <a:xfrm>
              <a:off x="8739820" y="1050929"/>
              <a:ext cx="338912" cy="338911"/>
            </a:xfrm>
            <a:custGeom>
              <a:rect b="b" l="l" r="r" t="t"/>
              <a:pathLst>
                <a:path extrusionOk="0" h="338911" w="338912">
                  <a:moveTo>
                    <a:pt x="85084" y="81165"/>
                  </a:moveTo>
                  <a:lnTo>
                    <a:pt x="0" y="183691"/>
                  </a:lnTo>
                  <a:lnTo>
                    <a:pt x="155222" y="338912"/>
                  </a:lnTo>
                  <a:lnTo>
                    <a:pt x="257750" y="253828"/>
                  </a:lnTo>
                  <a:cubicBezTo>
                    <a:pt x="294446" y="224443"/>
                    <a:pt x="322468" y="185707"/>
                    <a:pt x="338912" y="141694"/>
                  </a:cubicBezTo>
                  <a:lnTo>
                    <a:pt x="197219" y="0"/>
                  </a:lnTo>
                  <a:cubicBezTo>
                    <a:pt x="153206" y="16446"/>
                    <a:pt x="114469" y="44468"/>
                    <a:pt x="85084" y="81165"/>
                  </a:cubicBezTo>
                  <a:close/>
                  <a:moveTo>
                    <a:pt x="219015" y="198377"/>
                  </a:moveTo>
                  <a:lnTo>
                    <a:pt x="219015" y="198378"/>
                  </a:lnTo>
                  <a:cubicBezTo>
                    <a:pt x="197329" y="220064"/>
                    <a:pt x="162225" y="220068"/>
                    <a:pt x="140534" y="198377"/>
                  </a:cubicBezTo>
                  <a:cubicBezTo>
                    <a:pt x="118847" y="176692"/>
                    <a:pt x="118843" y="141587"/>
                    <a:pt x="140534" y="119898"/>
                  </a:cubicBezTo>
                  <a:cubicBezTo>
                    <a:pt x="162220" y="98212"/>
                    <a:pt x="197324" y="98208"/>
                    <a:pt x="219015" y="119898"/>
                  </a:cubicBezTo>
                  <a:cubicBezTo>
                    <a:pt x="240652" y="141535"/>
                    <a:pt x="240652" y="176740"/>
                    <a:pt x="219015" y="19837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98" name="Google Shape;1198;p65"/>
          <p:cNvGrpSpPr/>
          <p:nvPr/>
        </p:nvGrpSpPr>
        <p:grpSpPr>
          <a:xfrm>
            <a:off x="1639128" y="3348020"/>
            <a:ext cx="296587" cy="321001"/>
            <a:chOff x="10828850" y="1034451"/>
            <a:chExt cx="432406" cy="467999"/>
          </a:xfrm>
        </p:grpSpPr>
        <p:sp>
          <p:nvSpPr>
            <p:cNvPr id="1199" name="Google Shape;1199;p65"/>
            <p:cNvSpPr/>
            <p:nvPr/>
          </p:nvSpPr>
          <p:spPr>
            <a:xfrm>
              <a:off x="10963040" y="1433627"/>
              <a:ext cx="164026" cy="68823"/>
            </a:xfrm>
            <a:custGeom>
              <a:rect b="b" l="l" r="r" t="t"/>
              <a:pathLst>
                <a:path extrusionOk="0" h="68823" w="164026">
                  <a:moveTo>
                    <a:pt x="15294" y="68824"/>
                  </a:moveTo>
                  <a:lnTo>
                    <a:pt x="148733" y="68824"/>
                  </a:lnTo>
                  <a:lnTo>
                    <a:pt x="1640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0" name="Google Shape;1200;p65"/>
            <p:cNvSpPr/>
            <p:nvPr/>
          </p:nvSpPr>
          <p:spPr>
            <a:xfrm>
              <a:off x="10976230" y="1034451"/>
              <a:ext cx="137647" cy="137647"/>
            </a:xfrm>
            <a:custGeom>
              <a:rect b="b" l="l" r="r" t="t"/>
              <a:pathLst>
                <a:path extrusionOk="0" h="137647" w="137647">
                  <a:moveTo>
                    <a:pt x="137647" y="68824"/>
                  </a:moveTo>
                  <a:cubicBezTo>
                    <a:pt x="137647" y="106834"/>
                    <a:pt x="106834" y="137647"/>
                    <a:pt x="68824" y="137647"/>
                  </a:cubicBezTo>
                  <a:cubicBezTo>
                    <a:pt x="30813" y="137647"/>
                    <a:pt x="0" y="106834"/>
                    <a:pt x="0" y="68824"/>
                  </a:cubicBezTo>
                  <a:cubicBezTo>
                    <a:pt x="0" y="30813"/>
                    <a:pt x="30813" y="0"/>
                    <a:pt x="68824" y="0"/>
                  </a:cubicBezTo>
                  <a:cubicBezTo>
                    <a:pt x="106834" y="0"/>
                    <a:pt x="137647" y="30813"/>
                    <a:pt x="137647" y="6882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1" name="Google Shape;1201;p65"/>
            <p:cNvSpPr/>
            <p:nvPr/>
          </p:nvSpPr>
          <p:spPr>
            <a:xfrm>
              <a:off x="11159203" y="1083808"/>
              <a:ext cx="102053" cy="184642"/>
            </a:xfrm>
            <a:custGeom>
              <a:rect b="b" l="l" r="r" t="t"/>
              <a:pathLst>
                <a:path extrusionOk="0" h="184642" w="102053">
                  <a:moveTo>
                    <a:pt x="51027" y="0"/>
                  </a:moveTo>
                  <a:lnTo>
                    <a:pt x="0" y="51028"/>
                  </a:lnTo>
                  <a:lnTo>
                    <a:pt x="19465" y="70493"/>
                  </a:lnTo>
                  <a:lnTo>
                    <a:pt x="37262" y="52697"/>
                  </a:lnTo>
                  <a:lnTo>
                    <a:pt x="37262" y="184643"/>
                  </a:lnTo>
                  <a:lnTo>
                    <a:pt x="64791" y="184643"/>
                  </a:lnTo>
                  <a:lnTo>
                    <a:pt x="64791" y="52697"/>
                  </a:lnTo>
                  <a:lnTo>
                    <a:pt x="82588" y="70493"/>
                  </a:lnTo>
                  <a:lnTo>
                    <a:pt x="102053" y="5102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2" name="Google Shape;1202;p65"/>
            <p:cNvSpPr/>
            <p:nvPr/>
          </p:nvSpPr>
          <p:spPr>
            <a:xfrm>
              <a:off x="10828850" y="1083808"/>
              <a:ext cx="102053" cy="184642"/>
            </a:xfrm>
            <a:custGeom>
              <a:rect b="b" l="l" r="r" t="t"/>
              <a:pathLst>
                <a:path extrusionOk="0" h="184642" w="102053">
                  <a:moveTo>
                    <a:pt x="0" y="51028"/>
                  </a:moveTo>
                  <a:lnTo>
                    <a:pt x="19465" y="70493"/>
                  </a:lnTo>
                  <a:lnTo>
                    <a:pt x="37262" y="52697"/>
                  </a:lnTo>
                  <a:lnTo>
                    <a:pt x="37262" y="184643"/>
                  </a:lnTo>
                  <a:lnTo>
                    <a:pt x="64791" y="184643"/>
                  </a:lnTo>
                  <a:lnTo>
                    <a:pt x="64791" y="52697"/>
                  </a:lnTo>
                  <a:lnTo>
                    <a:pt x="82588" y="70493"/>
                  </a:lnTo>
                  <a:lnTo>
                    <a:pt x="102053" y="51028"/>
                  </a:lnTo>
                  <a:lnTo>
                    <a:pt x="5102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3" name="Google Shape;1203;p65"/>
            <p:cNvSpPr/>
            <p:nvPr/>
          </p:nvSpPr>
          <p:spPr>
            <a:xfrm>
              <a:off x="10934936" y="1198640"/>
              <a:ext cx="220235" cy="207457"/>
            </a:xfrm>
            <a:custGeom>
              <a:rect b="b" l="l" r="r" t="t"/>
              <a:pathLst>
                <a:path extrusionOk="0" h="207457" w="220235">
                  <a:moveTo>
                    <a:pt x="123882" y="97340"/>
                  </a:moveTo>
                  <a:lnTo>
                    <a:pt x="148200" y="97340"/>
                  </a:lnTo>
                  <a:cubicBezTo>
                    <a:pt x="180382" y="97340"/>
                    <a:pt x="206471" y="71252"/>
                    <a:pt x="206471" y="39070"/>
                  </a:cubicBezTo>
                  <a:lnTo>
                    <a:pt x="206471" y="14752"/>
                  </a:lnTo>
                  <a:lnTo>
                    <a:pt x="182153" y="14752"/>
                  </a:lnTo>
                  <a:cubicBezTo>
                    <a:pt x="149971" y="14752"/>
                    <a:pt x="123882" y="40841"/>
                    <a:pt x="123882" y="73023"/>
                  </a:cubicBezTo>
                  <a:lnTo>
                    <a:pt x="123882" y="0"/>
                  </a:lnTo>
                  <a:cubicBezTo>
                    <a:pt x="114727" y="1316"/>
                    <a:pt x="105524" y="1318"/>
                    <a:pt x="96353" y="0"/>
                  </a:cubicBezTo>
                  <a:lnTo>
                    <a:pt x="96353" y="73023"/>
                  </a:lnTo>
                  <a:cubicBezTo>
                    <a:pt x="96353" y="40841"/>
                    <a:pt x="70264" y="14752"/>
                    <a:pt x="38082" y="14752"/>
                  </a:cubicBezTo>
                  <a:lnTo>
                    <a:pt x="13765" y="14752"/>
                  </a:lnTo>
                  <a:lnTo>
                    <a:pt x="13765" y="39070"/>
                  </a:lnTo>
                  <a:cubicBezTo>
                    <a:pt x="13765" y="71252"/>
                    <a:pt x="39853" y="97340"/>
                    <a:pt x="72035" y="97340"/>
                  </a:cubicBezTo>
                  <a:lnTo>
                    <a:pt x="96353" y="97340"/>
                  </a:lnTo>
                  <a:lnTo>
                    <a:pt x="96353" y="138634"/>
                  </a:lnTo>
                  <a:lnTo>
                    <a:pt x="0" y="138634"/>
                  </a:lnTo>
                  <a:lnTo>
                    <a:pt x="0" y="207458"/>
                  </a:lnTo>
                  <a:lnTo>
                    <a:pt x="220235" y="207458"/>
                  </a:lnTo>
                  <a:lnTo>
                    <a:pt x="220235" y="138634"/>
                  </a:lnTo>
                  <a:lnTo>
                    <a:pt x="123882" y="13863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04" name="Google Shape;1204;p65"/>
          <p:cNvSpPr txBox="1"/>
          <p:nvPr/>
        </p:nvSpPr>
        <p:spPr>
          <a:xfrm>
            <a:off x="969264" y="4700016"/>
            <a:ext cx="7223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29C7FE"/>
                </a:solidFill>
                <a:latin typeface="Roboto"/>
                <a:ea typeface="Roboto"/>
                <a:cs typeface="Roboto"/>
                <a:sym typeface="Roboto"/>
              </a:rPr>
              <a:t>Centralized login is useful—but it also creates a critical security dependency.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p66"/>
          <p:cNvSpPr txBox="1"/>
          <p:nvPr>
            <p:ph idx="3" type="subTitle"/>
          </p:nvPr>
        </p:nvSpPr>
        <p:spPr>
          <a:xfrm>
            <a:off x="719975" y="4024675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350"/>
              <a:t>Poor protection can expose tokens or login data.</a:t>
            </a:r>
            <a:endParaRPr/>
          </a:p>
        </p:txBody>
      </p:sp>
      <p:sp>
        <p:nvSpPr>
          <p:cNvPr id="1210" name="Google Shape;1210;p6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 sz="3300"/>
              <a:t>SECURITY </a:t>
            </a:r>
            <a:r>
              <a:rPr lang="en" sz="3300">
                <a:solidFill>
                  <a:schemeClr val="accent6"/>
                </a:solidFill>
              </a:rPr>
              <a:t>THREATS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1211" name="Google Shape;1211;p66"/>
          <p:cNvSpPr txBox="1"/>
          <p:nvPr>
            <p:ph idx="1" type="subTitle"/>
          </p:nvPr>
        </p:nvSpPr>
        <p:spPr>
          <a:xfrm>
            <a:off x="719975" y="2286475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350"/>
              <a:t>A breach may expose accounts and sign-in settings.</a:t>
            </a:r>
            <a:endParaRPr/>
          </a:p>
        </p:txBody>
      </p:sp>
      <p:sp>
        <p:nvSpPr>
          <p:cNvPr id="1212" name="Google Shape;1212;p66"/>
          <p:cNvSpPr txBox="1"/>
          <p:nvPr>
            <p:ph idx="2" type="subTitle"/>
          </p:nvPr>
        </p:nvSpPr>
        <p:spPr>
          <a:xfrm>
            <a:off x="3419244" y="2286475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350"/>
              <a:t>Stolen passwords or tokens can enable impersonation.</a:t>
            </a:r>
            <a:endParaRPr/>
          </a:p>
        </p:txBody>
      </p:sp>
      <p:sp>
        <p:nvSpPr>
          <p:cNvPr id="1213" name="Google Shape;1213;p66"/>
          <p:cNvSpPr txBox="1"/>
          <p:nvPr>
            <p:ph idx="4" type="subTitle"/>
          </p:nvPr>
        </p:nvSpPr>
        <p:spPr>
          <a:xfrm>
            <a:off x="3419244" y="4024675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350"/>
              <a:t>A hacked app may leak sessions or private records.</a:t>
            </a:r>
            <a:endParaRPr/>
          </a:p>
        </p:txBody>
      </p:sp>
      <p:sp>
        <p:nvSpPr>
          <p:cNvPr id="1214" name="Google Shape;1214;p66"/>
          <p:cNvSpPr txBox="1"/>
          <p:nvPr>
            <p:ph idx="5" type="subTitle"/>
          </p:nvPr>
        </p:nvSpPr>
        <p:spPr>
          <a:xfrm>
            <a:off x="6118520" y="2286475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350"/>
              <a:t>Poor authentication checks can allow illegal logins.</a:t>
            </a:r>
            <a:endParaRPr/>
          </a:p>
        </p:txBody>
      </p:sp>
      <p:sp>
        <p:nvSpPr>
          <p:cNvPr id="1215" name="Google Shape;1215;p66"/>
          <p:cNvSpPr txBox="1"/>
          <p:nvPr>
            <p:ph idx="6" type="subTitle"/>
          </p:nvPr>
        </p:nvSpPr>
        <p:spPr>
          <a:xfrm>
            <a:off x="6118520" y="4024675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350"/>
              <a:t>AI phishing, deepfakes and automated attacks raise risk.</a:t>
            </a:r>
            <a:endParaRPr/>
          </a:p>
        </p:txBody>
      </p:sp>
      <p:sp>
        <p:nvSpPr>
          <p:cNvPr id="1216" name="Google Shape;1216;p66"/>
          <p:cNvSpPr txBox="1"/>
          <p:nvPr>
            <p:ph idx="7" type="subTitle"/>
          </p:nvPr>
        </p:nvSpPr>
        <p:spPr>
          <a:xfrm>
            <a:off x="719975" y="1977275"/>
            <a:ext cx="23055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600"/>
              <a:t>COMPROMISED CSP</a:t>
            </a:r>
            <a:endParaRPr sz="2200">
              <a:latin typeface="Russo One"/>
              <a:ea typeface="Russo One"/>
              <a:cs typeface="Russo One"/>
              <a:sym typeface="Russo One"/>
            </a:endParaRPr>
          </a:p>
        </p:txBody>
      </p:sp>
      <p:sp>
        <p:nvSpPr>
          <p:cNvPr id="1217" name="Google Shape;1217;p66"/>
          <p:cNvSpPr txBox="1"/>
          <p:nvPr>
            <p:ph idx="8" type="subTitle"/>
          </p:nvPr>
        </p:nvSpPr>
        <p:spPr>
          <a:xfrm>
            <a:off x="3419244" y="1977275"/>
            <a:ext cx="23055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400"/>
              <a:t>STOLEN CREDENTIALS</a:t>
            </a:r>
            <a:endParaRPr sz="1400">
              <a:latin typeface="Russo One"/>
              <a:ea typeface="Russo One"/>
              <a:cs typeface="Russo One"/>
              <a:sym typeface="Russo One"/>
            </a:endParaRPr>
          </a:p>
        </p:txBody>
      </p:sp>
      <p:sp>
        <p:nvSpPr>
          <p:cNvPr id="1218" name="Google Shape;1218;p66"/>
          <p:cNvSpPr txBox="1"/>
          <p:nvPr>
            <p:ph idx="9" type="subTitle"/>
          </p:nvPr>
        </p:nvSpPr>
        <p:spPr>
          <a:xfrm>
            <a:off x="6118520" y="1977275"/>
            <a:ext cx="23055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500"/>
              <a:t>WEAK VERIFICATION</a:t>
            </a:r>
            <a:endParaRPr sz="1500">
              <a:latin typeface="Russo One"/>
              <a:ea typeface="Russo One"/>
              <a:cs typeface="Russo One"/>
              <a:sym typeface="Russo One"/>
            </a:endParaRPr>
          </a:p>
        </p:txBody>
      </p:sp>
      <p:sp>
        <p:nvSpPr>
          <p:cNvPr id="1219" name="Google Shape;1219;p66"/>
          <p:cNvSpPr txBox="1"/>
          <p:nvPr>
            <p:ph idx="13" type="subTitle"/>
          </p:nvPr>
        </p:nvSpPr>
        <p:spPr>
          <a:xfrm>
            <a:off x="719975" y="3785275"/>
            <a:ext cx="23055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400"/>
              <a:t>UNSAFE CONNECTIONS</a:t>
            </a:r>
            <a:endParaRPr sz="2100">
              <a:latin typeface="Russo One"/>
              <a:ea typeface="Russo One"/>
              <a:cs typeface="Russo One"/>
              <a:sym typeface="Russo One"/>
            </a:endParaRPr>
          </a:p>
        </p:txBody>
      </p:sp>
      <p:sp>
        <p:nvSpPr>
          <p:cNvPr id="1220" name="Google Shape;1220;p66"/>
          <p:cNvSpPr txBox="1"/>
          <p:nvPr>
            <p:ph idx="14" type="subTitle"/>
          </p:nvPr>
        </p:nvSpPr>
        <p:spPr>
          <a:xfrm>
            <a:off x="3419250" y="3715525"/>
            <a:ext cx="23055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700"/>
              <a:t>COMPROMISED RP</a:t>
            </a:r>
            <a:endParaRPr sz="2300">
              <a:latin typeface="Russo One"/>
              <a:ea typeface="Russo One"/>
              <a:cs typeface="Russo One"/>
              <a:sym typeface="Russo One"/>
            </a:endParaRPr>
          </a:p>
        </p:txBody>
      </p:sp>
      <p:sp>
        <p:nvSpPr>
          <p:cNvPr id="1221" name="Google Shape;1221;p66"/>
          <p:cNvSpPr txBox="1"/>
          <p:nvPr>
            <p:ph idx="15" type="subTitle"/>
          </p:nvPr>
        </p:nvSpPr>
        <p:spPr>
          <a:xfrm>
            <a:off x="6118525" y="3715525"/>
            <a:ext cx="23055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600"/>
              <a:t>AI-DRIVEN ATTACKS</a:t>
            </a:r>
            <a:endParaRPr sz="2200">
              <a:latin typeface="Russo One"/>
              <a:ea typeface="Russo One"/>
              <a:cs typeface="Russo One"/>
              <a:sym typeface="Russo One"/>
            </a:endParaRPr>
          </a:p>
        </p:txBody>
      </p:sp>
      <p:grpSp>
        <p:nvGrpSpPr>
          <p:cNvPr id="1222" name="Google Shape;1222;p66"/>
          <p:cNvGrpSpPr/>
          <p:nvPr/>
        </p:nvGrpSpPr>
        <p:grpSpPr>
          <a:xfrm>
            <a:off x="1561625" y="1251325"/>
            <a:ext cx="617800" cy="636755"/>
            <a:chOff x="1561625" y="1251325"/>
            <a:chExt cx="617800" cy="636755"/>
          </a:xfrm>
        </p:grpSpPr>
        <p:sp>
          <p:nvSpPr>
            <p:cNvPr id="1223" name="Google Shape;1223;p66"/>
            <p:cNvSpPr/>
            <p:nvPr/>
          </p:nvSpPr>
          <p:spPr>
            <a:xfrm rot="10800000">
              <a:off x="1563525" y="1251325"/>
              <a:ext cx="615900" cy="630900"/>
            </a:xfrm>
            <a:prstGeom prst="snipRoundRect">
              <a:avLst>
                <a:gd fmla="val 0" name="adj1"/>
                <a:gd fmla="val 26672" name="adj2"/>
              </a:avLst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accent3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224" name="Google Shape;1224;p66"/>
            <p:cNvSpPr/>
            <p:nvPr/>
          </p:nvSpPr>
          <p:spPr>
            <a:xfrm>
              <a:off x="1561625" y="1770101"/>
              <a:ext cx="117925" cy="117979"/>
            </a:xfrm>
            <a:custGeom>
              <a:rect b="b" l="l" r="r" t="t"/>
              <a:pathLst>
                <a:path extrusionOk="0" h="209740" w="209645">
                  <a:moveTo>
                    <a:pt x="209645" y="209741"/>
                  </a:moveTo>
                  <a:lnTo>
                    <a:pt x="0" y="209741"/>
                  </a:lnTo>
                  <a:lnTo>
                    <a:pt x="0" y="0"/>
                  </a:lnTo>
                  <a:lnTo>
                    <a:pt x="209645" y="209741"/>
                  </a:lnTo>
                  <a:close/>
                </a:path>
              </a:pathLst>
            </a:custGeom>
            <a:solidFill>
              <a:schemeClr val="accent6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1225" name="Google Shape;1225;p66"/>
          <p:cNvGrpSpPr/>
          <p:nvPr/>
        </p:nvGrpSpPr>
        <p:grpSpPr>
          <a:xfrm>
            <a:off x="4260900" y="1251325"/>
            <a:ext cx="617800" cy="636755"/>
            <a:chOff x="4260900" y="1251325"/>
            <a:chExt cx="617800" cy="636755"/>
          </a:xfrm>
        </p:grpSpPr>
        <p:sp>
          <p:nvSpPr>
            <p:cNvPr id="1226" name="Google Shape;1226;p66"/>
            <p:cNvSpPr/>
            <p:nvPr/>
          </p:nvSpPr>
          <p:spPr>
            <a:xfrm rot="10800000">
              <a:off x="4262800" y="1251325"/>
              <a:ext cx="615900" cy="630900"/>
            </a:xfrm>
            <a:prstGeom prst="snipRoundRect">
              <a:avLst>
                <a:gd fmla="val 0" name="adj1"/>
                <a:gd fmla="val 26672" name="adj2"/>
              </a:avLst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accent3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227" name="Google Shape;1227;p66"/>
            <p:cNvSpPr/>
            <p:nvPr/>
          </p:nvSpPr>
          <p:spPr>
            <a:xfrm>
              <a:off x="4260900" y="1770101"/>
              <a:ext cx="117925" cy="117979"/>
            </a:xfrm>
            <a:custGeom>
              <a:rect b="b" l="l" r="r" t="t"/>
              <a:pathLst>
                <a:path extrusionOk="0" h="209740" w="209645">
                  <a:moveTo>
                    <a:pt x="209645" y="209741"/>
                  </a:moveTo>
                  <a:lnTo>
                    <a:pt x="0" y="209741"/>
                  </a:lnTo>
                  <a:lnTo>
                    <a:pt x="0" y="0"/>
                  </a:lnTo>
                  <a:lnTo>
                    <a:pt x="209645" y="209741"/>
                  </a:lnTo>
                  <a:close/>
                </a:path>
              </a:pathLst>
            </a:custGeom>
            <a:solidFill>
              <a:schemeClr val="accent6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1228" name="Google Shape;1228;p66"/>
          <p:cNvGrpSpPr/>
          <p:nvPr/>
        </p:nvGrpSpPr>
        <p:grpSpPr>
          <a:xfrm>
            <a:off x="6960175" y="1251325"/>
            <a:ext cx="617800" cy="636755"/>
            <a:chOff x="6960175" y="1251325"/>
            <a:chExt cx="617800" cy="636755"/>
          </a:xfrm>
        </p:grpSpPr>
        <p:sp>
          <p:nvSpPr>
            <p:cNvPr id="1229" name="Google Shape;1229;p66"/>
            <p:cNvSpPr/>
            <p:nvPr/>
          </p:nvSpPr>
          <p:spPr>
            <a:xfrm rot="10800000">
              <a:off x="6962075" y="1251325"/>
              <a:ext cx="615900" cy="630900"/>
            </a:xfrm>
            <a:prstGeom prst="snipRoundRect">
              <a:avLst>
                <a:gd fmla="val 0" name="adj1"/>
                <a:gd fmla="val 26672" name="adj2"/>
              </a:avLst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accent3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230" name="Google Shape;1230;p66"/>
            <p:cNvSpPr/>
            <p:nvPr/>
          </p:nvSpPr>
          <p:spPr>
            <a:xfrm>
              <a:off x="6960175" y="1770101"/>
              <a:ext cx="117925" cy="117979"/>
            </a:xfrm>
            <a:custGeom>
              <a:rect b="b" l="l" r="r" t="t"/>
              <a:pathLst>
                <a:path extrusionOk="0" h="209740" w="209645">
                  <a:moveTo>
                    <a:pt x="209645" y="209741"/>
                  </a:moveTo>
                  <a:lnTo>
                    <a:pt x="0" y="209741"/>
                  </a:lnTo>
                  <a:lnTo>
                    <a:pt x="0" y="0"/>
                  </a:lnTo>
                  <a:lnTo>
                    <a:pt x="209645" y="209741"/>
                  </a:lnTo>
                  <a:close/>
                </a:path>
              </a:pathLst>
            </a:custGeom>
            <a:solidFill>
              <a:schemeClr val="accent6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1231" name="Google Shape;1231;p66"/>
          <p:cNvGrpSpPr/>
          <p:nvPr/>
        </p:nvGrpSpPr>
        <p:grpSpPr>
          <a:xfrm>
            <a:off x="1561625" y="3003925"/>
            <a:ext cx="617800" cy="636755"/>
            <a:chOff x="1561625" y="3003925"/>
            <a:chExt cx="617800" cy="636755"/>
          </a:xfrm>
        </p:grpSpPr>
        <p:sp>
          <p:nvSpPr>
            <p:cNvPr id="1232" name="Google Shape;1232;p66"/>
            <p:cNvSpPr/>
            <p:nvPr/>
          </p:nvSpPr>
          <p:spPr>
            <a:xfrm rot="10800000">
              <a:off x="1563525" y="3003925"/>
              <a:ext cx="615900" cy="630900"/>
            </a:xfrm>
            <a:prstGeom prst="snipRoundRect">
              <a:avLst>
                <a:gd fmla="val 0" name="adj1"/>
                <a:gd fmla="val 26672" name="adj2"/>
              </a:avLst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accent3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233" name="Google Shape;1233;p66"/>
            <p:cNvSpPr/>
            <p:nvPr/>
          </p:nvSpPr>
          <p:spPr>
            <a:xfrm>
              <a:off x="1561625" y="3522701"/>
              <a:ext cx="117925" cy="117979"/>
            </a:xfrm>
            <a:custGeom>
              <a:rect b="b" l="l" r="r" t="t"/>
              <a:pathLst>
                <a:path extrusionOk="0" h="209740" w="209645">
                  <a:moveTo>
                    <a:pt x="209645" y="209741"/>
                  </a:moveTo>
                  <a:lnTo>
                    <a:pt x="0" y="209741"/>
                  </a:lnTo>
                  <a:lnTo>
                    <a:pt x="0" y="0"/>
                  </a:lnTo>
                  <a:lnTo>
                    <a:pt x="209645" y="209741"/>
                  </a:lnTo>
                  <a:close/>
                </a:path>
              </a:pathLst>
            </a:custGeom>
            <a:solidFill>
              <a:schemeClr val="accent6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1234" name="Google Shape;1234;p66"/>
          <p:cNvGrpSpPr/>
          <p:nvPr/>
        </p:nvGrpSpPr>
        <p:grpSpPr>
          <a:xfrm>
            <a:off x="4260900" y="3003925"/>
            <a:ext cx="617800" cy="636755"/>
            <a:chOff x="4260900" y="3003925"/>
            <a:chExt cx="617800" cy="636755"/>
          </a:xfrm>
        </p:grpSpPr>
        <p:sp>
          <p:nvSpPr>
            <p:cNvPr id="1235" name="Google Shape;1235;p66"/>
            <p:cNvSpPr/>
            <p:nvPr/>
          </p:nvSpPr>
          <p:spPr>
            <a:xfrm rot="10800000">
              <a:off x="4262800" y="3003925"/>
              <a:ext cx="615900" cy="630900"/>
            </a:xfrm>
            <a:prstGeom prst="snipRoundRect">
              <a:avLst>
                <a:gd fmla="val 0" name="adj1"/>
                <a:gd fmla="val 26672" name="adj2"/>
              </a:avLst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accent3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236" name="Google Shape;1236;p66"/>
            <p:cNvSpPr/>
            <p:nvPr/>
          </p:nvSpPr>
          <p:spPr>
            <a:xfrm>
              <a:off x="4260900" y="3522701"/>
              <a:ext cx="117925" cy="117979"/>
            </a:xfrm>
            <a:custGeom>
              <a:rect b="b" l="l" r="r" t="t"/>
              <a:pathLst>
                <a:path extrusionOk="0" h="209740" w="209645">
                  <a:moveTo>
                    <a:pt x="209645" y="209741"/>
                  </a:moveTo>
                  <a:lnTo>
                    <a:pt x="0" y="209741"/>
                  </a:lnTo>
                  <a:lnTo>
                    <a:pt x="0" y="0"/>
                  </a:lnTo>
                  <a:lnTo>
                    <a:pt x="209645" y="209741"/>
                  </a:lnTo>
                  <a:close/>
                </a:path>
              </a:pathLst>
            </a:custGeom>
            <a:solidFill>
              <a:schemeClr val="accent6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1237" name="Google Shape;1237;p66"/>
          <p:cNvGrpSpPr/>
          <p:nvPr/>
        </p:nvGrpSpPr>
        <p:grpSpPr>
          <a:xfrm>
            <a:off x="6960175" y="3003925"/>
            <a:ext cx="617800" cy="636755"/>
            <a:chOff x="6960175" y="3003925"/>
            <a:chExt cx="617800" cy="636755"/>
          </a:xfrm>
        </p:grpSpPr>
        <p:sp>
          <p:nvSpPr>
            <p:cNvPr id="1238" name="Google Shape;1238;p66"/>
            <p:cNvSpPr/>
            <p:nvPr/>
          </p:nvSpPr>
          <p:spPr>
            <a:xfrm rot="10800000">
              <a:off x="6962075" y="3003925"/>
              <a:ext cx="615900" cy="630900"/>
            </a:xfrm>
            <a:prstGeom prst="snipRoundRect">
              <a:avLst>
                <a:gd fmla="val 0" name="adj1"/>
                <a:gd fmla="val 26672" name="adj2"/>
              </a:avLst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accent3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239" name="Google Shape;1239;p66"/>
            <p:cNvSpPr/>
            <p:nvPr/>
          </p:nvSpPr>
          <p:spPr>
            <a:xfrm>
              <a:off x="6960175" y="3522701"/>
              <a:ext cx="117925" cy="117979"/>
            </a:xfrm>
            <a:custGeom>
              <a:rect b="b" l="l" r="r" t="t"/>
              <a:pathLst>
                <a:path extrusionOk="0" h="209740" w="209645">
                  <a:moveTo>
                    <a:pt x="209645" y="209741"/>
                  </a:moveTo>
                  <a:lnTo>
                    <a:pt x="0" y="209741"/>
                  </a:lnTo>
                  <a:lnTo>
                    <a:pt x="0" y="0"/>
                  </a:lnTo>
                  <a:lnTo>
                    <a:pt x="209645" y="209741"/>
                  </a:lnTo>
                  <a:close/>
                </a:path>
              </a:pathLst>
            </a:custGeom>
            <a:solidFill>
              <a:schemeClr val="accent6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1240" name="Google Shape;1240;p66"/>
          <p:cNvGrpSpPr/>
          <p:nvPr/>
        </p:nvGrpSpPr>
        <p:grpSpPr>
          <a:xfrm>
            <a:off x="7134812" y="1409201"/>
            <a:ext cx="321033" cy="321002"/>
            <a:chOff x="9719092" y="5229786"/>
            <a:chExt cx="468047" cy="468001"/>
          </a:xfrm>
        </p:grpSpPr>
        <p:sp>
          <p:nvSpPr>
            <p:cNvPr id="1241" name="Google Shape;1241;p66"/>
            <p:cNvSpPr/>
            <p:nvPr/>
          </p:nvSpPr>
          <p:spPr>
            <a:xfrm>
              <a:off x="9801680" y="5367433"/>
              <a:ext cx="220235" cy="220235"/>
            </a:xfrm>
            <a:custGeom>
              <a:rect b="b" l="l" r="r" t="t"/>
              <a:pathLst>
                <a:path extrusionOk="0" h="220235" w="220235">
                  <a:moveTo>
                    <a:pt x="180654" y="67202"/>
                  </a:moveTo>
                  <a:cubicBezTo>
                    <a:pt x="188297" y="79717"/>
                    <a:pt x="192706" y="94412"/>
                    <a:pt x="192706" y="110119"/>
                  </a:cubicBezTo>
                  <a:cubicBezTo>
                    <a:pt x="192706" y="155658"/>
                    <a:pt x="155657" y="192707"/>
                    <a:pt x="110118" y="192707"/>
                  </a:cubicBezTo>
                  <a:cubicBezTo>
                    <a:pt x="64578" y="192707"/>
                    <a:pt x="27529" y="155658"/>
                    <a:pt x="27529" y="110119"/>
                  </a:cubicBezTo>
                  <a:cubicBezTo>
                    <a:pt x="27529" y="64579"/>
                    <a:pt x="64578" y="27530"/>
                    <a:pt x="110118" y="27530"/>
                  </a:cubicBezTo>
                  <a:cubicBezTo>
                    <a:pt x="130038" y="27530"/>
                    <a:pt x="148333" y="34620"/>
                    <a:pt x="162613" y="46407"/>
                  </a:cubicBezTo>
                  <a:lnTo>
                    <a:pt x="183623" y="28199"/>
                  </a:lnTo>
                  <a:cubicBezTo>
                    <a:pt x="164115" y="10678"/>
                    <a:pt x="138341" y="0"/>
                    <a:pt x="110118" y="0"/>
                  </a:cubicBezTo>
                  <a:cubicBezTo>
                    <a:pt x="49399" y="0"/>
                    <a:pt x="0" y="49399"/>
                    <a:pt x="0" y="110118"/>
                  </a:cubicBezTo>
                  <a:cubicBezTo>
                    <a:pt x="0" y="170837"/>
                    <a:pt x="49399" y="220235"/>
                    <a:pt x="110118" y="220235"/>
                  </a:cubicBezTo>
                  <a:cubicBezTo>
                    <a:pt x="170837" y="220235"/>
                    <a:pt x="220235" y="170837"/>
                    <a:pt x="220235" y="110118"/>
                  </a:cubicBezTo>
                  <a:cubicBezTo>
                    <a:pt x="220235" y="87519"/>
                    <a:pt x="213389" y="66490"/>
                    <a:pt x="201666" y="4899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2" name="Google Shape;1242;p66"/>
            <p:cNvSpPr/>
            <p:nvPr/>
          </p:nvSpPr>
          <p:spPr>
            <a:xfrm>
              <a:off x="9856739" y="5422492"/>
              <a:ext cx="110117" cy="110117"/>
            </a:xfrm>
            <a:custGeom>
              <a:rect b="b" l="l" r="r" t="t"/>
              <a:pathLst>
                <a:path extrusionOk="0" h="110117" w="110117">
                  <a:moveTo>
                    <a:pt x="55059" y="0"/>
                  </a:moveTo>
                  <a:cubicBezTo>
                    <a:pt x="24699" y="0"/>
                    <a:pt x="0" y="24699"/>
                    <a:pt x="0" y="55059"/>
                  </a:cubicBezTo>
                  <a:cubicBezTo>
                    <a:pt x="0" y="85418"/>
                    <a:pt x="24699" y="110118"/>
                    <a:pt x="55059" y="110118"/>
                  </a:cubicBezTo>
                  <a:cubicBezTo>
                    <a:pt x="85418" y="110118"/>
                    <a:pt x="110118" y="85418"/>
                    <a:pt x="110118" y="55059"/>
                  </a:cubicBezTo>
                  <a:cubicBezTo>
                    <a:pt x="110118" y="46260"/>
                    <a:pt x="108032" y="37943"/>
                    <a:pt x="104346" y="30559"/>
                  </a:cubicBezTo>
                  <a:lnTo>
                    <a:pt x="73089" y="57505"/>
                  </a:lnTo>
                  <a:lnTo>
                    <a:pt x="55059" y="36702"/>
                  </a:lnTo>
                  <a:lnTo>
                    <a:pt x="86307" y="9763"/>
                  </a:lnTo>
                  <a:cubicBezTo>
                    <a:pt x="77423" y="3615"/>
                    <a:pt x="66658" y="0"/>
                    <a:pt x="550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3" name="Google Shape;1243;p66"/>
            <p:cNvSpPr/>
            <p:nvPr/>
          </p:nvSpPr>
          <p:spPr>
            <a:xfrm>
              <a:off x="9719092" y="5284845"/>
              <a:ext cx="385420" cy="412942"/>
            </a:xfrm>
            <a:custGeom>
              <a:rect b="b" l="l" r="r" t="t"/>
              <a:pathLst>
                <a:path extrusionOk="0" h="412942" w="385420">
                  <a:moveTo>
                    <a:pt x="330353" y="192706"/>
                  </a:moveTo>
                  <a:cubicBezTo>
                    <a:pt x="330353" y="268604"/>
                    <a:pt x="268604" y="330353"/>
                    <a:pt x="192706" y="330353"/>
                  </a:cubicBezTo>
                  <a:cubicBezTo>
                    <a:pt x="116806" y="330353"/>
                    <a:pt x="55059" y="268604"/>
                    <a:pt x="55059" y="192706"/>
                  </a:cubicBezTo>
                  <a:cubicBezTo>
                    <a:pt x="55059" y="116806"/>
                    <a:pt x="116806" y="55059"/>
                    <a:pt x="192706" y="55059"/>
                  </a:cubicBezTo>
                  <a:cubicBezTo>
                    <a:pt x="229228" y="55059"/>
                    <a:pt x="262468" y="69361"/>
                    <a:pt x="287135" y="92653"/>
                  </a:cubicBezTo>
                  <a:lnTo>
                    <a:pt x="328876" y="56477"/>
                  </a:lnTo>
                  <a:cubicBezTo>
                    <a:pt x="293984" y="21601"/>
                    <a:pt x="245820" y="0"/>
                    <a:pt x="192706" y="0"/>
                  </a:cubicBezTo>
                  <a:cubicBezTo>
                    <a:pt x="86447" y="0"/>
                    <a:pt x="0" y="86447"/>
                    <a:pt x="0" y="192706"/>
                  </a:cubicBezTo>
                  <a:cubicBezTo>
                    <a:pt x="0" y="245092"/>
                    <a:pt x="21021" y="292652"/>
                    <a:pt x="55059" y="327424"/>
                  </a:cubicBezTo>
                  <a:lnTo>
                    <a:pt x="55059" y="412941"/>
                  </a:lnTo>
                  <a:lnTo>
                    <a:pt x="82588" y="412941"/>
                  </a:lnTo>
                  <a:lnTo>
                    <a:pt x="82588" y="350757"/>
                  </a:lnTo>
                  <a:cubicBezTo>
                    <a:pt x="113824" y="372586"/>
                    <a:pt x="151793" y="385413"/>
                    <a:pt x="192706" y="385413"/>
                  </a:cubicBezTo>
                  <a:cubicBezTo>
                    <a:pt x="233619" y="385413"/>
                    <a:pt x="271588" y="372586"/>
                    <a:pt x="302824" y="350757"/>
                  </a:cubicBezTo>
                  <a:lnTo>
                    <a:pt x="302824" y="412942"/>
                  </a:lnTo>
                  <a:lnTo>
                    <a:pt x="330353" y="412942"/>
                  </a:lnTo>
                  <a:lnTo>
                    <a:pt x="330353" y="327425"/>
                  </a:lnTo>
                  <a:cubicBezTo>
                    <a:pt x="397104" y="259235"/>
                    <a:pt x="403832" y="153112"/>
                    <a:pt x="346917" y="77271"/>
                  </a:cubicBezTo>
                  <a:lnTo>
                    <a:pt x="305179" y="113445"/>
                  </a:lnTo>
                  <a:cubicBezTo>
                    <a:pt x="321029" y="135870"/>
                    <a:pt x="330353" y="163218"/>
                    <a:pt x="330353" y="19270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4" name="Google Shape;1244;p66"/>
            <p:cNvSpPr/>
            <p:nvPr/>
          </p:nvSpPr>
          <p:spPr>
            <a:xfrm>
              <a:off x="10047968" y="5229786"/>
              <a:ext cx="139171" cy="132329"/>
            </a:xfrm>
            <a:custGeom>
              <a:rect b="b" l="l" r="r" t="t"/>
              <a:pathLst>
                <a:path extrusionOk="0" h="132329" w="139171">
                  <a:moveTo>
                    <a:pt x="84065" y="54873"/>
                  </a:moveTo>
                  <a:lnTo>
                    <a:pt x="84065" y="0"/>
                  </a:lnTo>
                  <a:lnTo>
                    <a:pt x="56535" y="0"/>
                  </a:lnTo>
                  <a:lnTo>
                    <a:pt x="56535" y="62538"/>
                  </a:lnTo>
                  <a:lnTo>
                    <a:pt x="0" y="111535"/>
                  </a:lnTo>
                  <a:cubicBezTo>
                    <a:pt x="6491" y="118025"/>
                    <a:pt x="12522" y="124975"/>
                    <a:pt x="18041" y="132329"/>
                  </a:cubicBezTo>
                  <a:lnTo>
                    <a:pt x="75682" y="82375"/>
                  </a:lnTo>
                  <a:lnTo>
                    <a:pt x="139078" y="82588"/>
                  </a:lnTo>
                  <a:lnTo>
                    <a:pt x="139171" y="5505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45" name="Google Shape;1245;p66"/>
          <p:cNvGrpSpPr/>
          <p:nvPr/>
        </p:nvGrpSpPr>
        <p:grpSpPr>
          <a:xfrm>
            <a:off x="7110765" y="3166524"/>
            <a:ext cx="321001" cy="311546"/>
            <a:chOff x="5351252" y="4187827"/>
            <a:chExt cx="468000" cy="454215"/>
          </a:xfrm>
        </p:grpSpPr>
        <p:sp>
          <p:nvSpPr>
            <p:cNvPr id="1246" name="Google Shape;1246;p66"/>
            <p:cNvSpPr/>
            <p:nvPr/>
          </p:nvSpPr>
          <p:spPr>
            <a:xfrm>
              <a:off x="5351252" y="4366748"/>
              <a:ext cx="468000" cy="275294"/>
            </a:xfrm>
            <a:custGeom>
              <a:rect b="b" l="l" r="r" t="t"/>
              <a:pathLst>
                <a:path extrusionOk="0" h="275294" w="468000">
                  <a:moveTo>
                    <a:pt x="440471" y="247765"/>
                  </a:moveTo>
                  <a:lnTo>
                    <a:pt x="440471" y="0"/>
                  </a:lnTo>
                  <a:lnTo>
                    <a:pt x="357882" y="0"/>
                  </a:lnTo>
                  <a:lnTo>
                    <a:pt x="357882" y="247765"/>
                  </a:lnTo>
                  <a:lnTo>
                    <a:pt x="330353" y="247765"/>
                  </a:lnTo>
                  <a:lnTo>
                    <a:pt x="330353" y="55059"/>
                  </a:lnTo>
                  <a:lnTo>
                    <a:pt x="247765" y="55059"/>
                  </a:lnTo>
                  <a:lnTo>
                    <a:pt x="247765" y="247765"/>
                  </a:lnTo>
                  <a:lnTo>
                    <a:pt x="220235" y="247765"/>
                  </a:lnTo>
                  <a:lnTo>
                    <a:pt x="220235" y="110118"/>
                  </a:lnTo>
                  <a:lnTo>
                    <a:pt x="137647" y="110118"/>
                  </a:lnTo>
                  <a:lnTo>
                    <a:pt x="137647" y="247765"/>
                  </a:lnTo>
                  <a:lnTo>
                    <a:pt x="110118" y="247765"/>
                  </a:lnTo>
                  <a:lnTo>
                    <a:pt x="110118" y="151412"/>
                  </a:lnTo>
                  <a:lnTo>
                    <a:pt x="27529" y="151412"/>
                  </a:lnTo>
                  <a:lnTo>
                    <a:pt x="27529" y="247765"/>
                  </a:lnTo>
                  <a:lnTo>
                    <a:pt x="0" y="247765"/>
                  </a:lnTo>
                  <a:lnTo>
                    <a:pt x="0" y="275294"/>
                  </a:lnTo>
                  <a:lnTo>
                    <a:pt x="468000" y="275294"/>
                  </a:lnTo>
                  <a:lnTo>
                    <a:pt x="468000" y="24776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7" name="Google Shape;1247;p66"/>
            <p:cNvSpPr/>
            <p:nvPr/>
          </p:nvSpPr>
          <p:spPr>
            <a:xfrm>
              <a:off x="5378799" y="4187827"/>
              <a:ext cx="412902" cy="247725"/>
            </a:xfrm>
            <a:custGeom>
              <a:rect b="b" l="l" r="r" t="t"/>
              <a:pathLst>
                <a:path extrusionOk="0" h="247725" w="412902">
                  <a:moveTo>
                    <a:pt x="41276" y="247725"/>
                  </a:moveTo>
                  <a:cubicBezTo>
                    <a:pt x="51851" y="247725"/>
                    <a:pt x="62425" y="243700"/>
                    <a:pt x="70476" y="235650"/>
                  </a:cubicBezTo>
                  <a:cubicBezTo>
                    <a:pt x="83765" y="222360"/>
                    <a:pt x="86074" y="202195"/>
                    <a:pt x="77423" y="186502"/>
                  </a:cubicBezTo>
                  <a:lnTo>
                    <a:pt x="135817" y="120811"/>
                  </a:lnTo>
                  <a:cubicBezTo>
                    <a:pt x="140798" y="122832"/>
                    <a:pt x="146096" y="123844"/>
                    <a:pt x="151394" y="123844"/>
                  </a:cubicBezTo>
                  <a:cubicBezTo>
                    <a:pt x="161106" y="123844"/>
                    <a:pt x="170812" y="120438"/>
                    <a:pt x="178568" y="113648"/>
                  </a:cubicBezTo>
                  <a:lnTo>
                    <a:pt x="220854" y="137433"/>
                  </a:lnTo>
                  <a:cubicBezTo>
                    <a:pt x="218647" y="150221"/>
                    <a:pt x="222459" y="163856"/>
                    <a:pt x="232312" y="173710"/>
                  </a:cubicBezTo>
                  <a:cubicBezTo>
                    <a:pt x="240362" y="181759"/>
                    <a:pt x="250937" y="185784"/>
                    <a:pt x="261511" y="185784"/>
                  </a:cubicBezTo>
                  <a:cubicBezTo>
                    <a:pt x="272085" y="185784"/>
                    <a:pt x="282660" y="181759"/>
                    <a:pt x="290709" y="173709"/>
                  </a:cubicBezTo>
                  <a:cubicBezTo>
                    <a:pt x="303066" y="161353"/>
                    <a:pt x="305929" y="143052"/>
                    <a:pt x="299317" y="127928"/>
                  </a:cubicBezTo>
                  <a:lnTo>
                    <a:pt x="352644" y="77943"/>
                  </a:lnTo>
                  <a:cubicBezTo>
                    <a:pt x="358577" y="81010"/>
                    <a:pt x="365101" y="82549"/>
                    <a:pt x="371628" y="82549"/>
                  </a:cubicBezTo>
                  <a:cubicBezTo>
                    <a:pt x="382203" y="82549"/>
                    <a:pt x="392777" y="78524"/>
                    <a:pt x="400827" y="70473"/>
                  </a:cubicBezTo>
                  <a:cubicBezTo>
                    <a:pt x="416928" y="54373"/>
                    <a:pt x="416928" y="28175"/>
                    <a:pt x="400827" y="12075"/>
                  </a:cubicBezTo>
                  <a:lnTo>
                    <a:pt x="400827" y="12074"/>
                  </a:lnTo>
                  <a:cubicBezTo>
                    <a:pt x="384727" y="-4025"/>
                    <a:pt x="358529" y="-4025"/>
                    <a:pt x="342429" y="12075"/>
                  </a:cubicBezTo>
                  <a:cubicBezTo>
                    <a:pt x="330072" y="24431"/>
                    <a:pt x="327210" y="42732"/>
                    <a:pt x="333821" y="57856"/>
                  </a:cubicBezTo>
                  <a:lnTo>
                    <a:pt x="280494" y="107841"/>
                  </a:lnTo>
                  <a:cubicBezTo>
                    <a:pt x="265733" y="100212"/>
                    <a:pt x="247305" y="102078"/>
                    <a:pt x="234336" y="113431"/>
                  </a:cubicBezTo>
                  <a:lnTo>
                    <a:pt x="192050" y="89646"/>
                  </a:lnTo>
                  <a:cubicBezTo>
                    <a:pt x="194256" y="76857"/>
                    <a:pt x="190445" y="63223"/>
                    <a:pt x="180593" y="53369"/>
                  </a:cubicBezTo>
                  <a:cubicBezTo>
                    <a:pt x="164492" y="37270"/>
                    <a:pt x="138294" y="37269"/>
                    <a:pt x="122193" y="53370"/>
                  </a:cubicBezTo>
                  <a:cubicBezTo>
                    <a:pt x="108903" y="66660"/>
                    <a:pt x="106595" y="86825"/>
                    <a:pt x="115245" y="102517"/>
                  </a:cubicBezTo>
                  <a:lnTo>
                    <a:pt x="56852" y="168209"/>
                  </a:lnTo>
                  <a:cubicBezTo>
                    <a:pt x="41930" y="162155"/>
                    <a:pt x="24160" y="165168"/>
                    <a:pt x="12075" y="177253"/>
                  </a:cubicBezTo>
                  <a:cubicBezTo>
                    <a:pt x="-4025" y="193353"/>
                    <a:pt x="-4025" y="219551"/>
                    <a:pt x="12075" y="235651"/>
                  </a:cubicBezTo>
                  <a:cubicBezTo>
                    <a:pt x="20127" y="243700"/>
                    <a:pt x="30702" y="247725"/>
                    <a:pt x="41276" y="2477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48" name="Google Shape;1248;p66"/>
          <p:cNvGrpSpPr/>
          <p:nvPr/>
        </p:nvGrpSpPr>
        <p:grpSpPr>
          <a:xfrm>
            <a:off x="4428496" y="1406266"/>
            <a:ext cx="321001" cy="321001"/>
            <a:chOff x="4259292" y="4180935"/>
            <a:chExt cx="468000" cy="467999"/>
          </a:xfrm>
        </p:grpSpPr>
        <p:sp>
          <p:nvSpPr>
            <p:cNvPr id="1249" name="Google Shape;1249;p66"/>
            <p:cNvSpPr/>
            <p:nvPr/>
          </p:nvSpPr>
          <p:spPr>
            <a:xfrm>
              <a:off x="4259292" y="4401170"/>
              <a:ext cx="468000" cy="247764"/>
            </a:xfrm>
            <a:custGeom>
              <a:rect b="b" l="l" r="r" t="t"/>
              <a:pathLst>
                <a:path extrusionOk="0" h="247764" w="468000">
                  <a:moveTo>
                    <a:pt x="0" y="247765"/>
                  </a:moveTo>
                  <a:lnTo>
                    <a:pt x="468000" y="247765"/>
                  </a:lnTo>
                  <a:lnTo>
                    <a:pt x="468000" y="0"/>
                  </a:lnTo>
                  <a:lnTo>
                    <a:pt x="0" y="0"/>
                  </a:lnTo>
                  <a:close/>
                  <a:moveTo>
                    <a:pt x="232708" y="34300"/>
                  </a:moveTo>
                  <a:lnTo>
                    <a:pt x="315743" y="117336"/>
                  </a:lnTo>
                  <a:lnTo>
                    <a:pt x="365711" y="58283"/>
                  </a:lnTo>
                  <a:lnTo>
                    <a:pt x="342171" y="54920"/>
                  </a:lnTo>
                  <a:lnTo>
                    <a:pt x="346064" y="27667"/>
                  </a:lnTo>
                  <a:lnTo>
                    <a:pt x="404460" y="36010"/>
                  </a:lnTo>
                  <a:lnTo>
                    <a:pt x="412804" y="94407"/>
                  </a:lnTo>
                  <a:lnTo>
                    <a:pt x="385550" y="98299"/>
                  </a:lnTo>
                  <a:lnTo>
                    <a:pt x="383004" y="80467"/>
                  </a:lnTo>
                  <a:lnTo>
                    <a:pt x="317434" y="157957"/>
                  </a:lnTo>
                  <a:lnTo>
                    <a:pt x="235293" y="75816"/>
                  </a:lnTo>
                  <a:lnTo>
                    <a:pt x="196689" y="125450"/>
                  </a:lnTo>
                  <a:lnTo>
                    <a:pt x="174959" y="108548"/>
                  </a:lnTo>
                  <a:close/>
                  <a:moveTo>
                    <a:pt x="55059" y="55059"/>
                  </a:moveTo>
                  <a:lnTo>
                    <a:pt x="137647" y="55059"/>
                  </a:lnTo>
                  <a:lnTo>
                    <a:pt x="137647" y="82588"/>
                  </a:lnTo>
                  <a:lnTo>
                    <a:pt x="55059" y="82588"/>
                  </a:lnTo>
                  <a:close/>
                  <a:moveTo>
                    <a:pt x="55059" y="110118"/>
                  </a:moveTo>
                  <a:lnTo>
                    <a:pt x="137647" y="110118"/>
                  </a:lnTo>
                  <a:lnTo>
                    <a:pt x="137647" y="137647"/>
                  </a:lnTo>
                  <a:lnTo>
                    <a:pt x="55059" y="137647"/>
                  </a:lnTo>
                  <a:close/>
                  <a:moveTo>
                    <a:pt x="55059" y="165176"/>
                  </a:moveTo>
                  <a:lnTo>
                    <a:pt x="137647" y="165176"/>
                  </a:lnTo>
                  <a:lnTo>
                    <a:pt x="137647" y="192706"/>
                  </a:lnTo>
                  <a:lnTo>
                    <a:pt x="55059" y="1927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0" name="Google Shape;1250;p66"/>
            <p:cNvSpPr/>
            <p:nvPr/>
          </p:nvSpPr>
          <p:spPr>
            <a:xfrm>
              <a:off x="4259292" y="4180935"/>
              <a:ext cx="467999" cy="192705"/>
            </a:xfrm>
            <a:custGeom>
              <a:rect b="b" l="l" r="r" t="t"/>
              <a:pathLst>
                <a:path extrusionOk="0" h="192705" w="467999">
                  <a:moveTo>
                    <a:pt x="425972" y="68824"/>
                  </a:moveTo>
                  <a:cubicBezTo>
                    <a:pt x="426452" y="73291"/>
                    <a:pt x="426706" y="77887"/>
                    <a:pt x="426706" y="82588"/>
                  </a:cubicBezTo>
                  <a:cubicBezTo>
                    <a:pt x="426706" y="128899"/>
                    <a:pt x="402521" y="165176"/>
                    <a:pt x="371647" y="165176"/>
                  </a:cubicBezTo>
                  <a:lnTo>
                    <a:pt x="371647" y="137647"/>
                  </a:lnTo>
                  <a:cubicBezTo>
                    <a:pt x="384642" y="137647"/>
                    <a:pt x="399176" y="114100"/>
                    <a:pt x="399176" y="82588"/>
                  </a:cubicBezTo>
                  <a:cubicBezTo>
                    <a:pt x="399176" y="77796"/>
                    <a:pt x="398836" y="73192"/>
                    <a:pt x="398220" y="68824"/>
                  </a:cubicBezTo>
                  <a:lnTo>
                    <a:pt x="345073" y="68824"/>
                  </a:lnTo>
                  <a:cubicBezTo>
                    <a:pt x="348507" y="44463"/>
                    <a:pt x="360628" y="27529"/>
                    <a:pt x="371647" y="27529"/>
                  </a:cubicBezTo>
                  <a:cubicBezTo>
                    <a:pt x="382666" y="27529"/>
                    <a:pt x="394787" y="44463"/>
                    <a:pt x="398220" y="68824"/>
                  </a:cubicBezTo>
                  <a:lnTo>
                    <a:pt x="425972" y="68824"/>
                  </a:lnTo>
                  <a:cubicBezTo>
                    <a:pt x="421722" y="29288"/>
                    <a:pt x="399386" y="0"/>
                    <a:pt x="371647" y="0"/>
                  </a:cubicBezTo>
                  <a:cubicBezTo>
                    <a:pt x="343908" y="0"/>
                    <a:pt x="321572" y="29288"/>
                    <a:pt x="317321" y="68824"/>
                  </a:cubicBezTo>
                  <a:lnTo>
                    <a:pt x="288325" y="68824"/>
                  </a:lnTo>
                  <a:cubicBezTo>
                    <a:pt x="288805" y="73291"/>
                    <a:pt x="289059" y="77887"/>
                    <a:pt x="289059" y="82588"/>
                  </a:cubicBezTo>
                  <a:cubicBezTo>
                    <a:pt x="289059" y="128899"/>
                    <a:pt x="264874" y="165176"/>
                    <a:pt x="234000" y="165176"/>
                  </a:cubicBezTo>
                  <a:lnTo>
                    <a:pt x="234000" y="137647"/>
                  </a:lnTo>
                  <a:cubicBezTo>
                    <a:pt x="246995" y="137647"/>
                    <a:pt x="261529" y="114100"/>
                    <a:pt x="261529" y="82588"/>
                  </a:cubicBezTo>
                  <a:cubicBezTo>
                    <a:pt x="261529" y="77796"/>
                    <a:pt x="261189" y="73192"/>
                    <a:pt x="260573" y="68824"/>
                  </a:cubicBezTo>
                  <a:lnTo>
                    <a:pt x="207426" y="68824"/>
                  </a:lnTo>
                  <a:cubicBezTo>
                    <a:pt x="210859" y="44463"/>
                    <a:pt x="222981" y="27529"/>
                    <a:pt x="234000" y="27529"/>
                  </a:cubicBezTo>
                  <a:cubicBezTo>
                    <a:pt x="245019" y="27529"/>
                    <a:pt x="257140" y="44463"/>
                    <a:pt x="260573" y="68824"/>
                  </a:cubicBezTo>
                  <a:lnTo>
                    <a:pt x="288325" y="68824"/>
                  </a:lnTo>
                  <a:cubicBezTo>
                    <a:pt x="284075" y="29288"/>
                    <a:pt x="261739" y="0"/>
                    <a:pt x="234000" y="0"/>
                  </a:cubicBezTo>
                  <a:cubicBezTo>
                    <a:pt x="206260" y="0"/>
                    <a:pt x="183925" y="29288"/>
                    <a:pt x="179674" y="68824"/>
                  </a:cubicBezTo>
                  <a:lnTo>
                    <a:pt x="150678" y="68824"/>
                  </a:lnTo>
                  <a:cubicBezTo>
                    <a:pt x="151158" y="73291"/>
                    <a:pt x="151412" y="77887"/>
                    <a:pt x="151412" y="82588"/>
                  </a:cubicBezTo>
                  <a:cubicBezTo>
                    <a:pt x="151412" y="128899"/>
                    <a:pt x="127227" y="165176"/>
                    <a:pt x="96353" y="165176"/>
                  </a:cubicBezTo>
                  <a:lnTo>
                    <a:pt x="96353" y="137647"/>
                  </a:lnTo>
                  <a:cubicBezTo>
                    <a:pt x="109348" y="137647"/>
                    <a:pt x="123882" y="114100"/>
                    <a:pt x="123882" y="82588"/>
                  </a:cubicBezTo>
                  <a:cubicBezTo>
                    <a:pt x="123882" y="77796"/>
                    <a:pt x="123542" y="73192"/>
                    <a:pt x="122926" y="68824"/>
                  </a:cubicBezTo>
                  <a:lnTo>
                    <a:pt x="69779" y="68824"/>
                  </a:lnTo>
                  <a:cubicBezTo>
                    <a:pt x="73212" y="44463"/>
                    <a:pt x="85334" y="27529"/>
                    <a:pt x="96353" y="27529"/>
                  </a:cubicBezTo>
                  <a:cubicBezTo>
                    <a:pt x="107372" y="27529"/>
                    <a:pt x="119494" y="44463"/>
                    <a:pt x="122926" y="68824"/>
                  </a:cubicBezTo>
                  <a:lnTo>
                    <a:pt x="150678" y="68824"/>
                  </a:lnTo>
                  <a:cubicBezTo>
                    <a:pt x="146428" y="29288"/>
                    <a:pt x="124093" y="0"/>
                    <a:pt x="96353" y="0"/>
                  </a:cubicBezTo>
                  <a:cubicBezTo>
                    <a:pt x="68612" y="0"/>
                    <a:pt x="46278" y="29288"/>
                    <a:pt x="42027" y="68824"/>
                  </a:cubicBezTo>
                  <a:lnTo>
                    <a:pt x="0" y="68824"/>
                  </a:lnTo>
                  <a:lnTo>
                    <a:pt x="0" y="192706"/>
                  </a:lnTo>
                  <a:lnTo>
                    <a:pt x="468000" y="192706"/>
                  </a:lnTo>
                  <a:lnTo>
                    <a:pt x="468000" y="6882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51" name="Google Shape;1251;p66"/>
          <p:cNvGrpSpPr/>
          <p:nvPr/>
        </p:nvGrpSpPr>
        <p:grpSpPr>
          <a:xfrm>
            <a:off x="4428472" y="3161789"/>
            <a:ext cx="321001" cy="321001"/>
            <a:chOff x="3167332" y="5229764"/>
            <a:chExt cx="467999" cy="468000"/>
          </a:xfrm>
        </p:grpSpPr>
        <p:sp>
          <p:nvSpPr>
            <p:cNvPr id="1252" name="Google Shape;1252;p66"/>
            <p:cNvSpPr/>
            <p:nvPr/>
          </p:nvSpPr>
          <p:spPr>
            <a:xfrm>
              <a:off x="3167332" y="5249658"/>
              <a:ext cx="140425" cy="420575"/>
            </a:xfrm>
            <a:custGeom>
              <a:rect b="b" l="l" r="r" t="t"/>
              <a:pathLst>
                <a:path extrusionOk="0" h="420575" w="140425">
                  <a:moveTo>
                    <a:pt x="107806" y="97858"/>
                  </a:moveTo>
                  <a:lnTo>
                    <a:pt x="140426" y="48929"/>
                  </a:lnTo>
                  <a:lnTo>
                    <a:pt x="107806" y="0"/>
                  </a:lnTo>
                  <a:lnTo>
                    <a:pt x="84900" y="15270"/>
                  </a:lnTo>
                  <a:lnTo>
                    <a:pt x="98163" y="35164"/>
                  </a:lnTo>
                  <a:lnTo>
                    <a:pt x="0" y="35164"/>
                  </a:lnTo>
                  <a:lnTo>
                    <a:pt x="0" y="420576"/>
                  </a:lnTo>
                  <a:lnTo>
                    <a:pt x="137647" y="420576"/>
                  </a:lnTo>
                  <a:lnTo>
                    <a:pt x="137647" y="393047"/>
                  </a:lnTo>
                  <a:lnTo>
                    <a:pt x="27529" y="393047"/>
                  </a:lnTo>
                  <a:lnTo>
                    <a:pt x="27529" y="62694"/>
                  </a:lnTo>
                  <a:lnTo>
                    <a:pt x="98163" y="62694"/>
                  </a:lnTo>
                  <a:lnTo>
                    <a:pt x="84900" y="8258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3" name="Google Shape;1253;p66"/>
            <p:cNvSpPr/>
            <p:nvPr/>
          </p:nvSpPr>
          <p:spPr>
            <a:xfrm>
              <a:off x="3332508" y="5229764"/>
              <a:ext cx="302823" cy="468000"/>
            </a:xfrm>
            <a:custGeom>
              <a:rect b="b" l="l" r="r" t="t"/>
              <a:pathLst>
                <a:path extrusionOk="0" h="468000" w="302823">
                  <a:moveTo>
                    <a:pt x="302824" y="55059"/>
                  </a:moveTo>
                  <a:lnTo>
                    <a:pt x="302824" y="0"/>
                  </a:lnTo>
                  <a:lnTo>
                    <a:pt x="0" y="0"/>
                  </a:lnTo>
                  <a:lnTo>
                    <a:pt x="0" y="137647"/>
                  </a:lnTo>
                  <a:lnTo>
                    <a:pt x="82588" y="137647"/>
                  </a:lnTo>
                  <a:lnTo>
                    <a:pt x="82588" y="165176"/>
                  </a:lnTo>
                  <a:lnTo>
                    <a:pt x="0" y="165176"/>
                  </a:lnTo>
                  <a:lnTo>
                    <a:pt x="0" y="220235"/>
                  </a:lnTo>
                  <a:lnTo>
                    <a:pt x="110118" y="220235"/>
                  </a:lnTo>
                  <a:lnTo>
                    <a:pt x="110118" y="247765"/>
                  </a:lnTo>
                  <a:lnTo>
                    <a:pt x="0" y="247765"/>
                  </a:lnTo>
                  <a:lnTo>
                    <a:pt x="0" y="302824"/>
                  </a:lnTo>
                  <a:lnTo>
                    <a:pt x="82588" y="302824"/>
                  </a:lnTo>
                  <a:lnTo>
                    <a:pt x="82588" y="330353"/>
                  </a:lnTo>
                  <a:lnTo>
                    <a:pt x="0" y="330353"/>
                  </a:lnTo>
                  <a:lnTo>
                    <a:pt x="0" y="468000"/>
                  </a:lnTo>
                  <a:lnTo>
                    <a:pt x="302824" y="468000"/>
                  </a:lnTo>
                  <a:lnTo>
                    <a:pt x="302824" y="412941"/>
                  </a:lnTo>
                  <a:lnTo>
                    <a:pt x="192706" y="412941"/>
                  </a:lnTo>
                  <a:lnTo>
                    <a:pt x="192706" y="385412"/>
                  </a:lnTo>
                  <a:lnTo>
                    <a:pt x="302824" y="385412"/>
                  </a:lnTo>
                  <a:lnTo>
                    <a:pt x="302824" y="330353"/>
                  </a:lnTo>
                  <a:lnTo>
                    <a:pt x="247765" y="330353"/>
                  </a:lnTo>
                  <a:lnTo>
                    <a:pt x="247765" y="302824"/>
                  </a:lnTo>
                  <a:lnTo>
                    <a:pt x="302824" y="302824"/>
                  </a:lnTo>
                  <a:lnTo>
                    <a:pt x="302824" y="165176"/>
                  </a:lnTo>
                  <a:lnTo>
                    <a:pt x="247765" y="165176"/>
                  </a:lnTo>
                  <a:lnTo>
                    <a:pt x="247765" y="137647"/>
                  </a:lnTo>
                  <a:lnTo>
                    <a:pt x="302824" y="137647"/>
                  </a:lnTo>
                  <a:lnTo>
                    <a:pt x="302824" y="82588"/>
                  </a:lnTo>
                  <a:lnTo>
                    <a:pt x="192706" y="82588"/>
                  </a:lnTo>
                  <a:lnTo>
                    <a:pt x="192706" y="55059"/>
                  </a:lnTo>
                  <a:close/>
                  <a:moveTo>
                    <a:pt x="110118" y="55059"/>
                  </a:moveTo>
                  <a:lnTo>
                    <a:pt x="137647" y="55059"/>
                  </a:lnTo>
                  <a:lnTo>
                    <a:pt x="137647" y="82588"/>
                  </a:lnTo>
                  <a:lnTo>
                    <a:pt x="110118" y="82588"/>
                  </a:lnTo>
                  <a:close/>
                  <a:moveTo>
                    <a:pt x="55059" y="55059"/>
                  </a:moveTo>
                  <a:lnTo>
                    <a:pt x="82588" y="55059"/>
                  </a:lnTo>
                  <a:lnTo>
                    <a:pt x="82588" y="82588"/>
                  </a:lnTo>
                  <a:lnTo>
                    <a:pt x="55059" y="82588"/>
                  </a:lnTo>
                  <a:close/>
                  <a:moveTo>
                    <a:pt x="82588" y="412941"/>
                  </a:moveTo>
                  <a:lnTo>
                    <a:pt x="55059" y="412941"/>
                  </a:lnTo>
                  <a:lnTo>
                    <a:pt x="55059" y="385412"/>
                  </a:lnTo>
                  <a:lnTo>
                    <a:pt x="82588" y="385412"/>
                  </a:lnTo>
                  <a:close/>
                  <a:moveTo>
                    <a:pt x="137647" y="412941"/>
                  </a:moveTo>
                  <a:lnTo>
                    <a:pt x="110118" y="412941"/>
                  </a:lnTo>
                  <a:lnTo>
                    <a:pt x="110118" y="385412"/>
                  </a:lnTo>
                  <a:lnTo>
                    <a:pt x="137647" y="385412"/>
                  </a:lnTo>
                  <a:close/>
                  <a:moveTo>
                    <a:pt x="220235" y="330353"/>
                  </a:moveTo>
                  <a:lnTo>
                    <a:pt x="110118" y="330353"/>
                  </a:lnTo>
                  <a:lnTo>
                    <a:pt x="110118" y="302824"/>
                  </a:lnTo>
                  <a:lnTo>
                    <a:pt x="220235" y="302824"/>
                  </a:lnTo>
                  <a:close/>
                  <a:moveTo>
                    <a:pt x="165176" y="247765"/>
                  </a:moveTo>
                  <a:lnTo>
                    <a:pt x="165176" y="220235"/>
                  </a:lnTo>
                  <a:lnTo>
                    <a:pt x="192706" y="220235"/>
                  </a:lnTo>
                  <a:lnTo>
                    <a:pt x="192706" y="247765"/>
                  </a:lnTo>
                  <a:close/>
                  <a:moveTo>
                    <a:pt x="247765" y="247765"/>
                  </a:moveTo>
                  <a:lnTo>
                    <a:pt x="220235" y="247765"/>
                  </a:lnTo>
                  <a:lnTo>
                    <a:pt x="220235" y="220235"/>
                  </a:lnTo>
                  <a:lnTo>
                    <a:pt x="247765" y="220235"/>
                  </a:lnTo>
                  <a:close/>
                  <a:moveTo>
                    <a:pt x="220235" y="137647"/>
                  </a:moveTo>
                  <a:lnTo>
                    <a:pt x="220235" y="165176"/>
                  </a:lnTo>
                  <a:lnTo>
                    <a:pt x="110118" y="165176"/>
                  </a:lnTo>
                  <a:lnTo>
                    <a:pt x="110118" y="13764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54" name="Google Shape;1254;p66"/>
          <p:cNvGrpSpPr/>
          <p:nvPr/>
        </p:nvGrpSpPr>
        <p:grpSpPr>
          <a:xfrm>
            <a:off x="1712231" y="3161802"/>
            <a:ext cx="321001" cy="321001"/>
            <a:chOff x="2075372" y="2083279"/>
            <a:chExt cx="468000" cy="468000"/>
          </a:xfrm>
        </p:grpSpPr>
        <p:sp>
          <p:nvSpPr>
            <p:cNvPr id="1255" name="Google Shape;1255;p66"/>
            <p:cNvSpPr/>
            <p:nvPr/>
          </p:nvSpPr>
          <p:spPr>
            <a:xfrm>
              <a:off x="2075372" y="2083279"/>
              <a:ext cx="468000" cy="468000"/>
            </a:xfrm>
            <a:custGeom>
              <a:rect b="b" l="l" r="r" t="t"/>
              <a:pathLst>
                <a:path extrusionOk="0" h="468000" w="468000">
                  <a:moveTo>
                    <a:pt x="440471" y="291426"/>
                  </a:moveTo>
                  <a:lnTo>
                    <a:pt x="440471" y="176574"/>
                  </a:lnTo>
                  <a:cubicBezTo>
                    <a:pt x="456492" y="170892"/>
                    <a:pt x="468000" y="155592"/>
                    <a:pt x="468000" y="137647"/>
                  </a:cubicBezTo>
                  <a:cubicBezTo>
                    <a:pt x="468000" y="101351"/>
                    <a:pt x="424193" y="82741"/>
                    <a:pt x="398065" y="107941"/>
                  </a:cubicBezTo>
                  <a:lnTo>
                    <a:pt x="274968" y="46385"/>
                  </a:lnTo>
                  <a:cubicBezTo>
                    <a:pt x="278029" y="21628"/>
                    <a:pt x="258664" y="0"/>
                    <a:pt x="234000" y="0"/>
                  </a:cubicBezTo>
                  <a:cubicBezTo>
                    <a:pt x="209362" y="0"/>
                    <a:pt x="189968" y="21600"/>
                    <a:pt x="193032" y="46385"/>
                  </a:cubicBezTo>
                  <a:lnTo>
                    <a:pt x="69935" y="107941"/>
                  </a:lnTo>
                  <a:cubicBezTo>
                    <a:pt x="43808" y="82744"/>
                    <a:pt x="0" y="101346"/>
                    <a:pt x="0" y="137647"/>
                  </a:cubicBezTo>
                  <a:cubicBezTo>
                    <a:pt x="0" y="155592"/>
                    <a:pt x="11508" y="170892"/>
                    <a:pt x="27529" y="176574"/>
                  </a:cubicBezTo>
                  <a:lnTo>
                    <a:pt x="27529" y="291426"/>
                  </a:lnTo>
                  <a:cubicBezTo>
                    <a:pt x="11508" y="297108"/>
                    <a:pt x="0" y="312408"/>
                    <a:pt x="0" y="330353"/>
                  </a:cubicBezTo>
                  <a:cubicBezTo>
                    <a:pt x="0" y="366648"/>
                    <a:pt x="43806" y="385259"/>
                    <a:pt x="69935" y="360058"/>
                  </a:cubicBezTo>
                  <a:lnTo>
                    <a:pt x="193032" y="421615"/>
                  </a:lnTo>
                  <a:cubicBezTo>
                    <a:pt x="189971" y="446371"/>
                    <a:pt x="209333" y="468000"/>
                    <a:pt x="234000" y="468000"/>
                  </a:cubicBezTo>
                  <a:cubicBezTo>
                    <a:pt x="258640" y="468000"/>
                    <a:pt x="278032" y="446400"/>
                    <a:pt x="274969" y="421615"/>
                  </a:cubicBezTo>
                  <a:lnTo>
                    <a:pt x="398066" y="360059"/>
                  </a:lnTo>
                  <a:cubicBezTo>
                    <a:pt x="424189" y="385253"/>
                    <a:pt x="468000" y="366660"/>
                    <a:pt x="468000" y="330353"/>
                  </a:cubicBezTo>
                  <a:cubicBezTo>
                    <a:pt x="468000" y="312408"/>
                    <a:pt x="456492" y="297108"/>
                    <a:pt x="440471" y="291426"/>
                  </a:cubicBezTo>
                  <a:close/>
                  <a:moveTo>
                    <a:pt x="412941" y="291426"/>
                  </a:moveTo>
                  <a:cubicBezTo>
                    <a:pt x="395169" y="297730"/>
                    <a:pt x="383292" y="315665"/>
                    <a:pt x="385737" y="335444"/>
                  </a:cubicBezTo>
                  <a:lnTo>
                    <a:pt x="262640" y="397000"/>
                  </a:lnTo>
                  <a:cubicBezTo>
                    <a:pt x="246602" y="381534"/>
                    <a:pt x="221366" y="381561"/>
                    <a:pt x="205358" y="397000"/>
                  </a:cubicBezTo>
                  <a:lnTo>
                    <a:pt x="82262" y="335444"/>
                  </a:lnTo>
                  <a:cubicBezTo>
                    <a:pt x="84703" y="315687"/>
                    <a:pt x="72849" y="297737"/>
                    <a:pt x="55057" y="291426"/>
                  </a:cubicBezTo>
                  <a:lnTo>
                    <a:pt x="55057" y="176574"/>
                  </a:lnTo>
                  <a:cubicBezTo>
                    <a:pt x="72829" y="170270"/>
                    <a:pt x="84706" y="152335"/>
                    <a:pt x="82262" y="132556"/>
                  </a:cubicBezTo>
                  <a:lnTo>
                    <a:pt x="205358" y="70999"/>
                  </a:lnTo>
                  <a:cubicBezTo>
                    <a:pt x="221396" y="86466"/>
                    <a:pt x="246632" y="86439"/>
                    <a:pt x="262640" y="70999"/>
                  </a:cubicBezTo>
                  <a:lnTo>
                    <a:pt x="385737" y="132556"/>
                  </a:lnTo>
                  <a:cubicBezTo>
                    <a:pt x="383295" y="152313"/>
                    <a:pt x="395149" y="170263"/>
                    <a:pt x="412941" y="1765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6" name="Google Shape;1256;p66"/>
            <p:cNvSpPr/>
            <p:nvPr/>
          </p:nvSpPr>
          <p:spPr>
            <a:xfrm>
              <a:off x="2282060" y="2331043"/>
              <a:ext cx="54624" cy="110063"/>
            </a:xfrm>
            <a:custGeom>
              <a:rect b="b" l="l" r="r" t="t"/>
              <a:pathLst>
                <a:path extrusionOk="0" h="110063" w="54624">
                  <a:moveTo>
                    <a:pt x="10260" y="76018"/>
                  </a:moveTo>
                  <a:cubicBezTo>
                    <a:pt x="17336" y="101506"/>
                    <a:pt x="25174" y="109124"/>
                    <a:pt x="27312" y="110064"/>
                  </a:cubicBezTo>
                  <a:cubicBezTo>
                    <a:pt x="29450" y="109125"/>
                    <a:pt x="37289" y="101506"/>
                    <a:pt x="44365" y="76018"/>
                  </a:cubicBezTo>
                  <a:cubicBezTo>
                    <a:pt x="50190" y="55035"/>
                    <a:pt x="53750" y="28438"/>
                    <a:pt x="54625" y="0"/>
                  </a:cubicBezTo>
                  <a:lnTo>
                    <a:pt x="0" y="0"/>
                  </a:lnTo>
                  <a:cubicBezTo>
                    <a:pt x="874" y="28438"/>
                    <a:pt x="4435" y="55036"/>
                    <a:pt x="10260" y="760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7" name="Google Shape;1257;p66"/>
            <p:cNvSpPr/>
            <p:nvPr/>
          </p:nvSpPr>
          <p:spPr>
            <a:xfrm>
              <a:off x="2282059" y="2193451"/>
              <a:ext cx="54624" cy="110063"/>
            </a:xfrm>
            <a:custGeom>
              <a:rect b="b" l="l" r="r" t="t"/>
              <a:pathLst>
                <a:path extrusionOk="0" h="110063" w="54624">
                  <a:moveTo>
                    <a:pt x="27313" y="0"/>
                  </a:moveTo>
                  <a:cubicBezTo>
                    <a:pt x="25175" y="939"/>
                    <a:pt x="17337" y="8557"/>
                    <a:pt x="10261" y="34046"/>
                  </a:cubicBezTo>
                  <a:cubicBezTo>
                    <a:pt x="4436" y="55028"/>
                    <a:pt x="875" y="81625"/>
                    <a:pt x="0" y="110064"/>
                  </a:cubicBezTo>
                  <a:lnTo>
                    <a:pt x="54625" y="110064"/>
                  </a:lnTo>
                  <a:cubicBezTo>
                    <a:pt x="53751" y="81626"/>
                    <a:pt x="50190" y="55028"/>
                    <a:pt x="44365" y="34046"/>
                  </a:cubicBezTo>
                  <a:cubicBezTo>
                    <a:pt x="37290" y="8557"/>
                    <a:pt x="29451" y="939"/>
                    <a:pt x="273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8" name="Google Shape;1258;p66"/>
            <p:cNvSpPr/>
            <p:nvPr/>
          </p:nvSpPr>
          <p:spPr>
            <a:xfrm>
              <a:off x="2345581" y="2198799"/>
              <a:ext cx="86903" cy="104714"/>
            </a:xfrm>
            <a:custGeom>
              <a:rect b="b" l="l" r="r" t="t"/>
              <a:pathLst>
                <a:path extrusionOk="0" h="104714" w="86903">
                  <a:moveTo>
                    <a:pt x="0" y="0"/>
                  </a:moveTo>
                  <a:cubicBezTo>
                    <a:pt x="12872" y="29868"/>
                    <a:pt x="17712" y="72219"/>
                    <a:pt x="18648" y="104715"/>
                  </a:cubicBezTo>
                  <a:lnTo>
                    <a:pt x="86904" y="104715"/>
                  </a:lnTo>
                  <a:cubicBezTo>
                    <a:pt x="81393" y="55096"/>
                    <a:pt x="46465" y="14229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9" name="Google Shape;1259;p66"/>
            <p:cNvSpPr/>
            <p:nvPr/>
          </p:nvSpPr>
          <p:spPr>
            <a:xfrm>
              <a:off x="2186258" y="2198799"/>
              <a:ext cx="86903" cy="104714"/>
            </a:xfrm>
            <a:custGeom>
              <a:rect b="b" l="l" r="r" t="t"/>
              <a:pathLst>
                <a:path extrusionOk="0" h="104714" w="86903">
                  <a:moveTo>
                    <a:pt x="0" y="104715"/>
                  </a:moveTo>
                  <a:lnTo>
                    <a:pt x="68256" y="104715"/>
                  </a:lnTo>
                  <a:cubicBezTo>
                    <a:pt x="69191" y="72312"/>
                    <a:pt x="74012" y="29915"/>
                    <a:pt x="86904" y="0"/>
                  </a:cubicBezTo>
                  <a:cubicBezTo>
                    <a:pt x="40439" y="14229"/>
                    <a:pt x="5510" y="55096"/>
                    <a:pt x="0" y="1047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0" name="Google Shape;1260;p66"/>
            <p:cNvSpPr/>
            <p:nvPr/>
          </p:nvSpPr>
          <p:spPr>
            <a:xfrm>
              <a:off x="2186258" y="2331043"/>
              <a:ext cx="86903" cy="104713"/>
            </a:xfrm>
            <a:custGeom>
              <a:rect b="b" l="l" r="r" t="t"/>
              <a:pathLst>
                <a:path extrusionOk="0" h="104713" w="86903">
                  <a:moveTo>
                    <a:pt x="68256" y="0"/>
                  </a:moveTo>
                  <a:lnTo>
                    <a:pt x="0" y="0"/>
                  </a:lnTo>
                  <a:cubicBezTo>
                    <a:pt x="5510" y="49618"/>
                    <a:pt x="40439" y="90486"/>
                    <a:pt x="86904" y="104714"/>
                  </a:cubicBezTo>
                  <a:cubicBezTo>
                    <a:pt x="74013" y="74800"/>
                    <a:pt x="69190" y="32407"/>
                    <a:pt x="682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1" name="Google Shape;1261;p66"/>
            <p:cNvSpPr/>
            <p:nvPr/>
          </p:nvSpPr>
          <p:spPr>
            <a:xfrm>
              <a:off x="2345580" y="2331043"/>
              <a:ext cx="86904" cy="104713"/>
            </a:xfrm>
            <a:custGeom>
              <a:rect b="b" l="l" r="r" t="t"/>
              <a:pathLst>
                <a:path extrusionOk="0" h="104713" w="86904">
                  <a:moveTo>
                    <a:pt x="0" y="104714"/>
                  </a:moveTo>
                  <a:cubicBezTo>
                    <a:pt x="46466" y="90485"/>
                    <a:pt x="81394" y="49618"/>
                    <a:pt x="86905" y="0"/>
                  </a:cubicBezTo>
                  <a:lnTo>
                    <a:pt x="18649" y="0"/>
                  </a:lnTo>
                  <a:cubicBezTo>
                    <a:pt x="17715" y="32401"/>
                    <a:pt x="12893" y="74799"/>
                    <a:pt x="0" y="1047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62" name="Google Shape;1262;p66"/>
          <p:cNvGrpSpPr/>
          <p:nvPr/>
        </p:nvGrpSpPr>
        <p:grpSpPr>
          <a:xfrm>
            <a:off x="1712231" y="1395371"/>
            <a:ext cx="321001" cy="321001"/>
            <a:chOff x="2075372" y="1034451"/>
            <a:chExt cx="468000" cy="468000"/>
          </a:xfrm>
        </p:grpSpPr>
        <p:sp>
          <p:nvSpPr>
            <p:cNvPr id="1263" name="Google Shape;1263;p66"/>
            <p:cNvSpPr/>
            <p:nvPr/>
          </p:nvSpPr>
          <p:spPr>
            <a:xfrm>
              <a:off x="2075372" y="1034451"/>
              <a:ext cx="468000" cy="468000"/>
            </a:xfrm>
            <a:custGeom>
              <a:rect b="b" l="l" r="r" t="t"/>
              <a:pathLst>
                <a:path extrusionOk="0" h="468000" w="468000">
                  <a:moveTo>
                    <a:pt x="468000" y="137647"/>
                  </a:moveTo>
                  <a:lnTo>
                    <a:pt x="330353" y="137647"/>
                  </a:lnTo>
                  <a:lnTo>
                    <a:pt x="330353" y="0"/>
                  </a:lnTo>
                  <a:lnTo>
                    <a:pt x="302824" y="0"/>
                  </a:lnTo>
                  <a:lnTo>
                    <a:pt x="302824" y="137647"/>
                  </a:lnTo>
                  <a:lnTo>
                    <a:pt x="165176" y="137647"/>
                  </a:lnTo>
                  <a:lnTo>
                    <a:pt x="165176" y="0"/>
                  </a:lnTo>
                  <a:lnTo>
                    <a:pt x="137647" y="0"/>
                  </a:lnTo>
                  <a:lnTo>
                    <a:pt x="137647" y="137647"/>
                  </a:lnTo>
                  <a:lnTo>
                    <a:pt x="0" y="137647"/>
                  </a:lnTo>
                  <a:lnTo>
                    <a:pt x="0" y="165176"/>
                  </a:lnTo>
                  <a:lnTo>
                    <a:pt x="137647" y="165176"/>
                  </a:lnTo>
                  <a:lnTo>
                    <a:pt x="137647" y="302824"/>
                  </a:lnTo>
                  <a:lnTo>
                    <a:pt x="0" y="302824"/>
                  </a:lnTo>
                  <a:lnTo>
                    <a:pt x="0" y="330353"/>
                  </a:lnTo>
                  <a:lnTo>
                    <a:pt x="137647" y="330353"/>
                  </a:lnTo>
                  <a:lnTo>
                    <a:pt x="137647" y="468000"/>
                  </a:lnTo>
                  <a:lnTo>
                    <a:pt x="165176" y="468000"/>
                  </a:lnTo>
                  <a:lnTo>
                    <a:pt x="165176" y="330353"/>
                  </a:lnTo>
                  <a:lnTo>
                    <a:pt x="302824" y="330353"/>
                  </a:lnTo>
                  <a:lnTo>
                    <a:pt x="302824" y="468000"/>
                  </a:lnTo>
                  <a:lnTo>
                    <a:pt x="330353" y="468000"/>
                  </a:lnTo>
                  <a:lnTo>
                    <a:pt x="330353" y="330353"/>
                  </a:lnTo>
                  <a:lnTo>
                    <a:pt x="468000" y="330353"/>
                  </a:lnTo>
                  <a:lnTo>
                    <a:pt x="468000" y="302824"/>
                  </a:lnTo>
                  <a:lnTo>
                    <a:pt x="330353" y="302824"/>
                  </a:lnTo>
                  <a:lnTo>
                    <a:pt x="330353" y="165176"/>
                  </a:lnTo>
                  <a:lnTo>
                    <a:pt x="468000" y="165176"/>
                  </a:lnTo>
                  <a:close/>
                  <a:moveTo>
                    <a:pt x="302824" y="302824"/>
                  </a:moveTo>
                  <a:lnTo>
                    <a:pt x="165176" y="302824"/>
                  </a:lnTo>
                  <a:lnTo>
                    <a:pt x="165176" y="165176"/>
                  </a:lnTo>
                  <a:lnTo>
                    <a:pt x="302824" y="16517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4" name="Google Shape;1264;p66"/>
            <p:cNvSpPr/>
            <p:nvPr/>
          </p:nvSpPr>
          <p:spPr>
            <a:xfrm>
              <a:off x="2102901" y="1227156"/>
              <a:ext cx="82588" cy="82588"/>
            </a:xfrm>
            <a:custGeom>
              <a:rect b="b" l="l" r="r" t="t"/>
              <a:pathLst>
                <a:path extrusionOk="0" h="82588" w="82588">
                  <a:moveTo>
                    <a:pt x="82588" y="41294"/>
                  </a:moveTo>
                  <a:cubicBezTo>
                    <a:pt x="82588" y="18525"/>
                    <a:pt x="64064" y="0"/>
                    <a:pt x="41294" y="0"/>
                  </a:cubicBezTo>
                  <a:cubicBezTo>
                    <a:pt x="18525" y="0"/>
                    <a:pt x="0" y="18525"/>
                    <a:pt x="0" y="41294"/>
                  </a:cubicBezTo>
                  <a:cubicBezTo>
                    <a:pt x="0" y="64064"/>
                    <a:pt x="18525" y="82588"/>
                    <a:pt x="41294" y="82588"/>
                  </a:cubicBezTo>
                  <a:cubicBezTo>
                    <a:pt x="64064" y="82588"/>
                    <a:pt x="82588" y="64064"/>
                    <a:pt x="82588" y="41294"/>
                  </a:cubicBezTo>
                  <a:close/>
                  <a:moveTo>
                    <a:pt x="27529" y="41294"/>
                  </a:moveTo>
                  <a:cubicBezTo>
                    <a:pt x="27529" y="33704"/>
                    <a:pt x="33704" y="27529"/>
                    <a:pt x="41294" y="27529"/>
                  </a:cubicBezTo>
                  <a:cubicBezTo>
                    <a:pt x="48884" y="27529"/>
                    <a:pt x="55059" y="33704"/>
                    <a:pt x="55059" y="41294"/>
                  </a:cubicBezTo>
                  <a:cubicBezTo>
                    <a:pt x="55059" y="48885"/>
                    <a:pt x="48884" y="55059"/>
                    <a:pt x="41294" y="55059"/>
                  </a:cubicBezTo>
                  <a:cubicBezTo>
                    <a:pt x="33704" y="55059"/>
                    <a:pt x="27529" y="48885"/>
                    <a:pt x="27529" y="4129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5" name="Google Shape;1265;p66"/>
            <p:cNvSpPr/>
            <p:nvPr/>
          </p:nvSpPr>
          <p:spPr>
            <a:xfrm>
              <a:off x="2433254" y="1227156"/>
              <a:ext cx="82588" cy="82588"/>
            </a:xfrm>
            <a:custGeom>
              <a:rect b="b" l="l" r="r" t="t"/>
              <a:pathLst>
                <a:path extrusionOk="0" h="82588" w="82588">
                  <a:moveTo>
                    <a:pt x="0" y="41294"/>
                  </a:moveTo>
                  <a:cubicBezTo>
                    <a:pt x="0" y="64064"/>
                    <a:pt x="18524" y="82588"/>
                    <a:pt x="41294" y="82588"/>
                  </a:cubicBezTo>
                  <a:cubicBezTo>
                    <a:pt x="64065" y="82588"/>
                    <a:pt x="82588" y="64064"/>
                    <a:pt x="82588" y="41294"/>
                  </a:cubicBezTo>
                  <a:cubicBezTo>
                    <a:pt x="82588" y="18525"/>
                    <a:pt x="64065" y="0"/>
                    <a:pt x="41294" y="0"/>
                  </a:cubicBezTo>
                  <a:cubicBezTo>
                    <a:pt x="18524" y="0"/>
                    <a:pt x="0" y="18525"/>
                    <a:pt x="0" y="41294"/>
                  </a:cubicBezTo>
                  <a:close/>
                  <a:moveTo>
                    <a:pt x="55059" y="41294"/>
                  </a:moveTo>
                  <a:cubicBezTo>
                    <a:pt x="55059" y="48885"/>
                    <a:pt x="48885" y="55059"/>
                    <a:pt x="41294" y="55059"/>
                  </a:cubicBezTo>
                  <a:cubicBezTo>
                    <a:pt x="33703" y="55059"/>
                    <a:pt x="27529" y="48885"/>
                    <a:pt x="27529" y="41294"/>
                  </a:cubicBezTo>
                  <a:cubicBezTo>
                    <a:pt x="27529" y="33704"/>
                    <a:pt x="33703" y="27529"/>
                    <a:pt x="41294" y="27529"/>
                  </a:cubicBezTo>
                  <a:cubicBezTo>
                    <a:pt x="48885" y="27529"/>
                    <a:pt x="55059" y="33704"/>
                    <a:pt x="55059" y="4129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6" name="Google Shape;1266;p66"/>
            <p:cNvSpPr/>
            <p:nvPr/>
          </p:nvSpPr>
          <p:spPr>
            <a:xfrm>
              <a:off x="2268077" y="1061980"/>
              <a:ext cx="82588" cy="82588"/>
            </a:xfrm>
            <a:custGeom>
              <a:rect b="b" l="l" r="r" t="t"/>
              <a:pathLst>
                <a:path extrusionOk="0" h="82588" w="82588">
                  <a:moveTo>
                    <a:pt x="41294" y="82588"/>
                  </a:moveTo>
                  <a:cubicBezTo>
                    <a:pt x="64065" y="82588"/>
                    <a:pt x="82588" y="64063"/>
                    <a:pt x="82588" y="41294"/>
                  </a:cubicBezTo>
                  <a:cubicBezTo>
                    <a:pt x="82588" y="18525"/>
                    <a:pt x="64065" y="0"/>
                    <a:pt x="41294" y="0"/>
                  </a:cubicBezTo>
                  <a:cubicBezTo>
                    <a:pt x="18525" y="0"/>
                    <a:pt x="0" y="18525"/>
                    <a:pt x="0" y="41294"/>
                  </a:cubicBezTo>
                  <a:cubicBezTo>
                    <a:pt x="0" y="64063"/>
                    <a:pt x="18525" y="82588"/>
                    <a:pt x="41294" y="82588"/>
                  </a:cubicBezTo>
                  <a:close/>
                  <a:moveTo>
                    <a:pt x="41294" y="27529"/>
                  </a:moveTo>
                  <a:cubicBezTo>
                    <a:pt x="48885" y="27529"/>
                    <a:pt x="55059" y="33704"/>
                    <a:pt x="55059" y="41294"/>
                  </a:cubicBezTo>
                  <a:cubicBezTo>
                    <a:pt x="55059" y="48884"/>
                    <a:pt x="48885" y="55059"/>
                    <a:pt x="41294" y="55059"/>
                  </a:cubicBezTo>
                  <a:cubicBezTo>
                    <a:pt x="33704" y="55059"/>
                    <a:pt x="27529" y="48884"/>
                    <a:pt x="27529" y="41294"/>
                  </a:cubicBezTo>
                  <a:cubicBezTo>
                    <a:pt x="27529" y="33704"/>
                    <a:pt x="33704" y="27529"/>
                    <a:pt x="41294" y="275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7" name="Google Shape;1267;p66"/>
            <p:cNvSpPr/>
            <p:nvPr/>
          </p:nvSpPr>
          <p:spPr>
            <a:xfrm>
              <a:off x="2268077" y="1392333"/>
              <a:ext cx="82588" cy="82588"/>
            </a:xfrm>
            <a:custGeom>
              <a:rect b="b" l="l" r="r" t="t"/>
              <a:pathLst>
                <a:path extrusionOk="0" h="82588" w="82588">
                  <a:moveTo>
                    <a:pt x="41294" y="0"/>
                  </a:moveTo>
                  <a:cubicBezTo>
                    <a:pt x="18525" y="0"/>
                    <a:pt x="0" y="18524"/>
                    <a:pt x="0" y="41294"/>
                  </a:cubicBezTo>
                  <a:cubicBezTo>
                    <a:pt x="0" y="64064"/>
                    <a:pt x="18525" y="82588"/>
                    <a:pt x="41294" y="82588"/>
                  </a:cubicBezTo>
                  <a:cubicBezTo>
                    <a:pt x="64065" y="82588"/>
                    <a:pt x="82588" y="64064"/>
                    <a:pt x="82588" y="41294"/>
                  </a:cubicBezTo>
                  <a:cubicBezTo>
                    <a:pt x="82588" y="18524"/>
                    <a:pt x="64065" y="0"/>
                    <a:pt x="41294" y="0"/>
                  </a:cubicBezTo>
                  <a:close/>
                  <a:moveTo>
                    <a:pt x="41294" y="55059"/>
                  </a:moveTo>
                  <a:cubicBezTo>
                    <a:pt x="33704" y="55059"/>
                    <a:pt x="27529" y="48885"/>
                    <a:pt x="27529" y="41294"/>
                  </a:cubicBezTo>
                  <a:cubicBezTo>
                    <a:pt x="27529" y="33703"/>
                    <a:pt x="33704" y="27529"/>
                    <a:pt x="41294" y="27529"/>
                  </a:cubicBezTo>
                  <a:cubicBezTo>
                    <a:pt x="48885" y="27529"/>
                    <a:pt x="55059" y="33703"/>
                    <a:pt x="55059" y="41294"/>
                  </a:cubicBezTo>
                  <a:cubicBezTo>
                    <a:pt x="55059" y="48885"/>
                    <a:pt x="48885" y="55059"/>
                    <a:pt x="41294" y="550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8" name="Google Shape;1268;p66"/>
            <p:cNvSpPr/>
            <p:nvPr/>
          </p:nvSpPr>
          <p:spPr>
            <a:xfrm>
              <a:off x="2106933" y="1066012"/>
              <a:ext cx="74523" cy="74523"/>
            </a:xfrm>
            <a:custGeom>
              <a:rect b="b" l="l" r="r" t="t"/>
              <a:pathLst>
                <a:path extrusionOk="0" h="74523" w="74523">
                  <a:moveTo>
                    <a:pt x="1" y="55059"/>
                  </a:moveTo>
                  <a:lnTo>
                    <a:pt x="19465" y="74524"/>
                  </a:lnTo>
                  <a:lnTo>
                    <a:pt x="37262" y="56728"/>
                  </a:lnTo>
                  <a:lnTo>
                    <a:pt x="55059" y="74524"/>
                  </a:lnTo>
                  <a:lnTo>
                    <a:pt x="74524" y="55059"/>
                  </a:lnTo>
                  <a:lnTo>
                    <a:pt x="56728" y="37262"/>
                  </a:lnTo>
                  <a:lnTo>
                    <a:pt x="74524" y="19465"/>
                  </a:lnTo>
                  <a:lnTo>
                    <a:pt x="55060" y="0"/>
                  </a:lnTo>
                  <a:lnTo>
                    <a:pt x="37262" y="17796"/>
                  </a:lnTo>
                  <a:lnTo>
                    <a:pt x="19465" y="0"/>
                  </a:lnTo>
                  <a:lnTo>
                    <a:pt x="0" y="19465"/>
                  </a:lnTo>
                  <a:lnTo>
                    <a:pt x="17796" y="3726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9" name="Google Shape;1269;p66"/>
            <p:cNvSpPr/>
            <p:nvPr/>
          </p:nvSpPr>
          <p:spPr>
            <a:xfrm>
              <a:off x="2437286" y="1066012"/>
              <a:ext cx="74523" cy="74523"/>
            </a:xfrm>
            <a:custGeom>
              <a:rect b="b" l="l" r="r" t="t"/>
              <a:pathLst>
                <a:path extrusionOk="0" h="74523" w="74523">
                  <a:moveTo>
                    <a:pt x="19465" y="74524"/>
                  </a:moveTo>
                  <a:lnTo>
                    <a:pt x="37262" y="56728"/>
                  </a:lnTo>
                  <a:lnTo>
                    <a:pt x="55059" y="74524"/>
                  </a:lnTo>
                  <a:lnTo>
                    <a:pt x="74524" y="55059"/>
                  </a:lnTo>
                  <a:lnTo>
                    <a:pt x="56728" y="37262"/>
                  </a:lnTo>
                  <a:lnTo>
                    <a:pt x="74524" y="19465"/>
                  </a:lnTo>
                  <a:lnTo>
                    <a:pt x="55059" y="0"/>
                  </a:lnTo>
                  <a:lnTo>
                    <a:pt x="37262" y="17796"/>
                  </a:lnTo>
                  <a:lnTo>
                    <a:pt x="19465" y="0"/>
                  </a:lnTo>
                  <a:lnTo>
                    <a:pt x="0" y="19465"/>
                  </a:lnTo>
                  <a:lnTo>
                    <a:pt x="17796" y="37262"/>
                  </a:lnTo>
                  <a:lnTo>
                    <a:pt x="0" y="5505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0" name="Google Shape;1270;p66"/>
            <p:cNvSpPr/>
            <p:nvPr/>
          </p:nvSpPr>
          <p:spPr>
            <a:xfrm>
              <a:off x="2272109" y="1231188"/>
              <a:ext cx="74524" cy="74524"/>
            </a:xfrm>
            <a:custGeom>
              <a:rect b="b" l="l" r="r" t="t"/>
              <a:pathLst>
                <a:path extrusionOk="0" h="74524" w="74524">
                  <a:moveTo>
                    <a:pt x="0" y="19466"/>
                  </a:moveTo>
                  <a:lnTo>
                    <a:pt x="17797" y="37263"/>
                  </a:lnTo>
                  <a:lnTo>
                    <a:pt x="1" y="55059"/>
                  </a:lnTo>
                  <a:lnTo>
                    <a:pt x="19466" y="74525"/>
                  </a:lnTo>
                  <a:lnTo>
                    <a:pt x="37263" y="56729"/>
                  </a:lnTo>
                  <a:lnTo>
                    <a:pt x="55060" y="74525"/>
                  </a:lnTo>
                  <a:lnTo>
                    <a:pt x="74525" y="55059"/>
                  </a:lnTo>
                  <a:lnTo>
                    <a:pt x="56729" y="37263"/>
                  </a:lnTo>
                  <a:lnTo>
                    <a:pt x="74525" y="19466"/>
                  </a:lnTo>
                  <a:lnTo>
                    <a:pt x="55060" y="0"/>
                  </a:lnTo>
                  <a:lnTo>
                    <a:pt x="37263" y="17797"/>
                  </a:lnTo>
                  <a:lnTo>
                    <a:pt x="1946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1" name="Google Shape;1271;p66"/>
            <p:cNvSpPr/>
            <p:nvPr/>
          </p:nvSpPr>
          <p:spPr>
            <a:xfrm>
              <a:off x="2437286" y="1396364"/>
              <a:ext cx="74523" cy="74524"/>
            </a:xfrm>
            <a:custGeom>
              <a:rect b="b" l="l" r="r" t="t"/>
              <a:pathLst>
                <a:path extrusionOk="0" h="74524" w="74523">
                  <a:moveTo>
                    <a:pt x="55059" y="0"/>
                  </a:moveTo>
                  <a:lnTo>
                    <a:pt x="37262" y="17797"/>
                  </a:lnTo>
                  <a:lnTo>
                    <a:pt x="19465" y="0"/>
                  </a:lnTo>
                  <a:lnTo>
                    <a:pt x="0" y="19466"/>
                  </a:lnTo>
                  <a:lnTo>
                    <a:pt x="17796" y="37263"/>
                  </a:lnTo>
                  <a:lnTo>
                    <a:pt x="0" y="55059"/>
                  </a:lnTo>
                  <a:lnTo>
                    <a:pt x="19465" y="74525"/>
                  </a:lnTo>
                  <a:lnTo>
                    <a:pt x="37262" y="56729"/>
                  </a:lnTo>
                  <a:lnTo>
                    <a:pt x="55059" y="74525"/>
                  </a:lnTo>
                  <a:lnTo>
                    <a:pt x="74524" y="55059"/>
                  </a:lnTo>
                  <a:lnTo>
                    <a:pt x="56728" y="37263"/>
                  </a:lnTo>
                  <a:lnTo>
                    <a:pt x="74524" y="1946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2" name="Google Shape;1272;p66"/>
            <p:cNvSpPr/>
            <p:nvPr/>
          </p:nvSpPr>
          <p:spPr>
            <a:xfrm>
              <a:off x="2106933" y="1396364"/>
              <a:ext cx="74523" cy="74524"/>
            </a:xfrm>
            <a:custGeom>
              <a:rect b="b" l="l" r="r" t="t"/>
              <a:pathLst>
                <a:path extrusionOk="0" h="74524" w="74523">
                  <a:moveTo>
                    <a:pt x="55060" y="0"/>
                  </a:moveTo>
                  <a:lnTo>
                    <a:pt x="37262" y="17797"/>
                  </a:lnTo>
                  <a:lnTo>
                    <a:pt x="19465" y="0"/>
                  </a:lnTo>
                  <a:lnTo>
                    <a:pt x="0" y="19466"/>
                  </a:lnTo>
                  <a:lnTo>
                    <a:pt x="17796" y="37263"/>
                  </a:lnTo>
                  <a:lnTo>
                    <a:pt x="1" y="55059"/>
                  </a:lnTo>
                  <a:lnTo>
                    <a:pt x="19465" y="74525"/>
                  </a:lnTo>
                  <a:lnTo>
                    <a:pt x="37262" y="56729"/>
                  </a:lnTo>
                  <a:lnTo>
                    <a:pt x="55059" y="74525"/>
                  </a:lnTo>
                  <a:lnTo>
                    <a:pt x="74524" y="55059"/>
                  </a:lnTo>
                  <a:lnTo>
                    <a:pt x="56728" y="37263"/>
                  </a:lnTo>
                  <a:lnTo>
                    <a:pt x="74524" y="1946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73" name="Google Shape;1273;p66"/>
          <p:cNvSpPr txBox="1"/>
          <p:nvPr/>
        </p:nvSpPr>
        <p:spPr>
          <a:xfrm>
            <a:off x="969264" y="4700016"/>
            <a:ext cx="7223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29C7FE"/>
                </a:solidFill>
                <a:latin typeface="Roboto"/>
                <a:ea typeface="Roboto"/>
                <a:cs typeface="Roboto"/>
                <a:sym typeface="Roboto"/>
              </a:rPr>
              <a:t>Reduce risk: phishing-resistant MFA  •  encryption  •  monitoring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7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p67"/>
          <p:cNvSpPr txBox="1"/>
          <p:nvPr>
            <p:ph type="title"/>
          </p:nvPr>
        </p:nvSpPr>
        <p:spPr>
          <a:xfrm>
            <a:off x="720000" y="294400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Applicant vs Subscriber vs Claimant </a:t>
            </a:r>
            <a:endParaRPr sz="3000">
              <a:solidFill>
                <a:schemeClr val="accent6"/>
              </a:solidFill>
            </a:endParaRPr>
          </a:p>
        </p:txBody>
      </p:sp>
      <p:sp>
        <p:nvSpPr>
          <p:cNvPr id="1279" name="Google Shape;1279;p67"/>
          <p:cNvSpPr txBox="1"/>
          <p:nvPr>
            <p:ph idx="1" type="subTitle"/>
          </p:nvPr>
        </p:nvSpPr>
        <p:spPr>
          <a:xfrm>
            <a:off x="216400" y="1069825"/>
            <a:ext cx="2811300" cy="17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Russo One"/>
                <a:ea typeface="Russo One"/>
                <a:cs typeface="Russo One"/>
                <a:sym typeface="Russo One"/>
              </a:rPr>
              <a:t>Applicant </a:t>
            </a:r>
            <a:endParaRPr sz="13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 person registering for a digital identity.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Provides information for identity verification.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1280" name="Google Shape;1280;p67"/>
          <p:cNvSpPr txBox="1"/>
          <p:nvPr>
            <p:ph idx="2" type="subTitle"/>
          </p:nvPr>
        </p:nvSpPr>
        <p:spPr>
          <a:xfrm>
            <a:off x="3135750" y="1069825"/>
            <a:ext cx="2872500" cy="170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Russo One"/>
                <a:ea typeface="Russo One"/>
                <a:cs typeface="Russo One"/>
                <a:sym typeface="Russo One"/>
              </a:rPr>
              <a:t>Subscriber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 person who has successfully enrolled.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Has a registered digital identity and authenticator.</a:t>
            </a:r>
            <a:endParaRPr/>
          </a:p>
        </p:txBody>
      </p:sp>
      <p:sp>
        <p:nvSpPr>
          <p:cNvPr id="1281" name="Google Shape;1281;p67"/>
          <p:cNvSpPr txBox="1"/>
          <p:nvPr>
            <p:ph idx="3" type="subTitle"/>
          </p:nvPr>
        </p:nvSpPr>
        <p:spPr>
          <a:xfrm>
            <a:off x="6008250" y="1069825"/>
            <a:ext cx="2927700" cy="16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Russo One"/>
                <a:ea typeface="Russo One"/>
                <a:cs typeface="Russo One"/>
                <a:sym typeface="Russo One"/>
              </a:rPr>
              <a:t>Claimant </a:t>
            </a:r>
            <a:endParaRPr sz="2000">
              <a:latin typeface="Russo One"/>
              <a:ea typeface="Russo One"/>
              <a:cs typeface="Russo One"/>
              <a:sym typeface="Russo On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 person attempting to access a system.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Must prove their identity through authentication.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82" name="Google Shape;1282;p67" title="d506fee8-74c2-4d6b-bcdf-170709e17cc3.png"/>
          <p:cNvPicPr preferRelativeResize="0"/>
          <p:nvPr/>
        </p:nvPicPr>
        <p:blipFill rotWithShape="1">
          <a:blip r:embed="rId3">
            <a:alphaModFix/>
          </a:blip>
          <a:srcRect b="35702" l="0" r="0" t="36460"/>
          <a:stretch/>
        </p:blipFill>
        <p:spPr>
          <a:xfrm>
            <a:off x="315475" y="2724925"/>
            <a:ext cx="8567424" cy="1342249"/>
          </a:xfrm>
          <a:prstGeom prst="rect">
            <a:avLst/>
          </a:prstGeom>
          <a:noFill/>
          <a:ln>
            <a:noFill/>
          </a:ln>
        </p:spPr>
      </p:pic>
      <p:sp>
        <p:nvSpPr>
          <p:cNvPr id="1283" name="Google Shape;1283;p67"/>
          <p:cNvSpPr txBox="1"/>
          <p:nvPr/>
        </p:nvSpPr>
        <p:spPr>
          <a:xfrm>
            <a:off x="1851188" y="4067175"/>
            <a:ext cx="5496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subscriber becomes a claimant when attempting to authenticate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p68"/>
          <p:cNvSpPr txBox="1"/>
          <p:nvPr>
            <p:ph type="title"/>
          </p:nvPr>
        </p:nvSpPr>
        <p:spPr>
          <a:xfrm>
            <a:off x="720000" y="2803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Authentication Beyond Human Users </a:t>
            </a:r>
            <a:endParaRPr sz="3000">
              <a:solidFill>
                <a:schemeClr val="accent6"/>
              </a:solidFill>
            </a:endParaRPr>
          </a:p>
        </p:txBody>
      </p:sp>
      <p:sp>
        <p:nvSpPr>
          <p:cNvPr id="1289" name="Google Shape;1289;p68"/>
          <p:cNvSpPr txBox="1"/>
          <p:nvPr>
            <p:ph idx="1" type="subTitle"/>
          </p:nvPr>
        </p:nvSpPr>
        <p:spPr>
          <a:xfrm>
            <a:off x="667450" y="1096250"/>
            <a:ext cx="3673200" cy="1710900"/>
          </a:xfrm>
          <a:prstGeom prst="rect">
            <a:avLst/>
          </a:prstGeom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Russo One"/>
                <a:ea typeface="Russo One"/>
                <a:cs typeface="Russo One"/>
                <a:sym typeface="Russo One"/>
              </a:rPr>
              <a:t>IoT Devices</a:t>
            </a:r>
            <a:endParaRPr sz="1500">
              <a:latin typeface="Russo One"/>
              <a:ea typeface="Russo One"/>
              <a:cs typeface="Russo One"/>
              <a:sym typeface="Russo One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Use digital certificates or credentials to connect securely.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Example: Smart cameras accessing cloud servers.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0" name="Google Shape;1290;p68"/>
          <p:cNvSpPr txBox="1"/>
          <p:nvPr>
            <p:ph idx="1" type="subTitle"/>
          </p:nvPr>
        </p:nvSpPr>
        <p:spPr>
          <a:xfrm>
            <a:off x="4688400" y="1096250"/>
            <a:ext cx="3813600" cy="1710900"/>
          </a:xfrm>
          <a:prstGeom prst="rect">
            <a:avLst/>
          </a:prstGeom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Russo One"/>
                <a:ea typeface="Russo One"/>
                <a:cs typeface="Russo One"/>
                <a:sym typeface="Russo One"/>
              </a:rPr>
              <a:t>APIs</a:t>
            </a:r>
            <a:endParaRPr sz="1500">
              <a:latin typeface="Russo One"/>
              <a:ea typeface="Russo One"/>
              <a:cs typeface="Russo One"/>
              <a:sym typeface="Russo On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Applications use API keys or tokens to access services.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Payment apps connecting to banking APIs.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sso One"/>
              <a:ea typeface="Russo One"/>
              <a:cs typeface="Russo One"/>
              <a:sym typeface="Russo One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1" name="Google Shape;1291;p68"/>
          <p:cNvSpPr txBox="1"/>
          <p:nvPr>
            <p:ph idx="1" type="subTitle"/>
          </p:nvPr>
        </p:nvSpPr>
        <p:spPr>
          <a:xfrm>
            <a:off x="667450" y="3068225"/>
            <a:ext cx="3673200" cy="1744200"/>
          </a:xfrm>
          <a:prstGeom prst="rect">
            <a:avLst/>
          </a:prstGeom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Russo One"/>
                <a:ea typeface="Russo One"/>
                <a:cs typeface="Russo One"/>
                <a:sym typeface="Russo One"/>
              </a:rPr>
              <a:t>AI Agents &amp; Agentic Tools</a:t>
            </a:r>
            <a:endParaRPr sz="1500">
              <a:latin typeface="Russo One"/>
              <a:ea typeface="Russo One"/>
              <a:cs typeface="Russo One"/>
              <a:sym typeface="Russo On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Use assigned identities and permissions to access tools and APIs.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Example: AI assistants accessing calendar services.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2" name="Google Shape;1292;p68"/>
          <p:cNvSpPr txBox="1"/>
          <p:nvPr>
            <p:ph idx="1" type="subTitle"/>
          </p:nvPr>
        </p:nvSpPr>
        <p:spPr>
          <a:xfrm>
            <a:off x="4688400" y="3068225"/>
            <a:ext cx="3813600" cy="1744200"/>
          </a:xfrm>
          <a:prstGeom prst="rect">
            <a:avLst/>
          </a:prstGeom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Russo One"/>
                <a:ea typeface="Russo One"/>
                <a:cs typeface="Russo One"/>
                <a:sym typeface="Russo One"/>
              </a:rPr>
              <a:t>Automated Systems</a:t>
            </a:r>
            <a:endParaRPr sz="1500">
              <a:latin typeface="Russo One"/>
              <a:ea typeface="Russo One"/>
              <a:cs typeface="Russo One"/>
              <a:sym typeface="Russo On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Use service accounts or workload identities for machine-to-machine authentication.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Example: Automated cloud backup systems.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6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p69"/>
          <p:cNvSpPr txBox="1"/>
          <p:nvPr>
            <p:ph idx="3" type="subTitle"/>
          </p:nvPr>
        </p:nvSpPr>
        <p:spPr>
          <a:xfrm>
            <a:off x="719975" y="2782700"/>
            <a:ext cx="2475000" cy="1247400"/>
          </a:xfrm>
          <a:prstGeom prst="rect">
            <a:avLst/>
          </a:prstGeom>
          <a:noFill/>
          <a:ln cap="flat" cmpd="sng" w="9525">
            <a:solidFill>
              <a:srgbClr val="29C7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latin typeface="Russo One"/>
                <a:ea typeface="Russo One"/>
                <a:cs typeface="Russo One"/>
                <a:sym typeface="Russo One"/>
              </a:rPr>
              <a:t>COMPROMISED APIs</a:t>
            </a:r>
            <a:endParaRPr sz="1500">
              <a:latin typeface="Russo One"/>
              <a:ea typeface="Russo One"/>
              <a:cs typeface="Russo One"/>
              <a:sym typeface="Russo On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Weak authentication exposes sensitive services.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350"/>
          </a:p>
        </p:txBody>
      </p:sp>
      <p:sp>
        <p:nvSpPr>
          <p:cNvPr id="1298" name="Google Shape;1298;p69"/>
          <p:cNvSpPr txBox="1"/>
          <p:nvPr>
            <p:ph type="title"/>
          </p:nvPr>
        </p:nvSpPr>
        <p:spPr>
          <a:xfrm>
            <a:off x="578300" y="75175"/>
            <a:ext cx="8049300" cy="10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 sz="3000"/>
              <a:t>AUTHENTICATION THREATS IN THE COGNITIVE AGE </a:t>
            </a:r>
            <a:endParaRPr sz="3000">
              <a:solidFill>
                <a:schemeClr val="accent6"/>
              </a:solidFill>
            </a:endParaRPr>
          </a:p>
        </p:txBody>
      </p:sp>
      <p:sp>
        <p:nvSpPr>
          <p:cNvPr id="1299" name="Google Shape;1299;p69"/>
          <p:cNvSpPr txBox="1"/>
          <p:nvPr>
            <p:ph idx="1" type="subTitle"/>
          </p:nvPr>
        </p:nvSpPr>
        <p:spPr>
          <a:xfrm>
            <a:off x="719975" y="1272477"/>
            <a:ext cx="2475000" cy="1247400"/>
          </a:xfrm>
          <a:prstGeom prst="rect">
            <a:avLst/>
          </a:prstGeom>
          <a:noFill/>
          <a:ln cap="flat" cmpd="sng" w="9525">
            <a:solidFill>
              <a:srgbClr val="29C7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latin typeface="Russo One"/>
                <a:ea typeface="Russo One"/>
                <a:cs typeface="Russo One"/>
                <a:sym typeface="Russo One"/>
              </a:rPr>
              <a:t>IMPERSONATION</a:t>
            </a:r>
            <a:endParaRPr sz="1500">
              <a:latin typeface="Russo One"/>
              <a:ea typeface="Russo One"/>
              <a:cs typeface="Russo One"/>
              <a:sym typeface="Russo On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Attackers pretend to be legitimate users or devices.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350"/>
          </a:p>
        </p:txBody>
      </p:sp>
      <p:sp>
        <p:nvSpPr>
          <p:cNvPr id="1300" name="Google Shape;1300;p69"/>
          <p:cNvSpPr txBox="1"/>
          <p:nvPr>
            <p:ph idx="2" type="subTitle"/>
          </p:nvPr>
        </p:nvSpPr>
        <p:spPr>
          <a:xfrm>
            <a:off x="3472050" y="1272475"/>
            <a:ext cx="2475000" cy="1247400"/>
          </a:xfrm>
          <a:prstGeom prst="rect">
            <a:avLst/>
          </a:prstGeom>
          <a:noFill/>
          <a:ln cap="flat" cmpd="sng" w="9525">
            <a:solidFill>
              <a:srgbClr val="29C7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latin typeface="Russo One"/>
                <a:ea typeface="Russo One"/>
                <a:cs typeface="Russo One"/>
                <a:sym typeface="Russo One"/>
              </a:rPr>
              <a:t>STOLEN TOKENS</a:t>
            </a:r>
            <a:endParaRPr sz="1500">
              <a:latin typeface="Russo One"/>
              <a:ea typeface="Russo One"/>
              <a:cs typeface="Russo One"/>
              <a:sym typeface="Russo On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Stolen access tokens allow unauthorized access.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350"/>
          </a:p>
        </p:txBody>
      </p:sp>
      <p:sp>
        <p:nvSpPr>
          <p:cNvPr id="1301" name="Google Shape;1301;p69"/>
          <p:cNvSpPr txBox="1"/>
          <p:nvPr>
            <p:ph idx="4" type="subTitle"/>
          </p:nvPr>
        </p:nvSpPr>
        <p:spPr>
          <a:xfrm>
            <a:off x="3436250" y="2782700"/>
            <a:ext cx="2475000" cy="1247400"/>
          </a:xfrm>
          <a:prstGeom prst="rect">
            <a:avLst/>
          </a:prstGeom>
          <a:noFill/>
          <a:ln cap="flat" cmpd="sng" w="9525">
            <a:solidFill>
              <a:srgbClr val="29C7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latin typeface="Russo One"/>
                <a:ea typeface="Russo One"/>
                <a:cs typeface="Russo One"/>
                <a:sym typeface="Russo One"/>
              </a:rPr>
              <a:t>AUTOMATED ATTACKS</a:t>
            </a:r>
            <a:endParaRPr sz="1500">
              <a:latin typeface="Russo One"/>
              <a:ea typeface="Russo One"/>
              <a:cs typeface="Russo One"/>
              <a:sym typeface="Russo On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Bots rapidly test stolen login credentials.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350"/>
          </a:p>
        </p:txBody>
      </p:sp>
      <p:sp>
        <p:nvSpPr>
          <p:cNvPr id="1302" name="Google Shape;1302;p69"/>
          <p:cNvSpPr txBox="1"/>
          <p:nvPr>
            <p:ph idx="5" type="subTitle"/>
          </p:nvPr>
        </p:nvSpPr>
        <p:spPr>
          <a:xfrm>
            <a:off x="6118525" y="1272475"/>
            <a:ext cx="2475000" cy="1247400"/>
          </a:xfrm>
          <a:prstGeom prst="rect">
            <a:avLst/>
          </a:prstGeom>
          <a:noFill/>
          <a:ln cap="flat" cmpd="sng" w="9525">
            <a:solidFill>
              <a:srgbClr val="29C7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latin typeface="Russo One"/>
                <a:ea typeface="Russo One"/>
                <a:cs typeface="Russo One"/>
                <a:sym typeface="Russo One"/>
              </a:rPr>
              <a:t>FAKE AI AGENTS</a:t>
            </a:r>
            <a:endParaRPr sz="1500">
              <a:latin typeface="Russo One"/>
              <a:ea typeface="Russo One"/>
              <a:cs typeface="Russo One"/>
              <a:sym typeface="Russo On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Malicious agents imitate trusted AI systems.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350"/>
          </a:p>
        </p:txBody>
      </p:sp>
      <p:sp>
        <p:nvSpPr>
          <p:cNvPr id="1303" name="Google Shape;1303;p69"/>
          <p:cNvSpPr txBox="1"/>
          <p:nvPr>
            <p:ph idx="6" type="subTitle"/>
          </p:nvPr>
        </p:nvSpPr>
        <p:spPr>
          <a:xfrm>
            <a:off x="6152525" y="2736000"/>
            <a:ext cx="2475000" cy="1294200"/>
          </a:xfrm>
          <a:prstGeom prst="rect">
            <a:avLst/>
          </a:prstGeom>
          <a:noFill/>
          <a:ln cap="flat" cmpd="sng" w="9525">
            <a:solidFill>
              <a:srgbClr val="29C7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latin typeface="Russo One"/>
                <a:ea typeface="Russo One"/>
                <a:cs typeface="Russo One"/>
                <a:sym typeface="Russo One"/>
              </a:rPr>
              <a:t>MACHINE-TO-MACHINE</a:t>
            </a:r>
            <a:endParaRPr sz="1500">
              <a:latin typeface="Russo One"/>
              <a:ea typeface="Russo One"/>
              <a:cs typeface="Russo One"/>
              <a:sym typeface="Russo On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Shared credentials or weak permissions expose systems.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350"/>
          </a:p>
        </p:txBody>
      </p:sp>
      <p:sp>
        <p:nvSpPr>
          <p:cNvPr id="1304" name="Google Shape;1304;p69"/>
          <p:cNvSpPr txBox="1"/>
          <p:nvPr/>
        </p:nvSpPr>
        <p:spPr>
          <a:xfrm>
            <a:off x="1061900" y="4485263"/>
            <a:ext cx="726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AI increases attack speed, scale and autonomy. Strong authentication, least privilege and monitoring help reduce risks. </a:t>
            </a:r>
            <a:endParaRPr sz="1500">
              <a:solidFill>
                <a:schemeClr val="dk1"/>
              </a:solidFill>
            </a:endParaRPr>
          </a:p>
        </p:txBody>
      </p:sp>
      <p:cxnSp>
        <p:nvCxnSpPr>
          <p:cNvPr id="1305" name="Google Shape;1305;p69"/>
          <p:cNvCxnSpPr/>
          <p:nvPr/>
        </p:nvCxnSpPr>
        <p:spPr>
          <a:xfrm>
            <a:off x="299850" y="4295600"/>
            <a:ext cx="8572500" cy="93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0123F"/>
        </a:solidFill>
      </p:bgPr>
    </p:bg>
    <p:spTree>
      <p:nvGrpSpPr>
        <p:cNvPr id="1309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p70"/>
          <p:cNvSpPr/>
          <p:nvPr/>
        </p:nvSpPr>
        <p:spPr>
          <a:xfrm>
            <a:off x="164592" y="274320"/>
            <a:ext cx="804600" cy="63900"/>
          </a:xfrm>
          <a:prstGeom prst="rect">
            <a:avLst/>
          </a:prstGeom>
          <a:solidFill>
            <a:srgbClr val="ED218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1" name="Google Shape;1311;p70"/>
          <p:cNvSpPr/>
          <p:nvPr/>
        </p:nvSpPr>
        <p:spPr>
          <a:xfrm>
            <a:off x="969264" y="274320"/>
            <a:ext cx="320100" cy="63900"/>
          </a:xfrm>
          <a:prstGeom prst="rect">
            <a:avLst/>
          </a:prstGeom>
          <a:solidFill>
            <a:srgbClr val="29C7F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2" name="Google Shape;1312;p70"/>
          <p:cNvSpPr/>
          <p:nvPr/>
        </p:nvSpPr>
        <p:spPr>
          <a:xfrm>
            <a:off x="7973568" y="274320"/>
            <a:ext cx="594300" cy="63900"/>
          </a:xfrm>
          <a:prstGeom prst="rect">
            <a:avLst/>
          </a:prstGeom>
          <a:solidFill>
            <a:srgbClr val="29C7F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3" name="Google Shape;1313;p70"/>
          <p:cNvSpPr/>
          <p:nvPr/>
        </p:nvSpPr>
        <p:spPr>
          <a:xfrm>
            <a:off x="8567928" y="274320"/>
            <a:ext cx="320100" cy="63900"/>
          </a:xfrm>
          <a:prstGeom prst="rect">
            <a:avLst/>
          </a:prstGeom>
          <a:solidFill>
            <a:srgbClr val="ED218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4" name="Google Shape;1314;p70"/>
          <p:cNvSpPr txBox="1"/>
          <p:nvPr/>
        </p:nvSpPr>
        <p:spPr>
          <a:xfrm>
            <a:off x="502920" y="603504"/>
            <a:ext cx="81381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AUTHENTICATION FACTORS</a:t>
            </a:r>
            <a:endParaRPr/>
          </a:p>
        </p:txBody>
      </p:sp>
      <p:sp>
        <p:nvSpPr>
          <p:cNvPr id="1315" name="Google Shape;1315;p70"/>
          <p:cNvSpPr txBox="1"/>
          <p:nvPr/>
        </p:nvSpPr>
        <p:spPr>
          <a:xfrm>
            <a:off x="530352" y="1133856"/>
            <a:ext cx="80925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DDD5E5"/>
                </a:solidFill>
                <a:latin typeface="Arial"/>
                <a:ea typeface="Arial"/>
                <a:cs typeface="Arial"/>
                <a:sym typeface="Arial"/>
              </a:rPr>
              <a:t>Three categories of evidence used to verify identity</a:t>
            </a:r>
            <a:endParaRPr/>
          </a:p>
        </p:txBody>
      </p:sp>
      <p:sp>
        <p:nvSpPr>
          <p:cNvPr id="1316" name="Google Shape;1316;p70"/>
          <p:cNvSpPr/>
          <p:nvPr/>
        </p:nvSpPr>
        <p:spPr>
          <a:xfrm>
            <a:off x="502920" y="1755648"/>
            <a:ext cx="2359200" cy="2697600"/>
          </a:xfrm>
          <a:prstGeom prst="roundRect">
            <a:avLst>
              <a:gd fmla="val 16667" name="adj"/>
            </a:avLst>
          </a:prstGeom>
          <a:solidFill>
            <a:srgbClr val="421B54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7" name="Google Shape;1317;p70"/>
          <p:cNvSpPr/>
          <p:nvPr/>
        </p:nvSpPr>
        <p:spPr>
          <a:xfrm>
            <a:off x="502920" y="1755648"/>
            <a:ext cx="59400" cy="2697600"/>
          </a:xfrm>
          <a:prstGeom prst="rect">
            <a:avLst/>
          </a:prstGeom>
          <a:solidFill>
            <a:srgbClr val="ED218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8" name="Google Shape;1318;p70"/>
          <p:cNvSpPr txBox="1"/>
          <p:nvPr/>
        </p:nvSpPr>
        <p:spPr>
          <a:xfrm>
            <a:off x="667512" y="1920240"/>
            <a:ext cx="20301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29C7FE"/>
                </a:solidFill>
                <a:latin typeface="Arial"/>
                <a:ea typeface="Arial"/>
                <a:cs typeface="Arial"/>
                <a:sym typeface="Arial"/>
              </a:rPr>
              <a:t>SOMETHING YOU KNOW</a:t>
            </a:r>
            <a:endParaRPr/>
          </a:p>
        </p:txBody>
      </p:sp>
      <p:sp>
        <p:nvSpPr>
          <p:cNvPr id="1319" name="Google Shape;1319;p70"/>
          <p:cNvSpPr txBox="1"/>
          <p:nvPr/>
        </p:nvSpPr>
        <p:spPr>
          <a:xfrm>
            <a:off x="667512" y="2532888"/>
            <a:ext cx="2030100" cy="6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Passwords and PINs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Example: University portal password</a:t>
            </a:r>
            <a:endParaRPr/>
          </a:p>
        </p:txBody>
      </p:sp>
      <p:sp>
        <p:nvSpPr>
          <p:cNvPr id="1320" name="Google Shape;1320;p70"/>
          <p:cNvSpPr/>
          <p:nvPr/>
        </p:nvSpPr>
        <p:spPr>
          <a:xfrm>
            <a:off x="3401568" y="1755648"/>
            <a:ext cx="2359200" cy="2697600"/>
          </a:xfrm>
          <a:prstGeom prst="roundRect">
            <a:avLst>
              <a:gd fmla="val 16667" name="adj"/>
            </a:avLst>
          </a:prstGeom>
          <a:solidFill>
            <a:srgbClr val="421B54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1" name="Google Shape;1321;p70"/>
          <p:cNvSpPr/>
          <p:nvPr/>
        </p:nvSpPr>
        <p:spPr>
          <a:xfrm>
            <a:off x="3401568" y="1755648"/>
            <a:ext cx="59400" cy="2697600"/>
          </a:xfrm>
          <a:prstGeom prst="rect">
            <a:avLst/>
          </a:prstGeom>
          <a:solidFill>
            <a:srgbClr val="ED218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2" name="Google Shape;1322;p70"/>
          <p:cNvSpPr txBox="1"/>
          <p:nvPr/>
        </p:nvSpPr>
        <p:spPr>
          <a:xfrm>
            <a:off x="3566160" y="1920240"/>
            <a:ext cx="20301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29C7FE"/>
                </a:solidFill>
                <a:latin typeface="Arial"/>
                <a:ea typeface="Arial"/>
                <a:cs typeface="Arial"/>
                <a:sym typeface="Arial"/>
              </a:rPr>
              <a:t>SOMETHING YOU HAVE</a:t>
            </a:r>
            <a:endParaRPr/>
          </a:p>
        </p:txBody>
      </p:sp>
      <p:sp>
        <p:nvSpPr>
          <p:cNvPr id="1323" name="Google Shape;1323;p70"/>
          <p:cNvSpPr txBox="1"/>
          <p:nvPr/>
        </p:nvSpPr>
        <p:spPr>
          <a:xfrm>
            <a:off x="3566160" y="2532888"/>
            <a:ext cx="2030100" cy="6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Security keys and registered devices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Example: YubiKey</a:t>
            </a:r>
            <a:endParaRPr/>
          </a:p>
        </p:txBody>
      </p:sp>
      <p:sp>
        <p:nvSpPr>
          <p:cNvPr id="1324" name="Google Shape;1324;p70"/>
          <p:cNvSpPr/>
          <p:nvPr/>
        </p:nvSpPr>
        <p:spPr>
          <a:xfrm>
            <a:off x="6300216" y="1755648"/>
            <a:ext cx="2359200" cy="2697600"/>
          </a:xfrm>
          <a:prstGeom prst="roundRect">
            <a:avLst>
              <a:gd fmla="val 16667" name="adj"/>
            </a:avLst>
          </a:prstGeom>
          <a:solidFill>
            <a:srgbClr val="421B54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5" name="Google Shape;1325;p70"/>
          <p:cNvSpPr/>
          <p:nvPr/>
        </p:nvSpPr>
        <p:spPr>
          <a:xfrm>
            <a:off x="6300216" y="1755648"/>
            <a:ext cx="59400" cy="2697600"/>
          </a:xfrm>
          <a:prstGeom prst="rect">
            <a:avLst/>
          </a:prstGeom>
          <a:solidFill>
            <a:srgbClr val="ED218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6" name="Google Shape;1326;p70"/>
          <p:cNvSpPr txBox="1"/>
          <p:nvPr/>
        </p:nvSpPr>
        <p:spPr>
          <a:xfrm>
            <a:off x="6464807" y="1920240"/>
            <a:ext cx="20301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29C7FE"/>
                </a:solidFill>
                <a:latin typeface="Arial"/>
                <a:ea typeface="Arial"/>
                <a:cs typeface="Arial"/>
                <a:sym typeface="Arial"/>
              </a:rPr>
              <a:t>SOMETHING YOU ARE</a:t>
            </a:r>
            <a:endParaRPr/>
          </a:p>
        </p:txBody>
      </p:sp>
      <p:sp>
        <p:nvSpPr>
          <p:cNvPr id="1327" name="Google Shape;1327;p70"/>
          <p:cNvSpPr txBox="1"/>
          <p:nvPr/>
        </p:nvSpPr>
        <p:spPr>
          <a:xfrm>
            <a:off x="6464807" y="2532888"/>
            <a:ext cx="2030100" cy="6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Biometric characteristics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Example: Windows Hello fingerprint</a:t>
            </a:r>
            <a:endParaRPr/>
          </a:p>
        </p:txBody>
      </p:sp>
      <p:sp>
        <p:nvSpPr>
          <p:cNvPr id="1328" name="Google Shape;1328;p70"/>
          <p:cNvSpPr txBox="1"/>
          <p:nvPr/>
        </p:nvSpPr>
        <p:spPr>
          <a:xfrm>
            <a:off x="594360" y="4663440"/>
            <a:ext cx="8138100" cy="1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29C7FE"/>
                </a:solidFill>
                <a:latin typeface="Arial"/>
                <a:ea typeface="Arial"/>
                <a:cs typeface="Arial"/>
                <a:sym typeface="Arial"/>
              </a:rPr>
              <a:t>MFA combines two or more different factors, such as a password and a security key.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0123F"/>
        </a:solidFill>
      </p:bgPr>
    </p:bg>
    <p:spTree>
      <p:nvGrpSpPr>
        <p:cNvPr id="1332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333;p71"/>
          <p:cNvSpPr/>
          <p:nvPr/>
        </p:nvSpPr>
        <p:spPr>
          <a:xfrm>
            <a:off x="164592" y="274320"/>
            <a:ext cx="804600" cy="63900"/>
          </a:xfrm>
          <a:prstGeom prst="rect">
            <a:avLst/>
          </a:prstGeom>
          <a:solidFill>
            <a:srgbClr val="ED218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4" name="Google Shape;1334;p71"/>
          <p:cNvSpPr/>
          <p:nvPr/>
        </p:nvSpPr>
        <p:spPr>
          <a:xfrm>
            <a:off x="969264" y="274320"/>
            <a:ext cx="320100" cy="63900"/>
          </a:xfrm>
          <a:prstGeom prst="rect">
            <a:avLst/>
          </a:prstGeom>
          <a:solidFill>
            <a:srgbClr val="29C7F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5" name="Google Shape;1335;p71"/>
          <p:cNvSpPr/>
          <p:nvPr/>
        </p:nvSpPr>
        <p:spPr>
          <a:xfrm>
            <a:off x="7973568" y="274320"/>
            <a:ext cx="594300" cy="63900"/>
          </a:xfrm>
          <a:prstGeom prst="rect">
            <a:avLst/>
          </a:prstGeom>
          <a:solidFill>
            <a:srgbClr val="29C7F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6" name="Google Shape;1336;p71"/>
          <p:cNvSpPr/>
          <p:nvPr/>
        </p:nvSpPr>
        <p:spPr>
          <a:xfrm>
            <a:off x="8567928" y="274320"/>
            <a:ext cx="320100" cy="63900"/>
          </a:xfrm>
          <a:prstGeom prst="rect">
            <a:avLst/>
          </a:prstGeom>
          <a:solidFill>
            <a:srgbClr val="ED218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7" name="Google Shape;1337;p71"/>
          <p:cNvSpPr txBox="1"/>
          <p:nvPr/>
        </p:nvSpPr>
        <p:spPr>
          <a:xfrm>
            <a:off x="502920" y="603504"/>
            <a:ext cx="81381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MAIN TYPES OF AUTHENTICATORS</a:t>
            </a:r>
            <a:endParaRPr/>
          </a:p>
        </p:txBody>
      </p:sp>
      <p:sp>
        <p:nvSpPr>
          <p:cNvPr id="1338" name="Google Shape;1338;p71"/>
          <p:cNvSpPr txBox="1"/>
          <p:nvPr/>
        </p:nvSpPr>
        <p:spPr>
          <a:xfrm>
            <a:off x="530352" y="1133856"/>
            <a:ext cx="80925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DDD5E5"/>
                </a:solidFill>
                <a:latin typeface="Arial"/>
                <a:ea typeface="Arial"/>
                <a:cs typeface="Arial"/>
                <a:sym typeface="Arial"/>
              </a:rPr>
              <a:t>Common methods, grouped by how they verify identity</a:t>
            </a:r>
            <a:endParaRPr/>
          </a:p>
        </p:txBody>
      </p:sp>
      <p:sp>
        <p:nvSpPr>
          <p:cNvPr id="1339" name="Google Shape;1339;p71"/>
          <p:cNvSpPr/>
          <p:nvPr/>
        </p:nvSpPr>
        <p:spPr>
          <a:xfrm>
            <a:off x="502920" y="1554480"/>
            <a:ext cx="2624400" cy="1435500"/>
          </a:xfrm>
          <a:prstGeom prst="roundRect">
            <a:avLst>
              <a:gd fmla="val 16667" name="adj"/>
            </a:avLst>
          </a:prstGeom>
          <a:solidFill>
            <a:srgbClr val="421B54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0" name="Google Shape;1340;p71"/>
          <p:cNvSpPr/>
          <p:nvPr/>
        </p:nvSpPr>
        <p:spPr>
          <a:xfrm>
            <a:off x="502920" y="1554480"/>
            <a:ext cx="59400" cy="1435500"/>
          </a:xfrm>
          <a:prstGeom prst="rect">
            <a:avLst/>
          </a:prstGeom>
          <a:solidFill>
            <a:srgbClr val="ED218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1" name="Google Shape;1341;p71"/>
          <p:cNvSpPr txBox="1"/>
          <p:nvPr/>
        </p:nvSpPr>
        <p:spPr>
          <a:xfrm>
            <a:off x="667512" y="1719072"/>
            <a:ext cx="22950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29C7FE"/>
                </a:solidFill>
                <a:latin typeface="Arial"/>
                <a:ea typeface="Arial"/>
                <a:cs typeface="Arial"/>
                <a:sym typeface="Arial"/>
              </a:rPr>
              <a:t>PASSWORDS &amp; PINS</a:t>
            </a:r>
            <a:endParaRPr/>
          </a:p>
        </p:txBody>
      </p:sp>
      <p:sp>
        <p:nvSpPr>
          <p:cNvPr id="1342" name="Google Shape;1342;p71"/>
          <p:cNvSpPr txBox="1"/>
          <p:nvPr/>
        </p:nvSpPr>
        <p:spPr>
          <a:xfrm>
            <a:off x="667512" y="2331720"/>
            <a:ext cx="2295000" cy="4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Memorized secrets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Risk: phishing, reuse</a:t>
            </a:r>
            <a:endParaRPr/>
          </a:p>
        </p:txBody>
      </p:sp>
      <p:sp>
        <p:nvSpPr>
          <p:cNvPr id="1343" name="Google Shape;1343;p71"/>
          <p:cNvSpPr/>
          <p:nvPr/>
        </p:nvSpPr>
        <p:spPr>
          <a:xfrm>
            <a:off x="3410712" y="1554480"/>
            <a:ext cx="2624400" cy="1435500"/>
          </a:xfrm>
          <a:prstGeom prst="roundRect">
            <a:avLst>
              <a:gd fmla="val 16667" name="adj"/>
            </a:avLst>
          </a:prstGeom>
          <a:solidFill>
            <a:srgbClr val="421B54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4" name="Google Shape;1344;p71"/>
          <p:cNvSpPr/>
          <p:nvPr/>
        </p:nvSpPr>
        <p:spPr>
          <a:xfrm>
            <a:off x="3410712" y="1554480"/>
            <a:ext cx="59400" cy="1435500"/>
          </a:xfrm>
          <a:prstGeom prst="rect">
            <a:avLst/>
          </a:prstGeom>
          <a:solidFill>
            <a:srgbClr val="ED218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5" name="Google Shape;1345;p71"/>
          <p:cNvSpPr txBox="1"/>
          <p:nvPr/>
        </p:nvSpPr>
        <p:spPr>
          <a:xfrm>
            <a:off x="3575304" y="1719072"/>
            <a:ext cx="22950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29C7FE"/>
                </a:solidFill>
                <a:latin typeface="Arial"/>
                <a:ea typeface="Arial"/>
                <a:cs typeface="Arial"/>
                <a:sym typeface="Arial"/>
              </a:rPr>
              <a:t>ONE-TIME CODES</a:t>
            </a:r>
            <a:endParaRPr/>
          </a:p>
        </p:txBody>
      </p:sp>
      <p:sp>
        <p:nvSpPr>
          <p:cNvPr id="1346" name="Google Shape;1346;p71"/>
          <p:cNvSpPr txBox="1"/>
          <p:nvPr/>
        </p:nvSpPr>
        <p:spPr>
          <a:xfrm>
            <a:off x="3575304" y="2331720"/>
            <a:ext cx="2295000" cy="4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TOTP, HOTP, SMS OTP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Risk: real-time phishing</a:t>
            </a:r>
            <a:endParaRPr/>
          </a:p>
        </p:txBody>
      </p:sp>
      <p:sp>
        <p:nvSpPr>
          <p:cNvPr id="1347" name="Google Shape;1347;p71"/>
          <p:cNvSpPr/>
          <p:nvPr/>
        </p:nvSpPr>
        <p:spPr>
          <a:xfrm>
            <a:off x="6318504" y="1554480"/>
            <a:ext cx="2624400" cy="1435500"/>
          </a:xfrm>
          <a:prstGeom prst="roundRect">
            <a:avLst>
              <a:gd fmla="val 16667" name="adj"/>
            </a:avLst>
          </a:prstGeom>
          <a:solidFill>
            <a:srgbClr val="421B54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8" name="Google Shape;1348;p71"/>
          <p:cNvSpPr/>
          <p:nvPr/>
        </p:nvSpPr>
        <p:spPr>
          <a:xfrm>
            <a:off x="6318504" y="1554480"/>
            <a:ext cx="59400" cy="1435500"/>
          </a:xfrm>
          <a:prstGeom prst="rect">
            <a:avLst/>
          </a:prstGeom>
          <a:solidFill>
            <a:srgbClr val="ED218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9" name="Google Shape;1349;p71"/>
          <p:cNvSpPr txBox="1"/>
          <p:nvPr/>
        </p:nvSpPr>
        <p:spPr>
          <a:xfrm>
            <a:off x="6483096" y="1719072"/>
            <a:ext cx="22950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29C7FE"/>
                </a:solidFill>
                <a:latin typeface="Arial"/>
                <a:ea typeface="Arial"/>
                <a:cs typeface="Arial"/>
                <a:sym typeface="Arial"/>
              </a:rPr>
              <a:t>BIOMETRICS</a:t>
            </a:r>
            <a:endParaRPr/>
          </a:p>
        </p:txBody>
      </p:sp>
      <p:sp>
        <p:nvSpPr>
          <p:cNvPr id="1350" name="Google Shape;1350;p71"/>
          <p:cNvSpPr txBox="1"/>
          <p:nvPr/>
        </p:nvSpPr>
        <p:spPr>
          <a:xfrm>
            <a:off x="6483096" y="2331720"/>
            <a:ext cx="2295000" cy="4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Fingerprint, face, iris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Risk: spoofing</a:t>
            </a:r>
            <a:endParaRPr/>
          </a:p>
        </p:txBody>
      </p:sp>
      <p:sp>
        <p:nvSpPr>
          <p:cNvPr id="1351" name="Google Shape;1351;p71"/>
          <p:cNvSpPr/>
          <p:nvPr/>
        </p:nvSpPr>
        <p:spPr>
          <a:xfrm>
            <a:off x="502920" y="3154680"/>
            <a:ext cx="2624400" cy="1435500"/>
          </a:xfrm>
          <a:prstGeom prst="roundRect">
            <a:avLst>
              <a:gd fmla="val 16667" name="adj"/>
            </a:avLst>
          </a:prstGeom>
          <a:solidFill>
            <a:srgbClr val="421B54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2" name="Google Shape;1352;p71"/>
          <p:cNvSpPr/>
          <p:nvPr/>
        </p:nvSpPr>
        <p:spPr>
          <a:xfrm>
            <a:off x="502920" y="3154680"/>
            <a:ext cx="59400" cy="1435500"/>
          </a:xfrm>
          <a:prstGeom prst="rect">
            <a:avLst/>
          </a:prstGeom>
          <a:solidFill>
            <a:srgbClr val="ED218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3" name="Google Shape;1353;p71"/>
          <p:cNvSpPr txBox="1"/>
          <p:nvPr/>
        </p:nvSpPr>
        <p:spPr>
          <a:xfrm>
            <a:off x="667512" y="3319272"/>
            <a:ext cx="22950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29C7FE"/>
                </a:solidFill>
                <a:latin typeface="Arial"/>
                <a:ea typeface="Arial"/>
                <a:cs typeface="Arial"/>
                <a:sym typeface="Arial"/>
              </a:rPr>
              <a:t>SECURITY KEYS</a:t>
            </a:r>
            <a:endParaRPr/>
          </a:p>
        </p:txBody>
      </p:sp>
      <p:sp>
        <p:nvSpPr>
          <p:cNvPr id="1354" name="Google Shape;1354;p71"/>
          <p:cNvSpPr txBox="1"/>
          <p:nvPr/>
        </p:nvSpPr>
        <p:spPr>
          <a:xfrm>
            <a:off x="667512" y="3931920"/>
            <a:ext cx="2295000" cy="4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FIDO2 hardware keys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Benefit: phishing resistance</a:t>
            </a:r>
            <a:endParaRPr/>
          </a:p>
        </p:txBody>
      </p:sp>
      <p:sp>
        <p:nvSpPr>
          <p:cNvPr id="1355" name="Google Shape;1355;p71"/>
          <p:cNvSpPr/>
          <p:nvPr/>
        </p:nvSpPr>
        <p:spPr>
          <a:xfrm>
            <a:off x="3410712" y="3154680"/>
            <a:ext cx="2624400" cy="1435500"/>
          </a:xfrm>
          <a:prstGeom prst="roundRect">
            <a:avLst>
              <a:gd fmla="val 16667" name="adj"/>
            </a:avLst>
          </a:prstGeom>
          <a:solidFill>
            <a:srgbClr val="421B54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6" name="Google Shape;1356;p71"/>
          <p:cNvSpPr/>
          <p:nvPr/>
        </p:nvSpPr>
        <p:spPr>
          <a:xfrm>
            <a:off x="3410712" y="3154680"/>
            <a:ext cx="59400" cy="1435500"/>
          </a:xfrm>
          <a:prstGeom prst="rect">
            <a:avLst/>
          </a:prstGeom>
          <a:solidFill>
            <a:srgbClr val="ED218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7" name="Google Shape;1357;p71"/>
          <p:cNvSpPr txBox="1"/>
          <p:nvPr/>
        </p:nvSpPr>
        <p:spPr>
          <a:xfrm>
            <a:off x="3575304" y="3319272"/>
            <a:ext cx="22950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29C7FE"/>
                </a:solidFill>
                <a:latin typeface="Arial"/>
                <a:ea typeface="Arial"/>
                <a:cs typeface="Arial"/>
                <a:sym typeface="Arial"/>
              </a:rPr>
              <a:t>CERTIFICATES</a:t>
            </a:r>
            <a:endParaRPr/>
          </a:p>
        </p:txBody>
      </p:sp>
      <p:sp>
        <p:nvSpPr>
          <p:cNvPr id="1358" name="Google Shape;1358;p71"/>
          <p:cNvSpPr txBox="1"/>
          <p:nvPr/>
        </p:nvSpPr>
        <p:spPr>
          <a:xfrm>
            <a:off x="3575304" y="3931920"/>
            <a:ext cx="2295000" cy="4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Public-key credentials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Example: corporate VPN</a:t>
            </a:r>
            <a:endParaRPr/>
          </a:p>
        </p:txBody>
      </p:sp>
      <p:sp>
        <p:nvSpPr>
          <p:cNvPr id="1359" name="Google Shape;1359;p71"/>
          <p:cNvSpPr/>
          <p:nvPr/>
        </p:nvSpPr>
        <p:spPr>
          <a:xfrm>
            <a:off x="6318504" y="3154680"/>
            <a:ext cx="2624400" cy="1435500"/>
          </a:xfrm>
          <a:prstGeom prst="roundRect">
            <a:avLst>
              <a:gd fmla="val 16667" name="adj"/>
            </a:avLst>
          </a:prstGeom>
          <a:solidFill>
            <a:srgbClr val="421B54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0" name="Google Shape;1360;p71"/>
          <p:cNvSpPr/>
          <p:nvPr/>
        </p:nvSpPr>
        <p:spPr>
          <a:xfrm>
            <a:off x="6318504" y="3154680"/>
            <a:ext cx="59400" cy="1435500"/>
          </a:xfrm>
          <a:prstGeom prst="rect">
            <a:avLst/>
          </a:prstGeom>
          <a:solidFill>
            <a:srgbClr val="ED218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1" name="Google Shape;1361;p71"/>
          <p:cNvSpPr txBox="1"/>
          <p:nvPr/>
        </p:nvSpPr>
        <p:spPr>
          <a:xfrm>
            <a:off x="6483096" y="3319272"/>
            <a:ext cx="22950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29C7FE"/>
                </a:solidFill>
                <a:latin typeface="Arial"/>
                <a:ea typeface="Arial"/>
                <a:cs typeface="Arial"/>
                <a:sym typeface="Arial"/>
              </a:rPr>
              <a:t>APPS &amp; PASSKEYS</a:t>
            </a:r>
            <a:endParaRPr/>
          </a:p>
        </p:txBody>
      </p:sp>
      <p:sp>
        <p:nvSpPr>
          <p:cNvPr id="1362" name="Google Shape;1362;p71"/>
          <p:cNvSpPr txBox="1"/>
          <p:nvPr/>
        </p:nvSpPr>
        <p:spPr>
          <a:xfrm>
            <a:off x="6483096" y="3931920"/>
            <a:ext cx="2295000" cy="4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Push approvals, TOTP;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passkeys use key pairs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0123F"/>
        </a:solidFill>
      </p:bgPr>
    </p:bg>
    <p:spTree>
      <p:nvGrpSpPr>
        <p:cNvPr id="1366" name="Shape 1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Google Shape;1367;p72"/>
          <p:cNvSpPr/>
          <p:nvPr/>
        </p:nvSpPr>
        <p:spPr>
          <a:xfrm>
            <a:off x="164592" y="274320"/>
            <a:ext cx="804600" cy="63900"/>
          </a:xfrm>
          <a:prstGeom prst="rect">
            <a:avLst/>
          </a:prstGeom>
          <a:solidFill>
            <a:srgbClr val="ED218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8" name="Google Shape;1368;p72"/>
          <p:cNvSpPr/>
          <p:nvPr/>
        </p:nvSpPr>
        <p:spPr>
          <a:xfrm>
            <a:off x="969264" y="274320"/>
            <a:ext cx="320100" cy="63900"/>
          </a:xfrm>
          <a:prstGeom prst="rect">
            <a:avLst/>
          </a:prstGeom>
          <a:solidFill>
            <a:srgbClr val="29C7F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9" name="Google Shape;1369;p72"/>
          <p:cNvSpPr/>
          <p:nvPr/>
        </p:nvSpPr>
        <p:spPr>
          <a:xfrm>
            <a:off x="7973568" y="274320"/>
            <a:ext cx="594300" cy="63900"/>
          </a:xfrm>
          <a:prstGeom prst="rect">
            <a:avLst/>
          </a:prstGeom>
          <a:solidFill>
            <a:srgbClr val="29C7F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0" name="Google Shape;1370;p72"/>
          <p:cNvSpPr/>
          <p:nvPr/>
        </p:nvSpPr>
        <p:spPr>
          <a:xfrm>
            <a:off x="8567928" y="274320"/>
            <a:ext cx="320100" cy="63900"/>
          </a:xfrm>
          <a:prstGeom prst="rect">
            <a:avLst/>
          </a:prstGeom>
          <a:solidFill>
            <a:srgbClr val="ED218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1" name="Google Shape;1371;p72"/>
          <p:cNvSpPr txBox="1"/>
          <p:nvPr/>
        </p:nvSpPr>
        <p:spPr>
          <a:xfrm>
            <a:off x="502920" y="603504"/>
            <a:ext cx="81381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PASSWORDLESS AUTHENTICATION</a:t>
            </a:r>
            <a:endParaRPr/>
          </a:p>
        </p:txBody>
      </p:sp>
      <p:sp>
        <p:nvSpPr>
          <p:cNvPr id="1372" name="Google Shape;1372;p72"/>
          <p:cNvSpPr txBox="1"/>
          <p:nvPr/>
        </p:nvSpPr>
        <p:spPr>
          <a:xfrm>
            <a:off x="530352" y="1133856"/>
            <a:ext cx="80925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DDD5E5"/>
                </a:solidFill>
                <a:latin typeface="Arial"/>
                <a:ea typeface="Arial"/>
                <a:cs typeface="Arial"/>
                <a:sym typeface="Arial"/>
              </a:rPr>
              <a:t>Passkeys replace account passwords with cryptographic challenge-response</a:t>
            </a:r>
            <a:endParaRPr/>
          </a:p>
        </p:txBody>
      </p:sp>
      <p:sp>
        <p:nvSpPr>
          <p:cNvPr id="1373" name="Google Shape;1373;p72"/>
          <p:cNvSpPr/>
          <p:nvPr/>
        </p:nvSpPr>
        <p:spPr>
          <a:xfrm>
            <a:off x="502920" y="1737360"/>
            <a:ext cx="1965900" cy="2423100"/>
          </a:xfrm>
          <a:prstGeom prst="roundRect">
            <a:avLst>
              <a:gd fmla="val 16667" name="adj"/>
            </a:avLst>
          </a:prstGeom>
          <a:solidFill>
            <a:srgbClr val="421B54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4" name="Google Shape;1374;p72"/>
          <p:cNvSpPr/>
          <p:nvPr/>
        </p:nvSpPr>
        <p:spPr>
          <a:xfrm>
            <a:off x="502920" y="1737360"/>
            <a:ext cx="59400" cy="2423100"/>
          </a:xfrm>
          <a:prstGeom prst="rect">
            <a:avLst/>
          </a:prstGeom>
          <a:solidFill>
            <a:srgbClr val="ED218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5" name="Google Shape;1375;p72"/>
          <p:cNvSpPr txBox="1"/>
          <p:nvPr/>
        </p:nvSpPr>
        <p:spPr>
          <a:xfrm>
            <a:off x="667512" y="1901952"/>
            <a:ext cx="16368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29C7FE"/>
                </a:solidFill>
                <a:latin typeface="Arial"/>
                <a:ea typeface="Arial"/>
                <a:cs typeface="Arial"/>
                <a:sym typeface="Arial"/>
              </a:rPr>
              <a:t>01  REQUEST</a:t>
            </a:r>
            <a:endParaRPr/>
          </a:p>
        </p:txBody>
      </p:sp>
      <p:sp>
        <p:nvSpPr>
          <p:cNvPr id="1376" name="Google Shape;1376;p72"/>
          <p:cNvSpPr txBox="1"/>
          <p:nvPr/>
        </p:nvSpPr>
        <p:spPr>
          <a:xfrm>
            <a:off x="667512" y="2514600"/>
            <a:ext cx="16368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Select sign in with passkey</a:t>
            </a:r>
            <a:endParaRPr/>
          </a:p>
        </p:txBody>
      </p:sp>
      <p:sp>
        <p:nvSpPr>
          <p:cNvPr id="1377" name="Google Shape;1377;p72"/>
          <p:cNvSpPr/>
          <p:nvPr/>
        </p:nvSpPr>
        <p:spPr>
          <a:xfrm>
            <a:off x="2697480" y="1737360"/>
            <a:ext cx="1965900" cy="2423100"/>
          </a:xfrm>
          <a:prstGeom prst="roundRect">
            <a:avLst>
              <a:gd fmla="val 16667" name="adj"/>
            </a:avLst>
          </a:prstGeom>
          <a:solidFill>
            <a:srgbClr val="421B54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8" name="Google Shape;1378;p72"/>
          <p:cNvSpPr/>
          <p:nvPr/>
        </p:nvSpPr>
        <p:spPr>
          <a:xfrm>
            <a:off x="2697480" y="1737360"/>
            <a:ext cx="59400" cy="2423100"/>
          </a:xfrm>
          <a:prstGeom prst="rect">
            <a:avLst/>
          </a:prstGeom>
          <a:solidFill>
            <a:srgbClr val="ED218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9" name="Google Shape;1379;p72"/>
          <p:cNvSpPr txBox="1"/>
          <p:nvPr/>
        </p:nvSpPr>
        <p:spPr>
          <a:xfrm>
            <a:off x="2862072" y="1901952"/>
            <a:ext cx="16368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29C7FE"/>
                </a:solidFill>
                <a:latin typeface="Arial"/>
                <a:ea typeface="Arial"/>
                <a:cs typeface="Arial"/>
                <a:sym typeface="Arial"/>
              </a:rPr>
              <a:t>02  CHALLENGE</a:t>
            </a:r>
            <a:endParaRPr/>
          </a:p>
        </p:txBody>
      </p:sp>
      <p:sp>
        <p:nvSpPr>
          <p:cNvPr id="1380" name="Google Shape;1380;p72"/>
          <p:cNvSpPr txBox="1"/>
          <p:nvPr/>
        </p:nvSpPr>
        <p:spPr>
          <a:xfrm>
            <a:off x="2862072" y="2514600"/>
            <a:ext cx="16368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Service sends a unique challenge</a:t>
            </a:r>
            <a:endParaRPr/>
          </a:p>
        </p:txBody>
      </p:sp>
      <p:sp>
        <p:nvSpPr>
          <p:cNvPr id="1381" name="Google Shape;1381;p72"/>
          <p:cNvSpPr/>
          <p:nvPr/>
        </p:nvSpPr>
        <p:spPr>
          <a:xfrm>
            <a:off x="4892040" y="1737360"/>
            <a:ext cx="1965900" cy="2423100"/>
          </a:xfrm>
          <a:prstGeom prst="roundRect">
            <a:avLst>
              <a:gd fmla="val 16667" name="adj"/>
            </a:avLst>
          </a:prstGeom>
          <a:solidFill>
            <a:srgbClr val="421B54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2" name="Google Shape;1382;p72"/>
          <p:cNvSpPr/>
          <p:nvPr/>
        </p:nvSpPr>
        <p:spPr>
          <a:xfrm>
            <a:off x="4892040" y="1737360"/>
            <a:ext cx="59400" cy="2423100"/>
          </a:xfrm>
          <a:prstGeom prst="rect">
            <a:avLst/>
          </a:prstGeom>
          <a:solidFill>
            <a:srgbClr val="ED218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3" name="Google Shape;1383;p72"/>
          <p:cNvSpPr txBox="1"/>
          <p:nvPr/>
        </p:nvSpPr>
        <p:spPr>
          <a:xfrm>
            <a:off x="5056631" y="1901952"/>
            <a:ext cx="16368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29C7FE"/>
                </a:solidFill>
                <a:latin typeface="Arial"/>
                <a:ea typeface="Arial"/>
                <a:cs typeface="Arial"/>
                <a:sym typeface="Arial"/>
              </a:rPr>
              <a:t>03  VERIFY</a:t>
            </a:r>
            <a:endParaRPr/>
          </a:p>
        </p:txBody>
      </p:sp>
      <p:sp>
        <p:nvSpPr>
          <p:cNvPr id="1384" name="Google Shape;1384;p72"/>
          <p:cNvSpPr txBox="1"/>
          <p:nvPr/>
        </p:nvSpPr>
        <p:spPr>
          <a:xfrm>
            <a:off x="5056631" y="2514600"/>
            <a:ext cx="16368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Fingerprint or PIN unlocks private key</a:t>
            </a:r>
            <a:endParaRPr/>
          </a:p>
        </p:txBody>
      </p:sp>
      <p:sp>
        <p:nvSpPr>
          <p:cNvPr id="1385" name="Google Shape;1385;p72"/>
          <p:cNvSpPr/>
          <p:nvPr/>
        </p:nvSpPr>
        <p:spPr>
          <a:xfrm>
            <a:off x="7086599" y="1737360"/>
            <a:ext cx="1965900" cy="2423100"/>
          </a:xfrm>
          <a:prstGeom prst="roundRect">
            <a:avLst>
              <a:gd fmla="val 16667" name="adj"/>
            </a:avLst>
          </a:prstGeom>
          <a:solidFill>
            <a:srgbClr val="421B54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6" name="Google Shape;1386;p72"/>
          <p:cNvSpPr/>
          <p:nvPr/>
        </p:nvSpPr>
        <p:spPr>
          <a:xfrm>
            <a:off x="7086599" y="1737360"/>
            <a:ext cx="59400" cy="2423100"/>
          </a:xfrm>
          <a:prstGeom prst="rect">
            <a:avLst/>
          </a:prstGeom>
          <a:solidFill>
            <a:srgbClr val="ED218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7" name="Google Shape;1387;p72"/>
          <p:cNvSpPr txBox="1"/>
          <p:nvPr/>
        </p:nvSpPr>
        <p:spPr>
          <a:xfrm>
            <a:off x="7251191" y="1901952"/>
            <a:ext cx="16368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29C7FE"/>
                </a:solidFill>
                <a:latin typeface="Arial"/>
                <a:ea typeface="Arial"/>
                <a:cs typeface="Arial"/>
                <a:sym typeface="Arial"/>
              </a:rPr>
              <a:t>04  SIGN</a:t>
            </a:r>
            <a:endParaRPr/>
          </a:p>
        </p:txBody>
      </p:sp>
      <p:sp>
        <p:nvSpPr>
          <p:cNvPr id="1388" name="Google Shape;1388;p72"/>
          <p:cNvSpPr txBox="1"/>
          <p:nvPr/>
        </p:nvSpPr>
        <p:spPr>
          <a:xfrm>
            <a:off x="7251191" y="2514600"/>
            <a:ext cx="16368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Service checks the digital signature</a:t>
            </a:r>
            <a:endParaRPr/>
          </a:p>
        </p:txBody>
      </p:sp>
      <p:sp>
        <p:nvSpPr>
          <p:cNvPr id="1389" name="Google Shape;1389;p72"/>
          <p:cNvSpPr txBox="1"/>
          <p:nvPr/>
        </p:nvSpPr>
        <p:spPr>
          <a:xfrm>
            <a:off x="594360" y="4507992"/>
            <a:ext cx="81381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29C7FE"/>
                </a:solidFill>
                <a:latin typeface="Arial"/>
                <a:ea typeface="Arial"/>
                <a:cs typeface="Arial"/>
                <a:sym typeface="Arial"/>
              </a:rPr>
              <a:t>Example: Windows Hello unlocks a passkey to sign into an online account.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0123F"/>
        </a:solidFill>
      </p:bgPr>
    </p:bg>
    <p:spTree>
      <p:nvGrpSpPr>
        <p:cNvPr id="1393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" name="Google Shape;1394;p73"/>
          <p:cNvSpPr/>
          <p:nvPr/>
        </p:nvSpPr>
        <p:spPr>
          <a:xfrm>
            <a:off x="164592" y="274320"/>
            <a:ext cx="804600" cy="63900"/>
          </a:xfrm>
          <a:prstGeom prst="rect">
            <a:avLst/>
          </a:prstGeom>
          <a:solidFill>
            <a:srgbClr val="ED218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5" name="Google Shape;1395;p73"/>
          <p:cNvSpPr/>
          <p:nvPr/>
        </p:nvSpPr>
        <p:spPr>
          <a:xfrm>
            <a:off x="969264" y="274320"/>
            <a:ext cx="320100" cy="63900"/>
          </a:xfrm>
          <a:prstGeom prst="rect">
            <a:avLst/>
          </a:prstGeom>
          <a:solidFill>
            <a:srgbClr val="29C7F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6" name="Google Shape;1396;p73"/>
          <p:cNvSpPr/>
          <p:nvPr/>
        </p:nvSpPr>
        <p:spPr>
          <a:xfrm>
            <a:off x="7973568" y="274320"/>
            <a:ext cx="594300" cy="63900"/>
          </a:xfrm>
          <a:prstGeom prst="rect">
            <a:avLst/>
          </a:prstGeom>
          <a:solidFill>
            <a:srgbClr val="29C7F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7" name="Google Shape;1397;p73"/>
          <p:cNvSpPr/>
          <p:nvPr/>
        </p:nvSpPr>
        <p:spPr>
          <a:xfrm>
            <a:off x="8567928" y="274320"/>
            <a:ext cx="320100" cy="63900"/>
          </a:xfrm>
          <a:prstGeom prst="rect">
            <a:avLst/>
          </a:prstGeom>
          <a:solidFill>
            <a:srgbClr val="ED218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8" name="Google Shape;1398;p73"/>
          <p:cNvSpPr txBox="1"/>
          <p:nvPr/>
        </p:nvSpPr>
        <p:spPr>
          <a:xfrm>
            <a:off x="502920" y="603504"/>
            <a:ext cx="81381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POST-QUANTUM CRYPTOGRAPHY</a:t>
            </a:r>
            <a:endParaRPr/>
          </a:p>
        </p:txBody>
      </p:sp>
      <p:sp>
        <p:nvSpPr>
          <p:cNvPr id="1399" name="Google Shape;1399;p73"/>
          <p:cNvSpPr txBox="1"/>
          <p:nvPr/>
        </p:nvSpPr>
        <p:spPr>
          <a:xfrm>
            <a:off x="530352" y="1133856"/>
            <a:ext cx="80925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DDD5E5"/>
                </a:solidFill>
                <a:latin typeface="Arial"/>
                <a:ea typeface="Arial"/>
                <a:cs typeface="Arial"/>
                <a:sym typeface="Arial"/>
              </a:rPr>
              <a:t>Preparing public-key authentication for future quantum computers</a:t>
            </a:r>
            <a:endParaRPr/>
          </a:p>
        </p:txBody>
      </p:sp>
      <p:sp>
        <p:nvSpPr>
          <p:cNvPr id="1400" name="Google Shape;1400;p73"/>
          <p:cNvSpPr/>
          <p:nvPr/>
        </p:nvSpPr>
        <p:spPr>
          <a:xfrm>
            <a:off x="502920" y="1572768"/>
            <a:ext cx="3913500" cy="3054000"/>
          </a:xfrm>
          <a:prstGeom prst="roundRect">
            <a:avLst>
              <a:gd fmla="val 16667" name="adj"/>
            </a:avLst>
          </a:prstGeom>
          <a:solidFill>
            <a:srgbClr val="421B54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1" name="Google Shape;1401;p73"/>
          <p:cNvSpPr/>
          <p:nvPr/>
        </p:nvSpPr>
        <p:spPr>
          <a:xfrm>
            <a:off x="502920" y="1572768"/>
            <a:ext cx="59400" cy="3054000"/>
          </a:xfrm>
          <a:prstGeom prst="rect">
            <a:avLst/>
          </a:prstGeom>
          <a:solidFill>
            <a:srgbClr val="ED218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2" name="Google Shape;1402;p73"/>
          <p:cNvSpPr txBox="1"/>
          <p:nvPr/>
        </p:nvSpPr>
        <p:spPr>
          <a:xfrm>
            <a:off x="667512" y="1737360"/>
            <a:ext cx="35844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29C7FE"/>
                </a:solidFill>
                <a:latin typeface="Arial"/>
                <a:ea typeface="Arial"/>
                <a:cs typeface="Arial"/>
                <a:sym typeface="Arial"/>
              </a:rPr>
              <a:t>THE QUANTUM THREAT</a:t>
            </a:r>
            <a:endParaRPr/>
          </a:p>
        </p:txBody>
      </p:sp>
      <p:sp>
        <p:nvSpPr>
          <p:cNvPr id="1403" name="Google Shape;1403;p73"/>
          <p:cNvSpPr txBox="1"/>
          <p:nvPr/>
        </p:nvSpPr>
        <p:spPr>
          <a:xfrm>
            <a:off x="667512" y="2350008"/>
            <a:ext cx="3584400" cy="13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sufficiently powerful quantum computer could break RSA and elliptic-curve cryptography using Shor’s algorithm.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This threatens digital signatures and some certificate systems.</a:t>
            </a:r>
            <a:endParaRPr/>
          </a:p>
        </p:txBody>
      </p:sp>
      <p:sp>
        <p:nvSpPr>
          <p:cNvPr id="1404" name="Google Shape;1404;p73"/>
          <p:cNvSpPr/>
          <p:nvPr/>
        </p:nvSpPr>
        <p:spPr>
          <a:xfrm>
            <a:off x="4681728" y="1572768"/>
            <a:ext cx="3950100" cy="3054000"/>
          </a:xfrm>
          <a:prstGeom prst="roundRect">
            <a:avLst>
              <a:gd fmla="val 16667" name="adj"/>
            </a:avLst>
          </a:prstGeom>
          <a:solidFill>
            <a:srgbClr val="421B54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5" name="Google Shape;1405;p73"/>
          <p:cNvSpPr/>
          <p:nvPr/>
        </p:nvSpPr>
        <p:spPr>
          <a:xfrm>
            <a:off x="4681728" y="1572768"/>
            <a:ext cx="59400" cy="3054000"/>
          </a:xfrm>
          <a:prstGeom prst="rect">
            <a:avLst/>
          </a:prstGeom>
          <a:solidFill>
            <a:srgbClr val="ED218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6" name="Google Shape;1406;p73"/>
          <p:cNvSpPr txBox="1"/>
          <p:nvPr/>
        </p:nvSpPr>
        <p:spPr>
          <a:xfrm>
            <a:off x="4846320" y="1737360"/>
            <a:ext cx="36210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29C7FE"/>
                </a:solidFill>
                <a:latin typeface="Arial"/>
                <a:ea typeface="Arial"/>
                <a:cs typeface="Arial"/>
                <a:sym typeface="Arial"/>
              </a:rPr>
              <a:t>NIST PQC STANDARDS</a:t>
            </a:r>
            <a:endParaRPr/>
          </a:p>
        </p:txBody>
      </p:sp>
      <p:sp>
        <p:nvSpPr>
          <p:cNvPr id="1407" name="Google Shape;1407;p73"/>
          <p:cNvSpPr txBox="1"/>
          <p:nvPr/>
        </p:nvSpPr>
        <p:spPr>
          <a:xfrm>
            <a:off x="4846320" y="2350008"/>
            <a:ext cx="3621000" cy="11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FIPS 203: ML-KEM, key establishment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FIPS 204: ML-DSA, digital signatures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FIPS 205: SLH-DSA, digital signatures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Example: migrating bank signatures to ML-DSA.</a:t>
            </a:r>
            <a:endParaRPr/>
          </a:p>
        </p:txBody>
      </p:sp>
      <p:sp>
        <p:nvSpPr>
          <p:cNvPr id="1408" name="Google Shape;1408;p73"/>
          <p:cNvSpPr txBox="1"/>
          <p:nvPr/>
        </p:nvSpPr>
        <p:spPr>
          <a:xfrm>
            <a:off x="0" y="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Member 4</a:t>
            </a:r>
            <a:endParaRPr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0123F"/>
        </a:solidFill>
      </p:bgPr>
    </p:bg>
    <p:spTree>
      <p:nvGrpSpPr>
        <p:cNvPr id="1412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Google Shape;1413;p74"/>
          <p:cNvSpPr/>
          <p:nvPr/>
        </p:nvSpPr>
        <p:spPr>
          <a:xfrm>
            <a:off x="164592" y="274320"/>
            <a:ext cx="804600" cy="63900"/>
          </a:xfrm>
          <a:prstGeom prst="rect">
            <a:avLst/>
          </a:prstGeom>
          <a:solidFill>
            <a:srgbClr val="ED218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4" name="Google Shape;1414;p74"/>
          <p:cNvSpPr/>
          <p:nvPr/>
        </p:nvSpPr>
        <p:spPr>
          <a:xfrm>
            <a:off x="969264" y="274320"/>
            <a:ext cx="320100" cy="63900"/>
          </a:xfrm>
          <a:prstGeom prst="rect">
            <a:avLst/>
          </a:prstGeom>
          <a:solidFill>
            <a:srgbClr val="29C7F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5" name="Google Shape;1415;p74"/>
          <p:cNvSpPr/>
          <p:nvPr/>
        </p:nvSpPr>
        <p:spPr>
          <a:xfrm>
            <a:off x="7973568" y="274320"/>
            <a:ext cx="594300" cy="63900"/>
          </a:xfrm>
          <a:prstGeom prst="rect">
            <a:avLst/>
          </a:prstGeom>
          <a:solidFill>
            <a:srgbClr val="29C7F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6" name="Google Shape;1416;p74"/>
          <p:cNvSpPr/>
          <p:nvPr/>
        </p:nvSpPr>
        <p:spPr>
          <a:xfrm>
            <a:off x="8567928" y="274320"/>
            <a:ext cx="320100" cy="63900"/>
          </a:xfrm>
          <a:prstGeom prst="rect">
            <a:avLst/>
          </a:prstGeom>
          <a:solidFill>
            <a:srgbClr val="ED218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7" name="Google Shape;1417;p74"/>
          <p:cNvSpPr txBox="1"/>
          <p:nvPr/>
        </p:nvSpPr>
        <p:spPr>
          <a:xfrm>
            <a:off x="502920" y="603504"/>
            <a:ext cx="81381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FEDERATED AUTHENTICATION &amp; SSO</a:t>
            </a:r>
            <a:endParaRPr/>
          </a:p>
        </p:txBody>
      </p:sp>
      <p:sp>
        <p:nvSpPr>
          <p:cNvPr id="1418" name="Google Shape;1418;p74"/>
          <p:cNvSpPr txBox="1"/>
          <p:nvPr/>
        </p:nvSpPr>
        <p:spPr>
          <a:xfrm>
            <a:off x="530352" y="1133856"/>
            <a:ext cx="80925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DDD5E5"/>
                </a:solidFill>
                <a:latin typeface="Arial"/>
                <a:ea typeface="Arial"/>
                <a:cs typeface="Arial"/>
                <a:sym typeface="Arial"/>
              </a:rPr>
              <a:t>Centralized identity can serve multiple trusted applications</a:t>
            </a:r>
            <a:endParaRPr/>
          </a:p>
        </p:txBody>
      </p:sp>
      <p:sp>
        <p:nvSpPr>
          <p:cNvPr id="1419" name="Google Shape;1419;p74"/>
          <p:cNvSpPr/>
          <p:nvPr/>
        </p:nvSpPr>
        <p:spPr>
          <a:xfrm>
            <a:off x="502920" y="1591056"/>
            <a:ext cx="3904500" cy="3090600"/>
          </a:xfrm>
          <a:prstGeom prst="roundRect">
            <a:avLst>
              <a:gd fmla="val 16667" name="adj"/>
            </a:avLst>
          </a:prstGeom>
          <a:solidFill>
            <a:srgbClr val="421B54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0" name="Google Shape;1420;p74"/>
          <p:cNvSpPr/>
          <p:nvPr/>
        </p:nvSpPr>
        <p:spPr>
          <a:xfrm>
            <a:off x="502920" y="1591056"/>
            <a:ext cx="59400" cy="3090600"/>
          </a:xfrm>
          <a:prstGeom prst="rect">
            <a:avLst/>
          </a:prstGeom>
          <a:solidFill>
            <a:srgbClr val="ED218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1" name="Google Shape;1421;p74"/>
          <p:cNvSpPr txBox="1"/>
          <p:nvPr/>
        </p:nvSpPr>
        <p:spPr>
          <a:xfrm>
            <a:off x="667512" y="1755648"/>
            <a:ext cx="35754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29C7FE"/>
                </a:solidFill>
                <a:latin typeface="Arial"/>
                <a:ea typeface="Arial"/>
                <a:cs typeface="Arial"/>
                <a:sym typeface="Arial"/>
              </a:rPr>
              <a:t>FEDERATED AUTHENTICATION</a:t>
            </a:r>
            <a:endParaRPr/>
          </a:p>
        </p:txBody>
      </p:sp>
      <p:sp>
        <p:nvSpPr>
          <p:cNvPr id="1422" name="Google Shape;1422;p74"/>
          <p:cNvSpPr txBox="1"/>
          <p:nvPr/>
        </p:nvSpPr>
        <p:spPr>
          <a:xfrm>
            <a:off x="667512" y="2368296"/>
            <a:ext cx="3575400" cy="11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 application trusts an external identity provider (IdP) to authenticate a user.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Example: a university Microsoft account used to access an external learning platform.</a:t>
            </a:r>
            <a:endParaRPr/>
          </a:p>
        </p:txBody>
      </p:sp>
      <p:sp>
        <p:nvSpPr>
          <p:cNvPr id="1423" name="Google Shape;1423;p74"/>
          <p:cNvSpPr/>
          <p:nvPr/>
        </p:nvSpPr>
        <p:spPr>
          <a:xfrm>
            <a:off x="4690872" y="1591056"/>
            <a:ext cx="3931800" cy="3090600"/>
          </a:xfrm>
          <a:prstGeom prst="roundRect">
            <a:avLst>
              <a:gd fmla="val 16667" name="adj"/>
            </a:avLst>
          </a:prstGeom>
          <a:solidFill>
            <a:srgbClr val="421B54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4" name="Google Shape;1424;p74"/>
          <p:cNvSpPr/>
          <p:nvPr/>
        </p:nvSpPr>
        <p:spPr>
          <a:xfrm>
            <a:off x="4690872" y="1591056"/>
            <a:ext cx="59400" cy="3090600"/>
          </a:xfrm>
          <a:prstGeom prst="rect">
            <a:avLst/>
          </a:prstGeom>
          <a:solidFill>
            <a:srgbClr val="ED218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5" name="Google Shape;1425;p74"/>
          <p:cNvSpPr txBox="1"/>
          <p:nvPr/>
        </p:nvSpPr>
        <p:spPr>
          <a:xfrm>
            <a:off x="4855464" y="1755648"/>
            <a:ext cx="36027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29C7FE"/>
                </a:solidFill>
                <a:latin typeface="Arial"/>
                <a:ea typeface="Arial"/>
                <a:cs typeface="Arial"/>
                <a:sym typeface="Arial"/>
              </a:rPr>
              <a:t>SINGLE SIGN-ON (SSO)</a:t>
            </a:r>
            <a:endParaRPr/>
          </a:p>
        </p:txBody>
      </p:sp>
      <p:sp>
        <p:nvSpPr>
          <p:cNvPr id="1426" name="Google Shape;1426;p74"/>
          <p:cNvSpPr txBox="1"/>
          <p:nvPr/>
        </p:nvSpPr>
        <p:spPr>
          <a:xfrm>
            <a:off x="4855464" y="2368296"/>
            <a:ext cx="3602700" cy="11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user signs in once and accesses several applications without repeated login prompts.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Example: Teams, Outlook, and OneDrive in Microsoft 365.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0123F"/>
        </a:solidFill>
      </p:bgPr>
    </p:bg>
    <p:spTree>
      <p:nvGrpSpPr>
        <p:cNvPr id="1430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p75"/>
          <p:cNvSpPr/>
          <p:nvPr/>
        </p:nvSpPr>
        <p:spPr>
          <a:xfrm>
            <a:off x="164592" y="274320"/>
            <a:ext cx="804600" cy="63900"/>
          </a:xfrm>
          <a:prstGeom prst="rect">
            <a:avLst/>
          </a:prstGeom>
          <a:solidFill>
            <a:srgbClr val="ED218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2" name="Google Shape;1432;p75"/>
          <p:cNvSpPr/>
          <p:nvPr/>
        </p:nvSpPr>
        <p:spPr>
          <a:xfrm>
            <a:off x="969264" y="274320"/>
            <a:ext cx="320100" cy="63900"/>
          </a:xfrm>
          <a:prstGeom prst="rect">
            <a:avLst/>
          </a:prstGeom>
          <a:solidFill>
            <a:srgbClr val="29C7F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3" name="Google Shape;1433;p75"/>
          <p:cNvSpPr/>
          <p:nvPr/>
        </p:nvSpPr>
        <p:spPr>
          <a:xfrm>
            <a:off x="7973568" y="274320"/>
            <a:ext cx="594300" cy="63900"/>
          </a:xfrm>
          <a:prstGeom prst="rect">
            <a:avLst/>
          </a:prstGeom>
          <a:solidFill>
            <a:srgbClr val="29C7F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4" name="Google Shape;1434;p75"/>
          <p:cNvSpPr/>
          <p:nvPr/>
        </p:nvSpPr>
        <p:spPr>
          <a:xfrm>
            <a:off x="8567928" y="274320"/>
            <a:ext cx="320100" cy="63900"/>
          </a:xfrm>
          <a:prstGeom prst="rect">
            <a:avLst/>
          </a:prstGeom>
          <a:solidFill>
            <a:srgbClr val="ED218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5" name="Google Shape;1435;p75"/>
          <p:cNvSpPr txBox="1"/>
          <p:nvPr/>
        </p:nvSpPr>
        <p:spPr>
          <a:xfrm>
            <a:off x="502920" y="603504"/>
            <a:ext cx="81381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OAUTH 2.0 VS OPENID CONNECT</a:t>
            </a:r>
            <a:endParaRPr/>
          </a:p>
        </p:txBody>
      </p:sp>
      <p:sp>
        <p:nvSpPr>
          <p:cNvPr id="1436" name="Google Shape;1436;p75"/>
          <p:cNvSpPr txBox="1"/>
          <p:nvPr/>
        </p:nvSpPr>
        <p:spPr>
          <a:xfrm>
            <a:off x="530352" y="1133856"/>
            <a:ext cx="80925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DDD5E5"/>
                </a:solidFill>
                <a:latin typeface="Arial"/>
                <a:ea typeface="Arial"/>
                <a:cs typeface="Arial"/>
                <a:sym typeface="Arial"/>
              </a:rPr>
              <a:t>Authorization and authentication serve different purposes</a:t>
            </a:r>
            <a:endParaRPr/>
          </a:p>
        </p:txBody>
      </p:sp>
      <p:sp>
        <p:nvSpPr>
          <p:cNvPr id="1437" name="Google Shape;1437;p75"/>
          <p:cNvSpPr/>
          <p:nvPr/>
        </p:nvSpPr>
        <p:spPr>
          <a:xfrm>
            <a:off x="502920" y="1591056"/>
            <a:ext cx="3913500" cy="3063300"/>
          </a:xfrm>
          <a:prstGeom prst="roundRect">
            <a:avLst>
              <a:gd fmla="val 16667" name="adj"/>
            </a:avLst>
          </a:prstGeom>
          <a:solidFill>
            <a:srgbClr val="421B54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8" name="Google Shape;1438;p75"/>
          <p:cNvSpPr/>
          <p:nvPr/>
        </p:nvSpPr>
        <p:spPr>
          <a:xfrm>
            <a:off x="502920" y="1591056"/>
            <a:ext cx="59400" cy="3063300"/>
          </a:xfrm>
          <a:prstGeom prst="rect">
            <a:avLst/>
          </a:prstGeom>
          <a:solidFill>
            <a:srgbClr val="ED218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9" name="Google Shape;1439;p75"/>
          <p:cNvSpPr txBox="1"/>
          <p:nvPr/>
        </p:nvSpPr>
        <p:spPr>
          <a:xfrm>
            <a:off x="667512" y="1755648"/>
            <a:ext cx="35844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29C7FE"/>
                </a:solidFill>
                <a:latin typeface="Arial"/>
                <a:ea typeface="Arial"/>
                <a:cs typeface="Arial"/>
                <a:sym typeface="Arial"/>
              </a:rPr>
              <a:t>OAUTH 2.0: AUTHORIZATION</a:t>
            </a:r>
            <a:endParaRPr/>
          </a:p>
        </p:txBody>
      </p:sp>
      <p:sp>
        <p:nvSpPr>
          <p:cNvPr id="1440" name="Google Shape;1440;p75"/>
          <p:cNvSpPr txBox="1"/>
          <p:nvPr/>
        </p:nvSpPr>
        <p:spPr>
          <a:xfrm>
            <a:off x="667512" y="2368296"/>
            <a:ext cx="3584400" cy="11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Delegates limited access to resources through access tokens.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Example: allow an app to access selected Google Drive files without sharing a password.</a:t>
            </a:r>
            <a:endParaRPr/>
          </a:p>
        </p:txBody>
      </p:sp>
      <p:sp>
        <p:nvSpPr>
          <p:cNvPr id="1441" name="Google Shape;1441;p75"/>
          <p:cNvSpPr/>
          <p:nvPr/>
        </p:nvSpPr>
        <p:spPr>
          <a:xfrm>
            <a:off x="4690872" y="1591056"/>
            <a:ext cx="3931800" cy="3063300"/>
          </a:xfrm>
          <a:prstGeom prst="roundRect">
            <a:avLst>
              <a:gd fmla="val 16667" name="adj"/>
            </a:avLst>
          </a:prstGeom>
          <a:solidFill>
            <a:srgbClr val="421B54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2" name="Google Shape;1442;p75"/>
          <p:cNvSpPr/>
          <p:nvPr/>
        </p:nvSpPr>
        <p:spPr>
          <a:xfrm>
            <a:off x="4690872" y="1591056"/>
            <a:ext cx="59400" cy="3063300"/>
          </a:xfrm>
          <a:prstGeom prst="rect">
            <a:avLst/>
          </a:prstGeom>
          <a:solidFill>
            <a:srgbClr val="ED218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3" name="Google Shape;1443;p75"/>
          <p:cNvSpPr txBox="1"/>
          <p:nvPr/>
        </p:nvSpPr>
        <p:spPr>
          <a:xfrm>
            <a:off x="4855464" y="1755648"/>
            <a:ext cx="36027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29C7FE"/>
                </a:solidFill>
                <a:latin typeface="Arial"/>
                <a:ea typeface="Arial"/>
                <a:cs typeface="Arial"/>
                <a:sym typeface="Arial"/>
              </a:rPr>
              <a:t>OIDC: AUTHENTICATION</a:t>
            </a:r>
            <a:endParaRPr/>
          </a:p>
        </p:txBody>
      </p:sp>
      <p:sp>
        <p:nvSpPr>
          <p:cNvPr id="1444" name="Google Shape;1444;p75"/>
          <p:cNvSpPr txBox="1"/>
          <p:nvPr/>
        </p:nvSpPr>
        <p:spPr>
          <a:xfrm>
            <a:off x="4855464" y="2368296"/>
            <a:ext cx="3602700" cy="9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Adds an identity layer to OAuth 2.0 and uses ID tokens to describe the authenticated user.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Example: “Sign in with Google”.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0123F"/>
        </a:solidFill>
      </p:bgPr>
    </p:bg>
    <p:spTree>
      <p:nvGrpSpPr>
        <p:cNvPr id="1448" name="Shape 1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" name="Google Shape;1449;p76"/>
          <p:cNvSpPr/>
          <p:nvPr/>
        </p:nvSpPr>
        <p:spPr>
          <a:xfrm>
            <a:off x="164592" y="274320"/>
            <a:ext cx="804600" cy="63900"/>
          </a:xfrm>
          <a:prstGeom prst="rect">
            <a:avLst/>
          </a:prstGeom>
          <a:solidFill>
            <a:srgbClr val="ED218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0" name="Google Shape;1450;p76"/>
          <p:cNvSpPr/>
          <p:nvPr/>
        </p:nvSpPr>
        <p:spPr>
          <a:xfrm>
            <a:off x="969264" y="274320"/>
            <a:ext cx="320100" cy="63900"/>
          </a:xfrm>
          <a:prstGeom prst="rect">
            <a:avLst/>
          </a:prstGeom>
          <a:solidFill>
            <a:srgbClr val="29C7F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1" name="Google Shape;1451;p76"/>
          <p:cNvSpPr/>
          <p:nvPr/>
        </p:nvSpPr>
        <p:spPr>
          <a:xfrm>
            <a:off x="7973568" y="274320"/>
            <a:ext cx="594300" cy="63900"/>
          </a:xfrm>
          <a:prstGeom prst="rect">
            <a:avLst/>
          </a:prstGeom>
          <a:solidFill>
            <a:srgbClr val="29C7F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2" name="Google Shape;1452;p76"/>
          <p:cNvSpPr/>
          <p:nvPr/>
        </p:nvSpPr>
        <p:spPr>
          <a:xfrm>
            <a:off x="8567928" y="274320"/>
            <a:ext cx="320100" cy="63900"/>
          </a:xfrm>
          <a:prstGeom prst="rect">
            <a:avLst/>
          </a:prstGeom>
          <a:solidFill>
            <a:srgbClr val="ED218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3" name="Google Shape;1453;p76"/>
          <p:cNvSpPr txBox="1"/>
          <p:nvPr/>
        </p:nvSpPr>
        <p:spPr>
          <a:xfrm>
            <a:off x="502920" y="603504"/>
            <a:ext cx="81381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AUTHENTICATION VULNERABILITIES</a:t>
            </a:r>
            <a:endParaRPr/>
          </a:p>
        </p:txBody>
      </p:sp>
      <p:sp>
        <p:nvSpPr>
          <p:cNvPr id="1454" name="Google Shape;1454;p76"/>
          <p:cNvSpPr txBox="1"/>
          <p:nvPr/>
        </p:nvSpPr>
        <p:spPr>
          <a:xfrm>
            <a:off x="530352" y="1133856"/>
            <a:ext cx="80925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DDD5E5"/>
                </a:solidFill>
                <a:latin typeface="Arial"/>
                <a:ea typeface="Arial"/>
                <a:cs typeface="Arial"/>
                <a:sym typeface="Arial"/>
              </a:rPr>
              <a:t>Attacks against users, credentials, sessions, and identity systems</a:t>
            </a:r>
            <a:endParaRPr/>
          </a:p>
        </p:txBody>
      </p:sp>
      <p:sp>
        <p:nvSpPr>
          <p:cNvPr id="1455" name="Google Shape;1455;p76"/>
          <p:cNvSpPr/>
          <p:nvPr/>
        </p:nvSpPr>
        <p:spPr>
          <a:xfrm>
            <a:off x="502920" y="1536192"/>
            <a:ext cx="2615100" cy="1444800"/>
          </a:xfrm>
          <a:prstGeom prst="roundRect">
            <a:avLst>
              <a:gd fmla="val 16667" name="adj"/>
            </a:avLst>
          </a:prstGeom>
          <a:solidFill>
            <a:srgbClr val="421B54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6" name="Google Shape;1456;p76"/>
          <p:cNvSpPr/>
          <p:nvPr/>
        </p:nvSpPr>
        <p:spPr>
          <a:xfrm>
            <a:off x="502920" y="1536192"/>
            <a:ext cx="59400" cy="1444800"/>
          </a:xfrm>
          <a:prstGeom prst="rect">
            <a:avLst/>
          </a:prstGeom>
          <a:solidFill>
            <a:srgbClr val="ED218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7" name="Google Shape;1457;p76"/>
          <p:cNvSpPr txBox="1"/>
          <p:nvPr/>
        </p:nvSpPr>
        <p:spPr>
          <a:xfrm>
            <a:off x="667512" y="1700784"/>
            <a:ext cx="22860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29C7FE"/>
                </a:solidFill>
                <a:latin typeface="Arial"/>
                <a:ea typeface="Arial"/>
                <a:cs typeface="Arial"/>
                <a:sym typeface="Arial"/>
              </a:rPr>
              <a:t>BIOMETRIC SPOOFING</a:t>
            </a:r>
            <a:endParaRPr/>
          </a:p>
        </p:txBody>
      </p:sp>
      <p:sp>
        <p:nvSpPr>
          <p:cNvPr id="1458" name="Google Shape;1458;p76"/>
          <p:cNvSpPr txBox="1"/>
          <p:nvPr/>
        </p:nvSpPr>
        <p:spPr>
          <a:xfrm>
            <a:off x="667512" y="2313432"/>
            <a:ext cx="2286000" cy="4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Fake fingerprint or face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Control: liveness checks</a:t>
            </a:r>
            <a:endParaRPr/>
          </a:p>
        </p:txBody>
      </p:sp>
      <p:sp>
        <p:nvSpPr>
          <p:cNvPr id="1459" name="Google Shape;1459;p76"/>
          <p:cNvSpPr/>
          <p:nvPr/>
        </p:nvSpPr>
        <p:spPr>
          <a:xfrm>
            <a:off x="3410712" y="1536192"/>
            <a:ext cx="2615100" cy="1444800"/>
          </a:xfrm>
          <a:prstGeom prst="roundRect">
            <a:avLst>
              <a:gd fmla="val 16667" name="adj"/>
            </a:avLst>
          </a:prstGeom>
          <a:solidFill>
            <a:srgbClr val="421B54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0" name="Google Shape;1460;p76"/>
          <p:cNvSpPr/>
          <p:nvPr/>
        </p:nvSpPr>
        <p:spPr>
          <a:xfrm>
            <a:off x="3410712" y="1536192"/>
            <a:ext cx="59400" cy="1444800"/>
          </a:xfrm>
          <a:prstGeom prst="rect">
            <a:avLst/>
          </a:prstGeom>
          <a:solidFill>
            <a:srgbClr val="ED218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1" name="Google Shape;1461;p76"/>
          <p:cNvSpPr txBox="1"/>
          <p:nvPr/>
        </p:nvSpPr>
        <p:spPr>
          <a:xfrm>
            <a:off x="3575304" y="1700784"/>
            <a:ext cx="22860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29C7FE"/>
                </a:solidFill>
                <a:latin typeface="Arial"/>
                <a:ea typeface="Arial"/>
                <a:cs typeface="Arial"/>
                <a:sym typeface="Arial"/>
              </a:rPr>
              <a:t>TOKEN THEFT</a:t>
            </a:r>
            <a:endParaRPr/>
          </a:p>
        </p:txBody>
      </p:sp>
      <p:sp>
        <p:nvSpPr>
          <p:cNvPr id="1462" name="Google Shape;1462;p76"/>
          <p:cNvSpPr txBox="1"/>
          <p:nvPr/>
        </p:nvSpPr>
        <p:spPr>
          <a:xfrm>
            <a:off x="3575304" y="2313432"/>
            <a:ext cx="2286000" cy="4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Stolen session cookie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Control: secure sessions</a:t>
            </a:r>
            <a:endParaRPr/>
          </a:p>
        </p:txBody>
      </p:sp>
      <p:sp>
        <p:nvSpPr>
          <p:cNvPr id="1463" name="Google Shape;1463;p76"/>
          <p:cNvSpPr/>
          <p:nvPr/>
        </p:nvSpPr>
        <p:spPr>
          <a:xfrm>
            <a:off x="6318504" y="1536192"/>
            <a:ext cx="2615100" cy="1444800"/>
          </a:xfrm>
          <a:prstGeom prst="roundRect">
            <a:avLst>
              <a:gd fmla="val 16667" name="adj"/>
            </a:avLst>
          </a:prstGeom>
          <a:solidFill>
            <a:srgbClr val="421B54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4" name="Google Shape;1464;p76"/>
          <p:cNvSpPr/>
          <p:nvPr/>
        </p:nvSpPr>
        <p:spPr>
          <a:xfrm>
            <a:off x="6318504" y="1536192"/>
            <a:ext cx="59400" cy="1444800"/>
          </a:xfrm>
          <a:prstGeom prst="rect">
            <a:avLst/>
          </a:prstGeom>
          <a:solidFill>
            <a:srgbClr val="ED218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5" name="Google Shape;1465;p76"/>
          <p:cNvSpPr txBox="1"/>
          <p:nvPr/>
        </p:nvSpPr>
        <p:spPr>
          <a:xfrm>
            <a:off x="6483096" y="1700784"/>
            <a:ext cx="22860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29C7FE"/>
                </a:solidFill>
                <a:latin typeface="Arial"/>
                <a:ea typeface="Arial"/>
                <a:cs typeface="Arial"/>
                <a:sym typeface="Arial"/>
              </a:rPr>
              <a:t>COMPROMISED IdP</a:t>
            </a:r>
            <a:endParaRPr/>
          </a:p>
        </p:txBody>
      </p:sp>
      <p:sp>
        <p:nvSpPr>
          <p:cNvPr id="1466" name="Google Shape;1466;p76"/>
          <p:cNvSpPr txBox="1"/>
          <p:nvPr/>
        </p:nvSpPr>
        <p:spPr>
          <a:xfrm>
            <a:off x="6483096" y="2313432"/>
            <a:ext cx="2286000" cy="4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Trusted login system breached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Control: hardened IdP</a:t>
            </a:r>
            <a:endParaRPr/>
          </a:p>
        </p:txBody>
      </p:sp>
      <p:sp>
        <p:nvSpPr>
          <p:cNvPr id="1467" name="Google Shape;1467;p76"/>
          <p:cNvSpPr/>
          <p:nvPr/>
        </p:nvSpPr>
        <p:spPr>
          <a:xfrm>
            <a:off x="1938528" y="3172968"/>
            <a:ext cx="2615100" cy="1444800"/>
          </a:xfrm>
          <a:prstGeom prst="roundRect">
            <a:avLst>
              <a:gd fmla="val 16667" name="adj"/>
            </a:avLst>
          </a:prstGeom>
          <a:solidFill>
            <a:srgbClr val="421B54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8" name="Google Shape;1468;p76"/>
          <p:cNvSpPr/>
          <p:nvPr/>
        </p:nvSpPr>
        <p:spPr>
          <a:xfrm>
            <a:off x="1938528" y="3172968"/>
            <a:ext cx="59400" cy="1444800"/>
          </a:xfrm>
          <a:prstGeom prst="rect">
            <a:avLst/>
          </a:prstGeom>
          <a:solidFill>
            <a:srgbClr val="ED218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9" name="Google Shape;1469;p76"/>
          <p:cNvSpPr txBox="1"/>
          <p:nvPr/>
        </p:nvSpPr>
        <p:spPr>
          <a:xfrm>
            <a:off x="2103120" y="3337560"/>
            <a:ext cx="22860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29C7FE"/>
                </a:solidFill>
                <a:latin typeface="Arial"/>
                <a:ea typeface="Arial"/>
                <a:cs typeface="Arial"/>
                <a:sym typeface="Arial"/>
              </a:rPr>
              <a:t>ACCOUNT TAKEOVER</a:t>
            </a:r>
            <a:endParaRPr/>
          </a:p>
        </p:txBody>
      </p:sp>
      <p:sp>
        <p:nvSpPr>
          <p:cNvPr id="1470" name="Google Shape;1470;p76"/>
          <p:cNvSpPr txBox="1"/>
          <p:nvPr/>
        </p:nvSpPr>
        <p:spPr>
          <a:xfrm>
            <a:off x="2103120" y="3950208"/>
            <a:ext cx="2286000" cy="4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Reused stolen password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Control: resistant MFA</a:t>
            </a:r>
            <a:endParaRPr/>
          </a:p>
        </p:txBody>
      </p:sp>
      <p:sp>
        <p:nvSpPr>
          <p:cNvPr id="1471" name="Google Shape;1471;p76"/>
          <p:cNvSpPr/>
          <p:nvPr/>
        </p:nvSpPr>
        <p:spPr>
          <a:xfrm>
            <a:off x="4846320" y="3172968"/>
            <a:ext cx="2615100" cy="1444800"/>
          </a:xfrm>
          <a:prstGeom prst="roundRect">
            <a:avLst>
              <a:gd fmla="val 16667" name="adj"/>
            </a:avLst>
          </a:prstGeom>
          <a:solidFill>
            <a:srgbClr val="421B54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2" name="Google Shape;1472;p76"/>
          <p:cNvSpPr/>
          <p:nvPr/>
        </p:nvSpPr>
        <p:spPr>
          <a:xfrm>
            <a:off x="4846320" y="3172968"/>
            <a:ext cx="59400" cy="1444800"/>
          </a:xfrm>
          <a:prstGeom prst="rect">
            <a:avLst/>
          </a:prstGeom>
          <a:solidFill>
            <a:srgbClr val="ED218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3" name="Google Shape;1473;p76"/>
          <p:cNvSpPr txBox="1"/>
          <p:nvPr/>
        </p:nvSpPr>
        <p:spPr>
          <a:xfrm>
            <a:off x="5010912" y="3337560"/>
            <a:ext cx="22860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29C7FE"/>
                </a:solidFill>
                <a:latin typeface="Arial"/>
                <a:ea typeface="Arial"/>
                <a:cs typeface="Arial"/>
                <a:sym typeface="Arial"/>
              </a:rPr>
              <a:t>AI-ASSISTED PHISHING</a:t>
            </a:r>
            <a:endParaRPr/>
          </a:p>
        </p:txBody>
      </p:sp>
      <p:sp>
        <p:nvSpPr>
          <p:cNvPr id="1474" name="Google Shape;1474;p76"/>
          <p:cNvSpPr txBox="1"/>
          <p:nvPr/>
        </p:nvSpPr>
        <p:spPr>
          <a:xfrm>
            <a:off x="5010912" y="3950208"/>
            <a:ext cx="2286000" cy="4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Deepfake IT support call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Control: independent verification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0123F"/>
        </a:solidFill>
      </p:bgPr>
    </p:bg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Google Shape;1479;p77"/>
          <p:cNvSpPr/>
          <p:nvPr/>
        </p:nvSpPr>
        <p:spPr>
          <a:xfrm>
            <a:off x="164592" y="274320"/>
            <a:ext cx="804600" cy="63900"/>
          </a:xfrm>
          <a:prstGeom prst="rect">
            <a:avLst/>
          </a:prstGeom>
          <a:solidFill>
            <a:srgbClr val="ED218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0" name="Google Shape;1480;p77"/>
          <p:cNvSpPr/>
          <p:nvPr/>
        </p:nvSpPr>
        <p:spPr>
          <a:xfrm>
            <a:off x="969264" y="274320"/>
            <a:ext cx="320100" cy="63900"/>
          </a:xfrm>
          <a:prstGeom prst="rect">
            <a:avLst/>
          </a:prstGeom>
          <a:solidFill>
            <a:srgbClr val="29C7F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1" name="Google Shape;1481;p77"/>
          <p:cNvSpPr/>
          <p:nvPr/>
        </p:nvSpPr>
        <p:spPr>
          <a:xfrm>
            <a:off x="7973568" y="274320"/>
            <a:ext cx="594300" cy="63900"/>
          </a:xfrm>
          <a:prstGeom prst="rect">
            <a:avLst/>
          </a:prstGeom>
          <a:solidFill>
            <a:srgbClr val="29C7F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2" name="Google Shape;1482;p77"/>
          <p:cNvSpPr/>
          <p:nvPr/>
        </p:nvSpPr>
        <p:spPr>
          <a:xfrm>
            <a:off x="8567928" y="274320"/>
            <a:ext cx="320100" cy="63900"/>
          </a:xfrm>
          <a:prstGeom prst="rect">
            <a:avLst/>
          </a:prstGeom>
          <a:solidFill>
            <a:srgbClr val="ED218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3" name="Google Shape;1483;p77"/>
          <p:cNvSpPr txBox="1"/>
          <p:nvPr/>
        </p:nvSpPr>
        <p:spPr>
          <a:xfrm>
            <a:off x="502920" y="603504"/>
            <a:ext cx="81381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SECURITY BEST PRACTICES</a:t>
            </a:r>
            <a:endParaRPr/>
          </a:p>
        </p:txBody>
      </p:sp>
      <p:sp>
        <p:nvSpPr>
          <p:cNvPr id="1484" name="Google Shape;1484;p77"/>
          <p:cNvSpPr txBox="1"/>
          <p:nvPr/>
        </p:nvSpPr>
        <p:spPr>
          <a:xfrm>
            <a:off x="530352" y="1133856"/>
            <a:ext cx="80925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DDD5E5"/>
                </a:solidFill>
                <a:latin typeface="Arial"/>
                <a:ea typeface="Arial"/>
                <a:cs typeface="Arial"/>
                <a:sym typeface="Arial"/>
              </a:rPr>
              <a:t>Layered defenses are needed even with modern authenticators</a:t>
            </a:r>
            <a:endParaRPr/>
          </a:p>
        </p:txBody>
      </p:sp>
      <p:sp>
        <p:nvSpPr>
          <p:cNvPr id="1485" name="Google Shape;1485;p77"/>
          <p:cNvSpPr/>
          <p:nvPr/>
        </p:nvSpPr>
        <p:spPr>
          <a:xfrm>
            <a:off x="502920" y="1554480"/>
            <a:ext cx="3913500" cy="1417200"/>
          </a:xfrm>
          <a:prstGeom prst="roundRect">
            <a:avLst>
              <a:gd fmla="val 16667" name="adj"/>
            </a:avLst>
          </a:prstGeom>
          <a:solidFill>
            <a:srgbClr val="421B54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6" name="Google Shape;1486;p77"/>
          <p:cNvSpPr/>
          <p:nvPr/>
        </p:nvSpPr>
        <p:spPr>
          <a:xfrm>
            <a:off x="502920" y="1554480"/>
            <a:ext cx="59400" cy="1417200"/>
          </a:xfrm>
          <a:prstGeom prst="rect">
            <a:avLst/>
          </a:prstGeom>
          <a:solidFill>
            <a:srgbClr val="ED218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7" name="Google Shape;1487;p77"/>
          <p:cNvSpPr txBox="1"/>
          <p:nvPr/>
        </p:nvSpPr>
        <p:spPr>
          <a:xfrm>
            <a:off x="667512" y="1719072"/>
            <a:ext cx="35844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29C7FE"/>
                </a:solidFill>
                <a:latin typeface="Arial"/>
                <a:ea typeface="Arial"/>
                <a:cs typeface="Arial"/>
                <a:sym typeface="Arial"/>
              </a:rPr>
              <a:t>PHISHING RESISTANCE</a:t>
            </a:r>
            <a:endParaRPr/>
          </a:p>
        </p:txBody>
      </p:sp>
      <p:sp>
        <p:nvSpPr>
          <p:cNvPr id="1488" name="Google Shape;1488;p77"/>
          <p:cNvSpPr txBox="1"/>
          <p:nvPr/>
        </p:nvSpPr>
        <p:spPr>
          <a:xfrm>
            <a:off x="667512" y="2331720"/>
            <a:ext cx="35844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Prefer FIDO2 security keys and passkeys.</a:t>
            </a:r>
            <a:endParaRPr/>
          </a:p>
        </p:txBody>
      </p:sp>
      <p:sp>
        <p:nvSpPr>
          <p:cNvPr id="1489" name="Google Shape;1489;p77"/>
          <p:cNvSpPr/>
          <p:nvPr/>
        </p:nvSpPr>
        <p:spPr>
          <a:xfrm>
            <a:off x="4754880" y="1554480"/>
            <a:ext cx="3913500" cy="1417200"/>
          </a:xfrm>
          <a:prstGeom prst="roundRect">
            <a:avLst>
              <a:gd fmla="val 16667" name="adj"/>
            </a:avLst>
          </a:prstGeom>
          <a:solidFill>
            <a:srgbClr val="421B54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0" name="Google Shape;1490;p77"/>
          <p:cNvSpPr/>
          <p:nvPr/>
        </p:nvSpPr>
        <p:spPr>
          <a:xfrm>
            <a:off x="4754880" y="1554480"/>
            <a:ext cx="59400" cy="1417200"/>
          </a:xfrm>
          <a:prstGeom prst="rect">
            <a:avLst/>
          </a:prstGeom>
          <a:solidFill>
            <a:srgbClr val="ED218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1" name="Google Shape;1491;p77"/>
          <p:cNvSpPr txBox="1"/>
          <p:nvPr/>
        </p:nvSpPr>
        <p:spPr>
          <a:xfrm>
            <a:off x="4919472" y="1719072"/>
            <a:ext cx="35844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29C7FE"/>
                </a:solidFill>
                <a:latin typeface="Arial"/>
                <a:ea typeface="Arial"/>
                <a:cs typeface="Arial"/>
                <a:sym typeface="Arial"/>
              </a:rPr>
              <a:t>RECOVERY &amp; BACKUPS</a:t>
            </a:r>
            <a:endParaRPr/>
          </a:p>
        </p:txBody>
      </p:sp>
      <p:sp>
        <p:nvSpPr>
          <p:cNvPr id="1492" name="Google Shape;1492;p77"/>
          <p:cNvSpPr txBox="1"/>
          <p:nvPr/>
        </p:nvSpPr>
        <p:spPr>
          <a:xfrm>
            <a:off x="4919472" y="2331720"/>
            <a:ext cx="35844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Register backup authenticators and protect recovery.</a:t>
            </a:r>
            <a:endParaRPr/>
          </a:p>
        </p:txBody>
      </p:sp>
      <p:sp>
        <p:nvSpPr>
          <p:cNvPr id="1493" name="Google Shape;1493;p77"/>
          <p:cNvSpPr/>
          <p:nvPr/>
        </p:nvSpPr>
        <p:spPr>
          <a:xfrm>
            <a:off x="502920" y="3182112"/>
            <a:ext cx="3913500" cy="1417200"/>
          </a:xfrm>
          <a:prstGeom prst="roundRect">
            <a:avLst>
              <a:gd fmla="val 16667" name="adj"/>
            </a:avLst>
          </a:prstGeom>
          <a:solidFill>
            <a:srgbClr val="421B54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4" name="Google Shape;1494;p77"/>
          <p:cNvSpPr/>
          <p:nvPr/>
        </p:nvSpPr>
        <p:spPr>
          <a:xfrm>
            <a:off x="502920" y="3182112"/>
            <a:ext cx="59400" cy="1417200"/>
          </a:xfrm>
          <a:prstGeom prst="rect">
            <a:avLst/>
          </a:prstGeom>
          <a:solidFill>
            <a:srgbClr val="ED218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5" name="Google Shape;1495;p77"/>
          <p:cNvSpPr txBox="1"/>
          <p:nvPr/>
        </p:nvSpPr>
        <p:spPr>
          <a:xfrm>
            <a:off x="667512" y="3346704"/>
            <a:ext cx="35844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29C7FE"/>
                </a:solidFill>
                <a:latin typeface="Arial"/>
                <a:ea typeface="Arial"/>
                <a:cs typeface="Arial"/>
                <a:sym typeface="Arial"/>
              </a:rPr>
              <a:t>TOKEN PROTECTION</a:t>
            </a:r>
            <a:endParaRPr/>
          </a:p>
        </p:txBody>
      </p:sp>
      <p:sp>
        <p:nvSpPr>
          <p:cNvPr id="1496" name="Google Shape;1496;p77"/>
          <p:cNvSpPr txBox="1"/>
          <p:nvPr/>
        </p:nvSpPr>
        <p:spPr>
          <a:xfrm>
            <a:off x="667512" y="3959352"/>
            <a:ext cx="35844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Secure cookies, validate tokens, and revoke sessions.</a:t>
            </a:r>
            <a:endParaRPr/>
          </a:p>
        </p:txBody>
      </p:sp>
      <p:sp>
        <p:nvSpPr>
          <p:cNvPr id="1497" name="Google Shape;1497;p77"/>
          <p:cNvSpPr/>
          <p:nvPr/>
        </p:nvSpPr>
        <p:spPr>
          <a:xfrm>
            <a:off x="4754880" y="3182112"/>
            <a:ext cx="3913500" cy="1417200"/>
          </a:xfrm>
          <a:prstGeom prst="roundRect">
            <a:avLst>
              <a:gd fmla="val 16667" name="adj"/>
            </a:avLst>
          </a:prstGeom>
          <a:solidFill>
            <a:srgbClr val="421B54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8" name="Google Shape;1498;p77"/>
          <p:cNvSpPr/>
          <p:nvPr/>
        </p:nvSpPr>
        <p:spPr>
          <a:xfrm>
            <a:off x="4754880" y="3182112"/>
            <a:ext cx="59400" cy="1417200"/>
          </a:xfrm>
          <a:prstGeom prst="rect">
            <a:avLst/>
          </a:prstGeom>
          <a:solidFill>
            <a:srgbClr val="ED218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9" name="Google Shape;1499;p77"/>
          <p:cNvSpPr txBox="1"/>
          <p:nvPr/>
        </p:nvSpPr>
        <p:spPr>
          <a:xfrm>
            <a:off x="4919472" y="3346704"/>
            <a:ext cx="35844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29C7FE"/>
                </a:solidFill>
                <a:latin typeface="Arial"/>
                <a:ea typeface="Arial"/>
                <a:cs typeface="Arial"/>
                <a:sym typeface="Arial"/>
              </a:rPr>
              <a:t>IDENTITY MONITORING</a:t>
            </a:r>
            <a:endParaRPr/>
          </a:p>
        </p:txBody>
      </p:sp>
      <p:sp>
        <p:nvSpPr>
          <p:cNvPr id="1500" name="Google Shape;1500;p77"/>
          <p:cNvSpPr txBox="1"/>
          <p:nvPr/>
        </p:nvSpPr>
        <p:spPr>
          <a:xfrm>
            <a:off x="4919472" y="3959352"/>
            <a:ext cx="35844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Protect IdPs, detect unusual sign-ins and misuse.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4" name="Shape 1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" name="Google Shape;1505;p78"/>
          <p:cNvSpPr txBox="1"/>
          <p:nvPr>
            <p:ph type="title"/>
          </p:nvPr>
        </p:nvSpPr>
        <p:spPr>
          <a:xfrm>
            <a:off x="722376" y="384048"/>
            <a:ext cx="7699248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 sz="2600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Race condition: check, then use</a:t>
            </a:r>
            <a:endParaRPr/>
          </a:p>
        </p:txBody>
      </p:sp>
      <p:sp>
        <p:nvSpPr>
          <p:cNvPr id="1506" name="Google Shape;1506;p78"/>
          <p:cNvSpPr txBox="1"/>
          <p:nvPr/>
        </p:nvSpPr>
        <p:spPr>
          <a:xfrm>
            <a:off x="722376" y="1188720"/>
            <a:ext cx="769924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pc="0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The program checks a file name, then uses the same name a moment later.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7" name="Google Shape;1507;p78"/>
          <p:cNvSpPr/>
          <p:nvPr/>
        </p:nvSpPr>
        <p:spPr>
          <a:xfrm>
            <a:off x="722376" y="1783080"/>
            <a:ext cx="5029200" cy="2103120"/>
          </a:xfrm>
          <a:prstGeom prst="roundRect">
            <a:avLst>
              <a:gd fmla="val 4000" name="adj"/>
            </a:avLst>
          </a:prstGeom>
          <a:solidFill>
            <a:srgbClr val="0B0F26"/>
          </a:solidFill>
          <a:ln cap="flat" cmpd="sng" w="12700">
            <a:solidFill>
              <a:srgbClr val="29C7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8" name="Google Shape;1508;p78"/>
          <p:cNvSpPr txBox="1"/>
          <p:nvPr/>
        </p:nvSpPr>
        <p:spPr>
          <a:xfrm>
            <a:off x="960120" y="2011680"/>
            <a:ext cx="46634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pc="0" sz="1600" u="none" cap="none" strike="noStrike">
                <a:solidFill>
                  <a:srgbClr val="E6EDF7"/>
                </a:solidFill>
                <a:latin typeface="Roboto"/>
                <a:ea typeface="Roboto"/>
                <a:cs typeface="Roboto"/>
                <a:sym typeface="Roboto"/>
              </a:rPr>
              <a:t>if (access(fn, W_OK) != 0) {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pc="0" sz="1600" u="none" cap="none" strike="noStrike">
                <a:solidFill>
                  <a:srgbClr val="E6EDF7"/>
                </a:solidFill>
                <a:latin typeface="Roboto"/>
                <a:ea typeface="Roboto"/>
                <a:cs typeface="Roboto"/>
                <a:sym typeface="Roboto"/>
              </a:rPr>
              <a:t>    puts("No permission");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pc="0" sz="1600" u="none" cap="none" strike="noStrike">
                <a:solidFill>
                  <a:srgbClr val="E6EDF7"/>
                </a:solidFill>
                <a:latin typeface="Roboto"/>
                <a:ea typeface="Roboto"/>
                <a:cs typeface="Roboto"/>
                <a:sym typeface="Roboto"/>
              </a:rPr>
              <a:t>    return 1;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pc="0" sz="1600" u="none" cap="none" strike="noStrike">
                <a:solidFill>
                  <a:srgbClr val="E6EDF7"/>
                </a:solidFill>
                <a:latin typeface="Roboto"/>
                <a:ea typeface="Roboto"/>
                <a:cs typeface="Roboto"/>
                <a:sym typeface="Roboto"/>
              </a:rPr>
              <a:t>}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pc="0" sz="1600" u="none" cap="none" strike="noStrike">
                <a:solidFill>
                  <a:srgbClr val="E6EDF7"/>
                </a:solidFill>
                <a:latin typeface="Roboto"/>
                <a:ea typeface="Roboto"/>
                <a:cs typeface="Roboto"/>
                <a:sym typeface="Roboto"/>
              </a:rPr>
              <a:t>fp = fopen(fn, "a+");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9" name="Google Shape;1509;p78"/>
          <p:cNvSpPr txBox="1"/>
          <p:nvPr/>
        </p:nvSpPr>
        <p:spPr>
          <a:xfrm>
            <a:off x="6035040" y="202996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pc="0" sz="1400" u="none" cap="none" strike="noStrike">
                <a:solidFill>
                  <a:srgbClr val="29C7FE"/>
                </a:solidFill>
                <a:latin typeface="Roboto"/>
                <a:ea typeface="Roboto"/>
                <a:cs typeface="Roboto"/>
                <a:sym typeface="Roboto"/>
              </a:rPr>
              <a:t>Real user: seed (UID 1000)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0" name="Google Shape;1510;p78"/>
          <p:cNvSpPr txBox="1"/>
          <p:nvPr/>
        </p:nvSpPr>
        <p:spPr>
          <a:xfrm>
            <a:off x="6035040" y="304495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pc="0" sz="1400" u="none" cap="none" strike="noStrike">
                <a:solidFill>
                  <a:srgbClr val="ED218F"/>
                </a:solidFill>
                <a:latin typeface="Roboto"/>
                <a:ea typeface="Roboto"/>
                <a:cs typeface="Roboto"/>
                <a:sym typeface="Roboto"/>
              </a:rPr>
              <a:t>Effective user: root (UID 0)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11" name="Google Shape;1511;p78"/>
          <p:cNvCxnSpPr/>
          <p:nvPr/>
        </p:nvCxnSpPr>
        <p:spPr>
          <a:xfrm>
            <a:off x="5751576" y="2139696"/>
            <a:ext cx="237744" cy="0"/>
          </a:xfrm>
          <a:prstGeom prst="straightConnector1">
            <a:avLst/>
          </a:prstGeom>
          <a:noFill/>
          <a:ln cap="flat" cmpd="sng" w="19050">
            <a:solidFill>
              <a:srgbClr val="29C7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512" name="Google Shape;1512;p78"/>
          <p:cNvCxnSpPr/>
          <p:nvPr/>
        </p:nvCxnSpPr>
        <p:spPr>
          <a:xfrm>
            <a:off x="5751576" y="3154680"/>
            <a:ext cx="237744" cy="0"/>
          </a:xfrm>
          <a:prstGeom prst="straightConnector1">
            <a:avLst/>
          </a:prstGeom>
          <a:noFill/>
          <a:ln cap="flat" cmpd="sng" w="19050">
            <a:solidFill>
              <a:srgbClr val="ED218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513" name="Google Shape;1513;p78"/>
          <p:cNvSpPr txBox="1"/>
          <p:nvPr/>
        </p:nvSpPr>
        <p:spPr>
          <a:xfrm>
            <a:off x="722376" y="4114800"/>
            <a:ext cx="769924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pc="0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The check runs as the user, the open runs as root, and the name can change in between.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7" name="Shape 1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p79"/>
          <p:cNvSpPr txBox="1"/>
          <p:nvPr>
            <p:ph type="title"/>
          </p:nvPr>
        </p:nvSpPr>
        <p:spPr>
          <a:xfrm>
            <a:off x="722376" y="384048"/>
            <a:ext cx="7699248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 sz="2600">
                <a:solidFill>
                  <a:srgbClr val="FFFFFF"/>
                </a:solidFill>
              </a:rPr>
              <a:t>Live demonstration</a:t>
            </a:r>
            <a:endParaRPr/>
          </a:p>
        </p:txBody>
      </p:sp>
      <p:sp>
        <p:nvSpPr>
          <p:cNvPr id="1519" name="Google Shape;1519;p79"/>
          <p:cNvSpPr txBox="1"/>
          <p:nvPr/>
        </p:nvSpPr>
        <p:spPr>
          <a:xfrm>
            <a:off x="722376" y="1188720"/>
            <a:ext cx="769924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pc="0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 10-second pause after the check makes the gap easy to see.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0" name="Google Shape;1520;p79"/>
          <p:cNvSpPr/>
          <p:nvPr/>
        </p:nvSpPr>
        <p:spPr>
          <a:xfrm>
            <a:off x="722376" y="1828800"/>
            <a:ext cx="2468880" cy="2697480"/>
          </a:xfrm>
          <a:prstGeom prst="roundRect">
            <a:avLst>
              <a:gd fmla="val 4000" name="adj"/>
            </a:avLst>
          </a:prstGeom>
          <a:solidFill>
            <a:srgbClr val="161C44"/>
          </a:solidFill>
          <a:ln cap="flat" cmpd="sng" w="15875">
            <a:solidFill>
              <a:srgbClr val="29C7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pc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1" name="Google Shape;1521;p79"/>
          <p:cNvSpPr txBox="1"/>
          <p:nvPr/>
        </p:nvSpPr>
        <p:spPr>
          <a:xfrm>
            <a:off x="923544" y="2011680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pc="0" sz="3400" u="none" cap="none" strike="noStrike">
                <a:solidFill>
                  <a:srgbClr val="29C7FE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2" name="Google Shape;1522;p79"/>
          <p:cNvSpPr txBox="1"/>
          <p:nvPr/>
        </p:nvSpPr>
        <p:spPr>
          <a:xfrm>
            <a:off x="923544" y="2651760"/>
            <a:ext cx="2103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pc="0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Point the link at /dev/null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3" name="Google Shape;1523;p79"/>
          <p:cNvSpPr txBox="1"/>
          <p:nvPr/>
        </p:nvSpPr>
        <p:spPr>
          <a:xfrm>
            <a:off x="923544" y="3474720"/>
            <a:ext cx="2103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pc="0" sz="1400" u="none" cap="none" strike="noStrike">
                <a:solidFill>
                  <a:srgbClr val="C9D3E3"/>
                </a:solidFill>
                <a:latin typeface="Roboto"/>
                <a:ea typeface="Roboto"/>
                <a:cs typeface="Roboto"/>
                <a:sym typeface="Roboto"/>
              </a:rPr>
              <a:t>The check passes, because seed can write to /dev/null.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4" name="Google Shape;1524;p79"/>
          <p:cNvSpPr/>
          <p:nvPr/>
        </p:nvSpPr>
        <p:spPr>
          <a:xfrm>
            <a:off x="3337560" y="1828800"/>
            <a:ext cx="2468880" cy="2697480"/>
          </a:xfrm>
          <a:prstGeom prst="roundRect">
            <a:avLst>
              <a:gd fmla="val 4000" name="adj"/>
            </a:avLst>
          </a:prstGeom>
          <a:solidFill>
            <a:srgbClr val="161C44"/>
          </a:solidFill>
          <a:ln cap="flat" cmpd="sng" w="15875">
            <a:solidFill>
              <a:srgbClr val="29C7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pc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5" name="Google Shape;1525;p79"/>
          <p:cNvSpPr txBox="1"/>
          <p:nvPr/>
        </p:nvSpPr>
        <p:spPr>
          <a:xfrm>
            <a:off x="3538728" y="2011680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pc="0" sz="3400" u="none" cap="none" strike="noStrike">
                <a:solidFill>
                  <a:srgbClr val="29C7FE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6" name="Google Shape;1526;p79"/>
          <p:cNvSpPr txBox="1"/>
          <p:nvPr/>
        </p:nvSpPr>
        <p:spPr>
          <a:xfrm>
            <a:off x="3538728" y="2651760"/>
            <a:ext cx="2103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pc="0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Start the program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7" name="Google Shape;1527;p79"/>
          <p:cNvSpPr txBox="1"/>
          <p:nvPr/>
        </p:nvSpPr>
        <p:spPr>
          <a:xfrm>
            <a:off x="3538728" y="3474720"/>
            <a:ext cx="2103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pc="0" sz="1400" u="none" cap="none" strike="noStrike">
                <a:solidFill>
                  <a:srgbClr val="C9D3E3"/>
                </a:solidFill>
                <a:latin typeface="Roboto"/>
                <a:ea typeface="Roboto"/>
                <a:cs typeface="Roboto"/>
                <a:sym typeface="Roboto"/>
              </a:rPr>
              <a:t>It pauses for 10 seconds after the check passes.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8" name="Google Shape;1528;p79"/>
          <p:cNvSpPr/>
          <p:nvPr/>
        </p:nvSpPr>
        <p:spPr>
          <a:xfrm>
            <a:off x="5952744" y="1828800"/>
            <a:ext cx="2468880" cy="2697480"/>
          </a:xfrm>
          <a:prstGeom prst="roundRect">
            <a:avLst>
              <a:gd fmla="val 4000" name="adj"/>
            </a:avLst>
          </a:prstGeom>
          <a:solidFill>
            <a:srgbClr val="161C44"/>
          </a:solidFill>
          <a:ln cap="flat" cmpd="sng" w="15875">
            <a:solidFill>
              <a:srgbClr val="ED21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pc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9" name="Google Shape;1529;p79"/>
          <p:cNvSpPr txBox="1"/>
          <p:nvPr/>
        </p:nvSpPr>
        <p:spPr>
          <a:xfrm>
            <a:off x="6153912" y="2011680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pc="0" sz="3400" u="none" cap="none" strike="noStrike">
                <a:solidFill>
                  <a:srgbClr val="ED218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0" name="Google Shape;1530;p79"/>
          <p:cNvSpPr txBox="1"/>
          <p:nvPr/>
        </p:nvSpPr>
        <p:spPr>
          <a:xfrm>
            <a:off x="6153912" y="2651760"/>
            <a:ext cx="2103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pc="0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Switch the link to /etc/passwd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1" name="Google Shape;1531;p79"/>
          <p:cNvSpPr txBox="1"/>
          <p:nvPr/>
        </p:nvSpPr>
        <p:spPr>
          <a:xfrm>
            <a:off x="6153912" y="3474720"/>
            <a:ext cx="2103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pc="0" sz="1400" u="none" cap="none" strike="noStrike">
                <a:solidFill>
                  <a:srgbClr val="C9D3E3"/>
                </a:solidFill>
                <a:latin typeface="Roboto"/>
                <a:ea typeface="Roboto"/>
                <a:cs typeface="Roboto"/>
                <a:sym typeface="Roboto"/>
              </a:rPr>
              <a:t>Do this during the pause. Then log in as the new account.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5" name="Shape 1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" name="Google Shape;1536;p80"/>
          <p:cNvSpPr txBox="1"/>
          <p:nvPr>
            <p:ph type="title"/>
          </p:nvPr>
        </p:nvSpPr>
        <p:spPr>
          <a:xfrm>
            <a:off x="722376" y="384048"/>
            <a:ext cx="7699248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 sz="2600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Result: uid 0 after the attack</a:t>
            </a:r>
            <a:endParaRPr/>
          </a:p>
        </p:txBody>
      </p:sp>
      <p:sp>
        <p:nvSpPr>
          <p:cNvPr id="1537" name="Google Shape;1537;p80"/>
          <p:cNvSpPr txBox="1"/>
          <p:nvPr/>
        </p:nvSpPr>
        <p:spPr>
          <a:xfrm>
            <a:off x="722376" y="1070317"/>
            <a:ext cx="7699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pc="0" sz="1400" u="none" cap="none" strike="noStrike">
                <a:solidFill>
                  <a:srgbClr val="29C7FE"/>
                </a:solidFill>
                <a:latin typeface="Roboto"/>
                <a:ea typeface="Roboto"/>
                <a:cs typeface="Roboto"/>
                <a:sym typeface="Roboto"/>
              </a:rPr>
              <a:t>The account line is written to /etc/passwd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Terminal output: the account line in /etc/passwd, checked before the login." id="1538" name="Google Shape;1538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376" y="1436077"/>
            <a:ext cx="7699248" cy="1320268"/>
          </a:xfrm>
          <a:prstGeom prst="rect">
            <a:avLst/>
          </a:prstGeom>
          <a:noFill/>
          <a:ln cap="flat" cmpd="sng" w="9525">
            <a:solidFill>
              <a:srgbClr val="29C7FE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39" name="Google Shape;1539;p80"/>
          <p:cNvSpPr txBox="1"/>
          <p:nvPr/>
        </p:nvSpPr>
        <p:spPr>
          <a:xfrm>
            <a:off x="722376" y="2926330"/>
            <a:ext cx="7699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pc="0" sz="1400" u="none" cap="none" strike="noStrike">
                <a:solidFill>
                  <a:srgbClr val="29C7FE"/>
                </a:solidFill>
                <a:latin typeface="Roboto"/>
                <a:ea typeface="Roboto"/>
                <a:cs typeface="Roboto"/>
                <a:sym typeface="Roboto"/>
              </a:rPr>
              <a:t>Attacker gain: a login without sudo returns uid 0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Terminal output: id reports uid=0(root) after the login." id="1540" name="Google Shape;1540;p8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2376" y="3292090"/>
            <a:ext cx="5669280" cy="548208"/>
          </a:xfrm>
          <a:prstGeom prst="rect">
            <a:avLst/>
          </a:prstGeom>
          <a:noFill/>
          <a:ln cap="flat" cmpd="sng" w="9525">
            <a:solidFill>
              <a:srgbClr val="29C7FE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41" name="Google Shape;1541;p80"/>
          <p:cNvSpPr txBox="1"/>
          <p:nvPr/>
        </p:nvSpPr>
        <p:spPr>
          <a:xfrm>
            <a:off x="722376" y="4011441"/>
            <a:ext cx="7699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C9D3E3"/>
                </a:solidFill>
              </a:rPr>
              <a:t>Naive attack, no delay (recorded run). UID 0 grants root, not the name test.</a:t>
            </a:r>
            <a:endParaRPr sz="1300">
              <a:solidFill>
                <a:srgbClr val="C9D3E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C9D3E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2" name="Google Shape;1542;p80"/>
          <p:cNvSpPr txBox="1"/>
          <p:nvPr/>
        </p:nvSpPr>
        <p:spPr>
          <a:xfrm>
            <a:off x="695800" y="4416625"/>
            <a:ext cx="6723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C9D3E3"/>
                </a:solidFill>
                <a:latin typeface="Roboto"/>
                <a:ea typeface="Roboto"/>
                <a:cs typeface="Roboto"/>
                <a:sym typeface="Roboto"/>
              </a:rPr>
              <a:t>atomic exchange also reached uid 0, after removing the attacker's own gap.</a:t>
            </a:r>
            <a:endParaRPr sz="1300">
              <a:solidFill>
                <a:srgbClr val="C9D3E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6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Google Shape;1547;p81"/>
          <p:cNvSpPr txBox="1"/>
          <p:nvPr>
            <p:ph type="title"/>
          </p:nvPr>
        </p:nvSpPr>
        <p:spPr>
          <a:xfrm>
            <a:off x="722376" y="384048"/>
            <a:ext cx="7699248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 sz="2600">
                <a:solidFill>
                  <a:srgbClr val="FFFFFF"/>
                </a:solidFill>
              </a:rPr>
              <a:t>Countermeasures</a:t>
            </a:r>
            <a:endParaRPr/>
          </a:p>
        </p:txBody>
      </p:sp>
      <p:sp>
        <p:nvSpPr>
          <p:cNvPr id="1548" name="Google Shape;1548;p81"/>
          <p:cNvSpPr/>
          <p:nvPr/>
        </p:nvSpPr>
        <p:spPr>
          <a:xfrm>
            <a:off x="722376" y="1078523"/>
            <a:ext cx="2469000" cy="2377500"/>
          </a:xfrm>
          <a:prstGeom prst="roundRect">
            <a:avLst>
              <a:gd fmla="val 4000" name="adj"/>
            </a:avLst>
          </a:prstGeom>
          <a:solidFill>
            <a:srgbClr val="161C44"/>
          </a:solidFill>
          <a:ln cap="flat" cmpd="sng" w="12700">
            <a:solidFill>
              <a:srgbClr val="29C7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pc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9" name="Google Shape;1549;p81"/>
          <p:cNvSpPr txBox="1"/>
          <p:nvPr/>
        </p:nvSpPr>
        <p:spPr>
          <a:xfrm>
            <a:off x="923544" y="1261403"/>
            <a:ext cx="2103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pc="0" sz="1300" u="none" cap="none" strike="noStrike">
                <a:solidFill>
                  <a:srgbClr val="29C7FE"/>
                </a:solidFill>
                <a:latin typeface="Roboto"/>
                <a:ea typeface="Roboto"/>
                <a:cs typeface="Roboto"/>
                <a:sym typeface="Roboto"/>
              </a:rPr>
              <a:t>LEAST PRIVILEGE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0" name="Google Shape;1550;p81"/>
          <p:cNvSpPr txBox="1"/>
          <p:nvPr/>
        </p:nvSpPr>
        <p:spPr>
          <a:xfrm>
            <a:off x="923544" y="1581442"/>
            <a:ext cx="210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pc="0" sz="2400" u="none" cap="none" strike="noStrike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9,455</a:t>
            </a:r>
            <a:endParaRPr>
              <a:latin typeface="Russo One"/>
              <a:ea typeface="Russo One"/>
              <a:cs typeface="Russo One"/>
              <a:sym typeface="Russo One"/>
            </a:endParaRPr>
          </a:p>
        </p:txBody>
      </p:sp>
      <p:sp>
        <p:nvSpPr>
          <p:cNvPr id="1551" name="Google Shape;1551;p81"/>
          <p:cNvSpPr txBox="1"/>
          <p:nvPr/>
        </p:nvSpPr>
        <p:spPr>
          <a:xfrm>
            <a:off x="923544" y="2084363"/>
            <a:ext cx="210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pc="0" sz="1300" u="none" cap="none" strike="noStrike">
                <a:solidFill>
                  <a:srgbClr val="C9D3E3"/>
                </a:solidFill>
                <a:latin typeface="Roboto"/>
                <a:ea typeface="Roboto"/>
                <a:cs typeface="Roboto"/>
                <a:sym typeface="Roboto"/>
              </a:rPr>
              <a:t>attempts in 300 seconds, password file unchanged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2" name="Google Shape;1552;p81"/>
          <p:cNvSpPr txBox="1"/>
          <p:nvPr/>
        </p:nvSpPr>
        <p:spPr>
          <a:xfrm>
            <a:off x="923544" y="2633003"/>
            <a:ext cx="2103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pc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Drop root before the file work, using seteuid().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3" name="Google Shape;1553;p81"/>
          <p:cNvSpPr/>
          <p:nvPr/>
        </p:nvSpPr>
        <p:spPr>
          <a:xfrm>
            <a:off x="3337560" y="1078523"/>
            <a:ext cx="2469000" cy="2377500"/>
          </a:xfrm>
          <a:prstGeom prst="roundRect">
            <a:avLst>
              <a:gd fmla="val 4000" name="adj"/>
            </a:avLst>
          </a:prstGeom>
          <a:solidFill>
            <a:srgbClr val="161C44"/>
          </a:solidFill>
          <a:ln cap="flat" cmpd="sng" w="12700">
            <a:solidFill>
              <a:srgbClr val="29C7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pc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4" name="Google Shape;1554;p81"/>
          <p:cNvSpPr txBox="1"/>
          <p:nvPr/>
        </p:nvSpPr>
        <p:spPr>
          <a:xfrm>
            <a:off x="3538728" y="1261403"/>
            <a:ext cx="2103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pc="0" sz="1300" u="none" cap="none" strike="noStrike">
                <a:solidFill>
                  <a:srgbClr val="29C7FE"/>
                </a:solidFill>
                <a:latin typeface="Roboto"/>
                <a:ea typeface="Roboto"/>
                <a:cs typeface="Roboto"/>
                <a:sym typeface="Roboto"/>
              </a:rPr>
              <a:t>SYMLINK PROTECTION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5" name="Google Shape;1555;p81"/>
          <p:cNvSpPr txBox="1"/>
          <p:nvPr/>
        </p:nvSpPr>
        <p:spPr>
          <a:xfrm>
            <a:off x="3538728" y="1581442"/>
            <a:ext cx="210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pc="0" sz="2400" u="none" cap="none" strike="noStrike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9,177</a:t>
            </a:r>
            <a:endParaRPr>
              <a:latin typeface="Russo One"/>
              <a:ea typeface="Russo One"/>
              <a:cs typeface="Russo One"/>
              <a:sym typeface="Russo One"/>
            </a:endParaRPr>
          </a:p>
        </p:txBody>
      </p:sp>
      <p:sp>
        <p:nvSpPr>
          <p:cNvPr id="1556" name="Google Shape;1556;p81"/>
          <p:cNvSpPr txBox="1"/>
          <p:nvPr/>
        </p:nvSpPr>
        <p:spPr>
          <a:xfrm>
            <a:off x="3538728" y="2084363"/>
            <a:ext cx="210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pc="0" sz="1300" u="none" cap="none" strike="noStrike">
                <a:solidFill>
                  <a:srgbClr val="C9D3E3"/>
                </a:solidFill>
                <a:latin typeface="Roboto"/>
                <a:ea typeface="Roboto"/>
                <a:cs typeface="Roboto"/>
                <a:sym typeface="Roboto"/>
              </a:rPr>
              <a:t>attempts in 300 seconds, password file unchanged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7" name="Google Shape;1557;p81"/>
          <p:cNvSpPr txBox="1"/>
          <p:nvPr/>
        </p:nvSpPr>
        <p:spPr>
          <a:xfrm>
            <a:off x="3538728" y="2633003"/>
            <a:ext cx="2103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pc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The kernel rule fs.protected_symlinks=1 blocks this link following.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8" name="Google Shape;1558;p81"/>
          <p:cNvSpPr/>
          <p:nvPr/>
        </p:nvSpPr>
        <p:spPr>
          <a:xfrm>
            <a:off x="5952744" y="1078523"/>
            <a:ext cx="2469000" cy="2377500"/>
          </a:xfrm>
          <a:prstGeom prst="roundRect">
            <a:avLst>
              <a:gd fmla="val 4000" name="adj"/>
            </a:avLst>
          </a:prstGeom>
          <a:solidFill>
            <a:srgbClr val="161C44"/>
          </a:solidFill>
          <a:ln cap="flat" cmpd="sng" w="12700">
            <a:solidFill>
              <a:srgbClr val="29C7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pc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9" name="Google Shape;1559;p81"/>
          <p:cNvSpPr txBox="1"/>
          <p:nvPr/>
        </p:nvSpPr>
        <p:spPr>
          <a:xfrm>
            <a:off x="6153912" y="1261403"/>
            <a:ext cx="2103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pc="0" sz="1300" u="none" cap="none" strike="noStrike">
                <a:solidFill>
                  <a:srgbClr val="29C7FE"/>
                </a:solidFill>
                <a:latin typeface="Roboto"/>
                <a:ea typeface="Roboto"/>
                <a:cs typeface="Roboto"/>
                <a:sym typeface="Roboto"/>
              </a:rPr>
              <a:t>SAFE FILE HANDLING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0" name="Google Shape;1560;p81"/>
          <p:cNvSpPr txBox="1"/>
          <p:nvPr/>
        </p:nvSpPr>
        <p:spPr>
          <a:xfrm>
            <a:off x="6153912" y="1581442"/>
            <a:ext cx="210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pc="0" sz="2400" u="none" cap="none" strike="noStrike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Open once</a:t>
            </a:r>
            <a:endParaRPr>
              <a:latin typeface="Russo One"/>
              <a:ea typeface="Russo One"/>
              <a:cs typeface="Russo One"/>
              <a:sym typeface="Russo One"/>
            </a:endParaRPr>
          </a:p>
        </p:txBody>
      </p:sp>
      <p:sp>
        <p:nvSpPr>
          <p:cNvPr id="1561" name="Google Shape;1561;p81"/>
          <p:cNvSpPr txBox="1"/>
          <p:nvPr/>
        </p:nvSpPr>
        <p:spPr>
          <a:xfrm>
            <a:off x="6153912" y="2084363"/>
            <a:ext cx="210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pc="0" sz="1300" u="none" cap="none" strike="noStrike">
                <a:solidFill>
                  <a:srgbClr val="C9D3E3"/>
                </a:solidFill>
                <a:latin typeface="Roboto"/>
                <a:ea typeface="Roboto"/>
                <a:cs typeface="Roboto"/>
                <a:sym typeface="Roboto"/>
              </a:rPr>
              <a:t>Keep the descriptor of the file you checked.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2" name="Google Shape;1562;p81"/>
          <p:cNvSpPr txBox="1"/>
          <p:nvPr/>
        </p:nvSpPr>
        <p:spPr>
          <a:xfrm>
            <a:off x="6153912" y="2633003"/>
            <a:ext cx="2103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pc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Create temporary files with mkstemp(), not fixed names in /tmp.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3" name="Google Shape;1563;p81"/>
          <p:cNvSpPr/>
          <p:nvPr/>
        </p:nvSpPr>
        <p:spPr>
          <a:xfrm>
            <a:off x="722375" y="4654982"/>
            <a:ext cx="73200" cy="301500"/>
          </a:xfrm>
          <a:prstGeom prst="rect">
            <a:avLst/>
          </a:prstGeom>
          <a:solidFill>
            <a:srgbClr val="ED218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pc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4" name="Google Shape;1564;p81"/>
          <p:cNvSpPr txBox="1"/>
          <p:nvPr/>
        </p:nvSpPr>
        <p:spPr>
          <a:xfrm>
            <a:off x="1004650" y="4654981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</a:rPr>
              <a:t>Checking a name does not make a later use of that name safe.</a:t>
            </a:r>
            <a:endParaRPr b="1" sz="1600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65" name="Google Shape;1565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5525" y="3556094"/>
            <a:ext cx="9144000" cy="1243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2600">
                <a:solidFill>
                  <a:srgbClr val="FFFFFF"/>
                </a:solidFill>
                <a:latin typeface="Russo One"/>
              </a:rPr>
              <a:t>Dirty COW: the kernel's copy-on-write race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2376" y="1188720"/>
            <a:ext cx="769924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Roboto"/>
              </a:rPr>
              <a:t>A read-only private map must never change the file behind it. A kernel race broke that rule.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22376" y="1783080"/>
            <a:ext cx="5029200" cy="2103120"/>
          </a:xfrm>
          <a:prstGeom prst="rect">
            <a:avLst/>
          </a:prstGeom>
          <a:solidFill>
            <a:srgbClr val="0B0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011680"/>
            <a:ext cx="46634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E6EDF7"/>
                </a:solidFill>
                <a:latin typeface="Roboto"/>
              </a:rPr>
              <a:t>fd = open("/zzz", O_RDONLY)   /* no write right */</a:t>
            </a:r>
          </a:p>
          <a:p>
            <a:pPr algn="l"/>
            <a:r>
              <a:rPr sz="1600" b="0">
                <a:solidFill>
                  <a:srgbClr val="E6EDF7"/>
                </a:solidFill>
                <a:latin typeface="Roboto"/>
              </a:rPr>
              <a:t>map = mmap(fd, PROT_READ, MAP_PRIVATE)</a:t>
            </a:r>
          </a:p>
          <a:p>
            <a:pPr algn="l"/>
            <a:r>
              <a:rPr sz="1600" b="0">
                <a:solidFill>
                  <a:srgbClr val="E6EDF7"/>
                </a:solidFill>
                <a:latin typeface="Roboto"/>
              </a:rPr>
              <a:t>pwrite("/proc/self/mem", data, addr)</a:t>
            </a:r>
          </a:p>
          <a:p>
            <a:pPr algn="l"/>
            <a:r>
              <a:rPr sz="1600" b="0">
                <a:solidFill>
                  <a:srgbClr val="E6EDF7"/>
                </a:solidFill>
                <a:latin typeface="Roboto"/>
              </a:rPr>
              <a:t>madvise(map, MADV_DONTNEED)   /* repeat */</a:t>
            </a:r>
          </a:p>
          <a:p>
            <a:pPr algn="l"/>
            <a:r>
              <a:rPr sz="1600" b="0">
                <a:solidFill>
                  <a:srgbClr val="E6EDF7"/>
                </a:solidFill>
                <a:latin typeface="Roboto"/>
              </a:rPr>
              <a:t>/* the kernel loses the private copy */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751576" y="2139696"/>
            <a:ext cx="237744" cy="0"/>
          </a:xfrm>
          <a:prstGeom prst="line">
            <a:avLst/>
          </a:prstGeom>
          <a:ln w="22225">
            <a:solidFill>
              <a:srgbClr val="29C7F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0" y="202996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29C7FE"/>
                </a:solidFill>
                <a:latin typeface="Roboto"/>
              </a:rPr>
              <a:t>We run as seed (UID 1000)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751576" y="3154680"/>
            <a:ext cx="237744" cy="0"/>
          </a:xfrm>
          <a:prstGeom prst="line">
            <a:avLst/>
          </a:prstGeom>
          <a:ln w="22225">
            <a:solidFill>
              <a:srgbClr val="ED21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035040" y="3044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ED218F"/>
                </a:solidFill>
                <a:latin typeface="Roboto"/>
              </a:rPr>
              <a:t>Kernel bug: file bytes change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4114800"/>
            <a:ext cx="769924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Roboto"/>
              </a:rPr>
              <a:t>Nothing here opens the file for writing - the race is inside the kernel's copy-on-write code (CVE-2016-5195).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2600">
                <a:solidFill>
                  <a:srgbClr val="FFFFFF"/>
                </a:solidFill>
                <a:latin typeface="Russo One"/>
              </a:rPr>
              <a:t>Live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2376" y="1188720"/>
            <a:ext cx="769924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Roboto"/>
              </a:rPr>
              <a:t>/zzz belongs to root, mode 0644. Seed can read it - but never write 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722376" y="1828800"/>
            <a:ext cx="2468880" cy="2697480"/>
          </a:xfrm>
          <a:prstGeom prst="rect">
            <a:avLst/>
          </a:prstGeom>
          <a:solidFill>
            <a:srgbClr val="161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23544" y="201168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0">
                <a:solidFill>
                  <a:srgbClr val="29C7FE"/>
                </a:solidFill>
                <a:latin typeface="Roboto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" y="2651760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Roboto"/>
              </a:rPr>
              <a:t>Show the file is protected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" y="3474720"/>
            <a:ext cx="21031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C9D3E3"/>
                </a:solidFill>
                <a:latin typeface="Roboto"/>
              </a:rPr>
              <a:t>cat /zzz shows the original. echo &gt; /zzz: Permission denied.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828800"/>
            <a:ext cx="2468880" cy="2697480"/>
          </a:xfrm>
          <a:prstGeom prst="rect">
            <a:avLst/>
          </a:prstGeom>
          <a:solidFill>
            <a:srgbClr val="161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38728" y="201168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0">
                <a:solidFill>
                  <a:srgbClr val="29C7FE"/>
                </a:solidFill>
                <a:latin typeface="Roboto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8728" y="2651760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Roboto"/>
              </a:rPr>
              <a:t>Normal copy-on-write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8728" y="3474720"/>
            <a:ext cx="21031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C9D3E3"/>
                </a:solidFill>
                <a:latin typeface="Roboto"/>
              </a:rPr>
              <a:t>./cow_control changes its private copy only - the file stays the same.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52744" y="1828800"/>
            <a:ext cx="2468880" cy="2697480"/>
          </a:xfrm>
          <a:prstGeom prst="rect">
            <a:avLst/>
          </a:prstGeom>
          <a:solidFill>
            <a:srgbClr val="161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53912" y="201168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0">
                <a:solidFill>
                  <a:srgbClr val="ED218F"/>
                </a:solidFill>
                <a:latin typeface="Roboto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3912" y="2651760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Roboto"/>
              </a:rPr>
              <a:t>Run the race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53912" y="3474720"/>
            <a:ext cx="21031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C9D3E3"/>
                </a:solidFill>
                <a:latin typeface="Roboto"/>
              </a:rPr>
              <a:t>bash run_trial.sh dummy 30 demo - it stops itself when /zzz changes.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4617720"/>
            <a:ext cx="769924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C9D3E3"/>
                </a:solidFill>
                <a:latin typeface="Roboto"/>
              </a:rPr>
              <a:t>If the race misses this time, the next slide shows the recorded 9 October run.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2600">
                <a:solidFill>
                  <a:srgbClr val="FFFFFF"/>
                </a:solidFill>
                <a:latin typeface="Russo One"/>
              </a:rPr>
              <a:t>Result: file changed, then uid 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2376" y="1042415"/>
            <a:ext cx="769924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9C7FE"/>
                </a:solidFill>
                <a:latin typeface="Roboto"/>
              </a:rPr>
              <a:t>Task 1 - seed rewrote the root-owned file /zzz (recorded)</a:t>
            </a:r>
          </a:p>
        </p:txBody>
      </p:sp>
      <p:pic>
        <p:nvPicPr>
          <p:cNvPr id="4" name="Picture 3" descr="task1-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1389888"/>
            <a:ext cx="7699248" cy="111488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2376" y="2615184"/>
            <a:ext cx="769924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9C7FE"/>
                </a:solidFill>
                <a:latin typeface="Roboto"/>
              </a:rPr>
              <a:t>Task 2 - charlie's UID 1001 -&gt; 0000; fresh login without sudo gives uid 0</a:t>
            </a:r>
          </a:p>
        </p:txBody>
      </p:sp>
      <p:pic>
        <p:nvPicPr>
          <p:cNvPr id="6" name="Picture 5" descr="task2-uid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2962656"/>
            <a:ext cx="7699248" cy="150415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22376" y="4498848"/>
            <a:ext cx="769924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C9D3E3"/>
                </a:solidFill>
                <a:latin typeface="Roboto"/>
              </a:rPr>
              <a:t>Recorded 9 Oct 2026 - one bounded 30 s run each, 0 s elapsed.</a:t>
            </a:r>
          </a:p>
          <a:p>
            <a:pPr algn="l"/>
            <a:r>
              <a:rPr sz="1300" b="0">
                <a:solidFill>
                  <a:srgbClr val="C9D3E3"/>
                </a:solidFill>
                <a:latin typeface="Roboto"/>
              </a:rPr>
              <a:t>First su attempt failed, retry succeeded. After the demo the account was restored to UID 1001.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2600">
                <a:solidFill>
                  <a:srgbClr val="FFFFFF"/>
                </a:solidFill>
                <a:latin typeface="Russo One"/>
              </a:rPr>
              <a:t>Countermeasures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22376" y="1078992"/>
            <a:ext cx="2468880" cy="2377440"/>
          </a:xfrm>
          <a:prstGeom prst="rect">
            <a:avLst/>
          </a:prstGeom>
          <a:solidFill>
            <a:srgbClr val="161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3544" y="1261872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9C7FE"/>
                </a:solidFill>
                <a:latin typeface="Roboto"/>
              </a:rPr>
              <a:t>PATCH THE KERNEL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" y="1581912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Russo One"/>
              </a:rPr>
              <a:t>Fixed 2016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" y="2084831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C9D3E3"/>
                </a:solidFill>
                <a:latin typeface="Roboto"/>
              </a:rPr>
              <a:t>Upstream fix landed in October 2016.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" y="2615184"/>
            <a:ext cx="2103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Roboto"/>
              </a:rPr>
              <a:t>Supported distros ship it. Our VM keeps the old kernel to demo the bug.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078992"/>
            <a:ext cx="2468880" cy="2377440"/>
          </a:xfrm>
          <a:prstGeom prst="rect">
            <a:avLst/>
          </a:prstGeom>
          <a:solidFill>
            <a:srgbClr val="161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38728" y="1261872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9C7FE"/>
                </a:solidFill>
                <a:latin typeface="Roboto"/>
              </a:rPr>
              <a:t>STAY UPDATED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8728" y="1581912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Russo One"/>
              </a:rPr>
              <a:t>Update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8728" y="2084831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C9D3E3"/>
                </a:solidFill>
                <a:latin typeface="Roboto"/>
              </a:rPr>
              <a:t>A fix only helps when the fixed kernel is actually running.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2615184"/>
            <a:ext cx="2103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Roboto"/>
              </a:rPr>
              <a:t>Update and reboot. Retire end-of-life releases like this 12.04 VM.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52744" y="1078992"/>
            <a:ext cx="2468880" cy="2377440"/>
          </a:xfrm>
          <a:prstGeom prst="rect">
            <a:avLst/>
          </a:prstGeom>
          <a:solidFill>
            <a:srgbClr val="161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53912" y="1261872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9C7FE"/>
                </a:solidFill>
                <a:latin typeface="Roboto"/>
              </a:rPr>
              <a:t>LIMIT &amp; MONITOR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53912" y="1581912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Russo One"/>
              </a:rPr>
              <a:t>Watch uid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53912" y="2084831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C9D3E3"/>
                </a:solidFill>
                <a:latin typeface="Roboto"/>
              </a:rPr>
              <a:t>Fewer local users, fewer chances to race.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53912" y="2615184"/>
            <a:ext cx="2103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Roboto"/>
              </a:rPr>
              <a:t>Baseline /etc/passwd; alert on new UID-0 entries and strange logins.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2376" y="4654296"/>
            <a:ext cx="73152" cy="301752"/>
          </a:xfrm>
          <a:prstGeom prst="rect">
            <a:avLst/>
          </a:prstGeom>
          <a:solidFill>
            <a:srgbClr val="ED21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654296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Roboto"/>
              </a:rPr>
              <a:t>Private memory must stay private - the kernel fix is the real defence.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yber Group 1">
  <a:themeElements>
    <a:clrScheme name="Cyber Group 1">
      <a:dk1>
        <a:srgbClr val="0B0A2E"/>
      </a:dk1>
      <a:lt1>
        <a:srgbClr val="FFFFFF"/>
      </a:lt1>
      <a:dk2>
        <a:srgbClr val="1C1352"/>
      </a:dk2>
      <a:lt2>
        <a:srgbClr val="D6C8E6"/>
      </a:lt2>
      <a:accent1>
        <a:srgbClr val="2BC6FF"/>
      </a:accent1>
      <a:accent2>
        <a:srgbClr val="EE2A8F"/>
      </a:accent2>
      <a:accent3>
        <a:srgbClr val="7B4FD6"/>
      </a:accent3>
      <a:accent4>
        <a:srgbClr val="D6C8E6"/>
      </a:accent4>
      <a:accent5>
        <a:srgbClr val="3C1156"/>
      </a:accent5>
      <a:accent6>
        <a:srgbClr val="0F0E3A"/>
      </a:accent6>
      <a:hlink>
        <a:srgbClr val="2BC6FF"/>
      </a:hlink>
      <a:folHlink>
        <a:srgbClr val="EE2A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yber Minitheme by Slidesgo">
  <a:themeElements>
    <a:clrScheme name="Simple Light">
      <a:dk1>
        <a:srgbClr val="FFFFFF"/>
      </a:dk1>
      <a:lt1>
        <a:srgbClr val="191919"/>
      </a:lt1>
      <a:dk2>
        <a:srgbClr val="E7E6E6"/>
      </a:dk2>
      <a:lt2>
        <a:srgbClr val="2D3847"/>
      </a:lt2>
      <a:accent1>
        <a:srgbClr val="3C134D"/>
      </a:accent1>
      <a:accent2>
        <a:srgbClr val="7F3F98"/>
      </a:accent2>
      <a:accent3>
        <a:srgbClr val="ED218F"/>
      </a:accent3>
      <a:accent4>
        <a:srgbClr val="0E1037"/>
      </a:accent4>
      <a:accent5>
        <a:srgbClr val="163A63"/>
      </a:accent5>
      <a:accent6>
        <a:srgbClr val="29C7FE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Cyber Minitheme by Slidesgo">
  <a:themeElements>
    <a:clrScheme name="Simple Light">
      <a:dk1>
        <a:srgbClr val="FFFFFF"/>
      </a:dk1>
      <a:lt1>
        <a:srgbClr val="191919"/>
      </a:lt1>
      <a:dk2>
        <a:srgbClr val="E7E6E6"/>
      </a:dk2>
      <a:lt2>
        <a:srgbClr val="2D3847"/>
      </a:lt2>
      <a:accent1>
        <a:srgbClr val="3C134D"/>
      </a:accent1>
      <a:accent2>
        <a:srgbClr val="7F3F98"/>
      </a:accent2>
      <a:accent3>
        <a:srgbClr val="ED218F"/>
      </a:accent3>
      <a:accent4>
        <a:srgbClr val="0E1037"/>
      </a:accent4>
      <a:accent5>
        <a:srgbClr val="163A63"/>
      </a:accent5>
      <a:accent6>
        <a:srgbClr val="29C7FE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