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Member 5 and the SEED Race-Condition Lab. A race condition means the outcome depends on the ordering of concurrent operations. Our case is time of check to time of use: a program checks one target and later opens another target through the same name. This is a local application-level lab, not Dirty COW or a remote attack. The actual terminal demonstration comes after the mechanism and the audience cues.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to the two actual operations. access uses the real user identity. fopen resolves the name again and uses the process credentials for the open. In our deliberately configured Set-UID victim the effective identity is root. The attacker changes the symlink from writable /dev/null to protected /etc/passwd in the interval. A symlink does not grant privileges by itself. Do not imply that every Ubuntu installation has this program or that file permissions disappeared. Source: vulp.c, S03/S04, and the SEED task PDF.</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LIVE_DEMO Part 0 before class, then Part 1 in its exact A/B order. A initializes the /dev/null link. B runs vulp_slow. Only after Check passed, switch A to /etc/passwd during the ten-second wait. Wait for the victim to return, inspect the full record, then run non-sudo su - test and id. Password input is interactive. Explain that this is the official slow-machine simulation, not the no-delay result. Exit the root shell and reset before the next ordinary-user trial. Return to slide 4. If timing misses, say so and use actual saved S06/S07 as recorded evidence.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identity output shows seed. The exact-record check establishes that the complete 43-character entry, with seven fields and UID/GID zero, exists once. The meaningful final proof is an actual non-sudo su login followed by id. whoami may say root because both account names map to UID zero. A hash change, a program exit status zero, or an account name alone is insufficient. In Task 1 we inserted the record administratively only to validate it; in the actual attack the privileged victim performed the append. Our saved results S07, S09 and S11 preserve that distinction.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historical measurements, rounded to three decimals on the slide; the report contains exact values and labels. They do not promise that the next trial will finish in one attempt or that one method is always faster. The supplied C victim has no artificial sleep. If presenting live, use Part 2: B resets and creates a unique shared label, A starts the bounded atomic attacker, and B starts the 30-second no-delay monitor only after initialization. Inspect any changed file and verify non-sudo login/id; then exit root and reset. If the 30 seconds expire unchanged, state that the live attempt did not win and use the labelled actual S09/S11 evidence. Do not call that short class attempt the original 300-second experiment. Return to slide 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unlink/create sequence is not atomic. If the victim already passed access and reaches fopen while the name is absent, a+ can create a root-owned regular file. The attacker can then encounter File exists and later an unlink permission error. The sticky directory rule concerns deletion of an entry; group write permission on the file does not grant that deletion. In the old partial log, repeated successful victim exits did not prove an append to /etc/passwd. We preserved the file, metadata and logs before administrator-assisted reset. The improved attacker creates two links first and atomically exchanges them with RENAME_EXCHANGE; initialize fully before the victim starts. This fixes the attacker’s gap, while the victim still checks and opens separately.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first experiment we changed the program and left both OS controls disabled. seteuid(getuid()) drops effective privilege before access and fopen and keeps it dropped through writing/closing. The allowed-file control confirmed normal functionality. For the second we returned to the original vulnerable victim and enabled only protected_symlinks, leaving protected_regular at zero. The kernel blocks a root-effective follower of a seed-owned link under sticky root-owned /tmp in this case. In Part 3 of the live guide, a stable /dev/null link should produce Open failed: Permission denied even though the real-user check can pass. That is a short explanatory control, not a live repetition of five minutes. Finite negative trials alone are not universal proof. These two mechanisms address different layers.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gain was a verified local UID-zero login, not merely a changed text file. Correct account-database handling supports authentication integrity. Emphasize secure descriptor-based handling, appropriate permissions/trusted directories, safe temporary creation and only the required privilege. A security-relevant atomic operation is useful; merely making the attacker faster does not secure the victim. OS symlink protection is defence in depth and context-specific. Use Part 4 after class or rehearsal: the supplied cleanup restores the original password file, removes the test paths and Set-UID, and applies the explicitly chosen 1/2 runtime policy. The saved 0/0 file is not asserted to be original defaults. Stop the main talk here; the remaining slides are supporting material.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only as recorded evidence, not as a substitute disguised as a live result. These are labelled readability crops from S09, task2b-audit1-20261003-064223. The complete original screenshot and full terminal/record checks are in the evidence package. The current live run may have different output or counts. The fragments are not a newly manufactured terminal screen.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original log stopped without a final summary, so we do not invent its final totals. The old XYZ file and original logs were preserved before reset. Hash change requires record/login verification, and exit status zero can just mean an append to /dev/null or the wrong temporary file. The wall times include orchestration overhead; their small values do not establish a general success probability or throughput comparison. Monitor and screenshot activity affects scheduling.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LIVE_DEMO.pdf available off the projected terminals. Follow its reset and cleanup sequence. A says Attacker, B says Victim and results; both start as seed. The same run label is passed via class-demo-label.txt. Attack initialization must appear before starting the victim. The supplied runner is bounded and stops the attacker when the monitor ends. If any setup helper reports an error, address that actual error before continuing. Authentication is interactive; no password is embedded in any script.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teaching content and vulnerable-program pattern are attributed to Wenliang Du / SEED Labs under CC BY-NC-SA 4.0. See the report for full references, source modifications and assistance disclosure. Actual commands/evidence were collected in the user’s VM; authentication input remained interactive. The practical and documents are complete, but a future oral presentation/rehearsal or submission upload is not claimed to have already occurred. Unknown personal/admin fields were omitted at the user’s request.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A43"/>
        </a:solidFill>
        <a:effectLst/>
      </p:bgPr>
    </p:bg>
    <p:spTree>
      <p:nvGrpSpPr>
        <p:cNvPr id="1" name=""/>
        <p:cNvGrpSpPr/>
        <p:nvPr/>
      </p:nvGrpSpPr>
      <p:grpSpPr/>
      <p:sp>
        <p:nvSpPr>
          <p:cNvPr id="2" name="Rectangle 1"/>
          <p:cNvSpPr/>
          <p:nvPr/>
        </p:nvSpPr>
        <p:spPr>
          <a:xfrm>
            <a:off x="576072" y="566928"/>
            <a:ext cx="137160" cy="5449824"/>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MEMBER 5 — ISSD"/>
          <p:cNvSpPr txBox="1"/>
          <p:nvPr/>
        </p:nvSpPr>
        <p:spPr>
          <a:xfrm>
            <a:off x="914400" y="612648"/>
            <a:ext cx="9144000" cy="320040"/>
          </a:xfrm>
          <a:prstGeom prst="rect">
            <a:avLst/>
          </a:prstGeom>
          <a:noFill/>
        </p:spPr>
        <p:txBody>
          <a:bodyPr wrap="square" lIns="0" rIns="0" tIns="0" bIns="0">
            <a:spAutoFit/>
          </a:bodyPr>
          <a:lstStyle/>
          <a:p>
            <a:pPr>
              <a:lnSpc>
                <a:spcPct val="105000"/>
              </a:lnSpc>
              <a:spcAft>
                <a:spcPts val="200"/>
              </a:spcAft>
              <a:defRPr sz="1500" b="1">
                <a:solidFill>
                  <a:srgbClr val="73D8D2"/>
                </a:solidFill>
                <a:latin typeface="Arial"/>
              </a:defRPr>
            </a:pPr>
            <a:r>
              <a:t>MEMBER 5 — ISSD</a:t>
            </a:r>
          </a:p>
        </p:txBody>
      </p:sp>
      <p:sp>
        <p:nvSpPr>
          <p:cNvPr id="4" name="Text: One name. Two different files."/>
          <p:cNvSpPr txBox="1"/>
          <p:nvPr/>
        </p:nvSpPr>
        <p:spPr>
          <a:xfrm>
            <a:off x="914400" y="1298448"/>
            <a:ext cx="10241280" cy="1417320"/>
          </a:xfrm>
          <a:prstGeom prst="rect">
            <a:avLst/>
          </a:prstGeom>
          <a:noFill/>
        </p:spPr>
        <p:txBody>
          <a:bodyPr wrap="square" lIns="0" rIns="0" tIns="0" bIns="0">
            <a:spAutoFit/>
          </a:bodyPr>
          <a:lstStyle/>
          <a:p>
            <a:pPr>
              <a:lnSpc>
                <a:spcPct val="105000"/>
              </a:lnSpc>
              <a:spcAft>
                <a:spcPts val="600"/>
              </a:spcAft>
              <a:defRPr sz="4700" b="1">
                <a:solidFill>
                  <a:srgbClr val="FFFFFF"/>
                </a:solidFill>
                <a:latin typeface="Arial"/>
              </a:defRPr>
            </a:pPr>
            <a:r>
              <a:t>One name.</a:t>
            </a:r>
          </a:p>
          <a:p>
            <a:pPr>
              <a:lnSpc>
                <a:spcPct val="105000"/>
              </a:lnSpc>
              <a:spcAft>
                <a:spcPts val="600"/>
              </a:spcAft>
              <a:defRPr sz="4700" b="1">
                <a:solidFill>
                  <a:srgbClr val="FFFFFF"/>
                </a:solidFill>
                <a:latin typeface="Arial"/>
              </a:defRPr>
            </a:pPr>
            <a:r>
              <a:t>Two different files.</a:t>
            </a:r>
          </a:p>
        </p:txBody>
      </p:sp>
      <p:sp>
        <p:nvSpPr>
          <p:cNvPr id="5" name="Text: Race-condition vulnerability lab"/>
          <p:cNvSpPr txBox="1"/>
          <p:nvPr/>
        </p:nvSpPr>
        <p:spPr>
          <a:xfrm>
            <a:off x="932688" y="3081528"/>
            <a:ext cx="9966960" cy="603504"/>
          </a:xfrm>
          <a:prstGeom prst="rect">
            <a:avLst/>
          </a:prstGeom>
          <a:noFill/>
        </p:spPr>
        <p:txBody>
          <a:bodyPr wrap="square" lIns="0" rIns="0" tIns="0" bIns="0">
            <a:spAutoFit/>
          </a:bodyPr>
          <a:lstStyle/>
          <a:p>
            <a:pPr>
              <a:lnSpc>
                <a:spcPct val="105000"/>
              </a:lnSpc>
              <a:spcAft>
                <a:spcPts val="600"/>
              </a:spcAft>
              <a:defRPr sz="2800" b="0">
                <a:solidFill>
                  <a:srgbClr val="FFFFFF"/>
                </a:solidFill>
                <a:latin typeface="Arial"/>
              </a:defRPr>
            </a:pPr>
            <a:r>
              <a:t>Race-condition vulnerability lab</a:t>
            </a:r>
          </a:p>
        </p:txBody>
      </p:sp>
      <p:sp>
        <p:nvSpPr>
          <p:cNvPr id="6" name="Text: A race condition is timing-dependent. Here th"/>
          <p:cNvSpPr txBox="1"/>
          <p:nvPr/>
        </p:nvSpPr>
        <p:spPr>
          <a:xfrm>
            <a:off x="941832" y="3904487"/>
            <a:ext cx="9875520" cy="731520"/>
          </a:xfrm>
          <a:prstGeom prst="rect">
            <a:avLst/>
          </a:prstGeom>
          <a:noFill/>
        </p:spPr>
        <p:txBody>
          <a:bodyPr wrap="square" lIns="0" rIns="0" tIns="0" bIns="0">
            <a:spAutoFit/>
          </a:bodyPr>
          <a:lstStyle/>
          <a:p>
            <a:pPr>
              <a:lnSpc>
                <a:spcPct val="105000"/>
              </a:lnSpc>
              <a:spcAft>
                <a:spcPts val="600"/>
              </a:spcAft>
              <a:defRPr sz="2400" b="0">
                <a:solidFill>
                  <a:srgbClr val="D9E5F0"/>
                </a:solidFill>
                <a:latin typeface="Arial"/>
              </a:defRPr>
            </a:pPr>
            <a:r>
              <a:t>A race condition is timing-dependent. Here the target changes between check and use.</a:t>
            </a:r>
          </a:p>
        </p:txBody>
      </p:sp>
      <p:sp>
        <p:nvSpPr>
          <p:cNvPr id="7" name="Rounded Rectangle 6"/>
          <p:cNvSpPr/>
          <p:nvPr/>
        </p:nvSpPr>
        <p:spPr>
          <a:xfrm>
            <a:off x="932688" y="5230368"/>
            <a:ext cx="10012680" cy="603504"/>
          </a:xfrm>
          <a:prstGeom prst="roundRect">
            <a:avLst>
              <a:gd name="adj" fmla="val 8000"/>
            </a:avLst>
          </a:prstGeom>
          <a:solidFill>
            <a:srgbClr val="203E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 MECHANISM  →  LIVE TERMINALS  →  FINDINGS  → "/>
          <p:cNvSpPr txBox="1"/>
          <p:nvPr/>
        </p:nvSpPr>
        <p:spPr>
          <a:xfrm>
            <a:off x="1143000" y="5404104"/>
            <a:ext cx="9555480" cy="283464"/>
          </a:xfrm>
          <a:prstGeom prst="rect">
            <a:avLst/>
          </a:prstGeom>
          <a:noFill/>
        </p:spPr>
        <p:txBody>
          <a:bodyPr wrap="square" lIns="0" rIns="0" tIns="0" bIns="0">
            <a:spAutoFit/>
          </a:bodyPr>
          <a:lstStyle/>
          <a:p>
            <a:pPr>
              <a:lnSpc>
                <a:spcPct val="105000"/>
              </a:lnSpc>
              <a:spcAft>
                <a:spcPts val="200"/>
              </a:spcAft>
              <a:defRPr sz="1700" b="1">
                <a:solidFill>
                  <a:srgbClr val="8DE4DF"/>
                </a:solidFill>
                <a:latin typeface="Arial"/>
              </a:defRPr>
            </a:pPr>
            <a:r>
              <a:t>MECHANISM  →  LIVE TERMINALS  →  FINDINGS  →  DEFENCES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BFD"/>
        </a:solidFill>
        <a:effectLst/>
      </p:bgPr>
    </p:bg>
    <p:spTree>
      <p:nvGrpSpPr>
        <p:cNvPr id="1" name=""/>
        <p:cNvGrpSpPr/>
        <p:nvPr/>
      </p:nvGrpSpPr>
      <p:grpSpPr/>
      <p:sp>
        <p:nvSpPr>
          <p:cNvPr id="2" name="Rectangle 1"/>
          <p:cNvSpPr/>
          <p:nvPr/>
        </p:nvSpPr>
        <p:spPr>
          <a:xfrm>
            <a:off x="0" y="0"/>
            <a:ext cx="12191969" cy="109728"/>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ISSD  /  MEMBER 5  /  MECHANISM"/>
          <p:cNvSpPr txBox="1"/>
          <p:nvPr/>
        </p:nvSpPr>
        <p:spPr>
          <a:xfrm>
            <a:off x="502920" y="283464"/>
            <a:ext cx="9144000" cy="201168"/>
          </a:xfrm>
          <a:prstGeom prst="rect">
            <a:avLst/>
          </a:prstGeom>
          <a:noFill/>
        </p:spPr>
        <p:txBody>
          <a:bodyPr wrap="square" lIns="0" rIns="0" tIns="0" bIns="0">
            <a:spAutoFit/>
          </a:bodyPr>
          <a:lstStyle/>
          <a:p>
            <a:pPr>
              <a:lnSpc>
                <a:spcPct val="105000"/>
              </a:lnSpc>
              <a:spcAft>
                <a:spcPts val="200"/>
              </a:spcAft>
              <a:defRPr sz="1000" b="1">
                <a:solidFill>
                  <a:srgbClr val="087E8B"/>
                </a:solidFill>
                <a:latin typeface="Arial"/>
              </a:defRPr>
            </a:pPr>
            <a:r>
              <a:t>ISSD  /  MEMBER 5  /  MECHANISM</a:t>
            </a:r>
          </a:p>
        </p:txBody>
      </p:sp>
      <p:sp>
        <p:nvSpPr>
          <p:cNvPr id="4" name="Text: Where the race lives"/>
          <p:cNvSpPr txBox="1"/>
          <p:nvPr/>
        </p:nvSpPr>
        <p:spPr>
          <a:xfrm>
            <a:off x="502920" y="667512"/>
            <a:ext cx="11109960" cy="557784"/>
          </a:xfrm>
          <a:prstGeom prst="rect">
            <a:avLst/>
          </a:prstGeom>
          <a:noFill/>
        </p:spPr>
        <p:txBody>
          <a:bodyPr wrap="square" lIns="0" rIns="0" tIns="0" bIns="0">
            <a:spAutoFit/>
          </a:bodyPr>
          <a:lstStyle/>
          <a:p>
            <a:pPr>
              <a:lnSpc>
                <a:spcPct val="105000"/>
              </a:lnSpc>
              <a:spcAft>
                <a:spcPts val="600"/>
              </a:spcAft>
              <a:defRPr sz="3300" b="1">
                <a:solidFill>
                  <a:srgbClr val="142A43"/>
                </a:solidFill>
                <a:latin typeface="Arial"/>
              </a:defRPr>
            </a:pPr>
            <a:r>
              <a:t>Where the race lives</a:t>
            </a:r>
          </a:p>
        </p:txBody>
      </p:sp>
      <p:sp>
        <p:nvSpPr>
          <p:cNvPr id="5" name="Text: The pathname stays the same; the object reach"/>
          <p:cNvSpPr txBox="1"/>
          <p:nvPr/>
        </p:nvSpPr>
        <p:spPr>
          <a:xfrm>
            <a:off x="521207" y="1335024"/>
            <a:ext cx="10972800" cy="493776"/>
          </a:xfrm>
          <a:prstGeom prst="rect">
            <a:avLst/>
          </a:prstGeom>
          <a:noFill/>
        </p:spPr>
        <p:txBody>
          <a:bodyPr wrap="square" lIns="0" rIns="0" tIns="0" bIns="0">
            <a:spAutoFit/>
          </a:bodyPr>
          <a:lstStyle/>
          <a:p>
            <a:pPr>
              <a:lnSpc>
                <a:spcPct val="105000"/>
              </a:lnSpc>
              <a:spcAft>
                <a:spcPts val="200"/>
              </a:spcAft>
              <a:defRPr sz="1700" b="0">
                <a:solidFill>
                  <a:srgbClr val="526175"/>
                </a:solidFill>
                <a:latin typeface="Arial"/>
              </a:defRPr>
            </a:pPr>
            <a:r>
              <a:t>The pathname stays the same; the object reached through it can change.</a:t>
            </a:r>
          </a:p>
        </p:txBody>
      </p:sp>
      <p:sp>
        <p:nvSpPr>
          <p:cNvPr id="6" name="Text: SEED Race-Condition Lab • Wenliang Du / SEED "/>
          <p:cNvSpPr txBox="1"/>
          <p:nvPr/>
        </p:nvSpPr>
        <p:spPr>
          <a:xfrm>
            <a:off x="512064" y="6464808"/>
            <a:ext cx="10515600" cy="164592"/>
          </a:xfrm>
          <a:prstGeom prst="rect">
            <a:avLst/>
          </a:prstGeom>
          <a:noFill/>
        </p:spPr>
        <p:txBody>
          <a:bodyPr wrap="square" lIns="0" rIns="0" tIns="0" bIns="0">
            <a:spAutoFit/>
          </a:bodyPr>
          <a:lstStyle/>
          <a:p>
            <a:pPr>
              <a:lnSpc>
                <a:spcPct val="105000"/>
              </a:lnSpc>
              <a:spcAft>
                <a:spcPts val="200"/>
              </a:spcAft>
              <a:defRPr sz="900" b="0">
                <a:solidFill>
                  <a:srgbClr val="526175"/>
                </a:solidFill>
                <a:latin typeface="Arial"/>
              </a:defRPr>
            </a:pPr>
            <a:r>
              <a:t>SEED Race-Condition Lab • Wenliang Du / SEED Labs • Actual VM findings: 3 Oct 2026</a:t>
            </a:r>
          </a:p>
        </p:txBody>
      </p:sp>
      <p:sp>
        <p:nvSpPr>
          <p:cNvPr id="7" name="Text: 2"/>
          <p:cNvSpPr txBox="1"/>
          <p:nvPr/>
        </p:nvSpPr>
        <p:spPr>
          <a:xfrm>
            <a:off x="11155680" y="6428232"/>
            <a:ext cx="502920" cy="237744"/>
          </a:xfrm>
          <a:prstGeom prst="rect">
            <a:avLst/>
          </a:prstGeom>
          <a:noFill/>
        </p:spPr>
        <p:txBody>
          <a:bodyPr wrap="square" lIns="0" rIns="0" tIns="0" bIns="0">
            <a:spAutoFit/>
          </a:bodyPr>
          <a:lstStyle/>
          <a:p>
            <a:pPr>
              <a:lnSpc>
                <a:spcPct val="105000"/>
              </a:lnSpc>
              <a:spcAft>
                <a:spcPts val="200"/>
              </a:spcAft>
              <a:defRPr sz="1200" b="1">
                <a:solidFill>
                  <a:srgbClr val="087E8B"/>
                </a:solidFill>
                <a:latin typeface="Arial"/>
              </a:defRPr>
            </a:pPr>
            <a:r>
              <a:t>2</a:t>
            </a:r>
          </a:p>
        </p:txBody>
      </p:sp>
      <p:sp>
        <p:nvSpPr>
          <p:cNvPr id="8" name="Rounded Rectangle 7"/>
          <p:cNvSpPr/>
          <p:nvPr/>
        </p:nvSpPr>
        <p:spPr>
          <a:xfrm>
            <a:off x="521207" y="2011680"/>
            <a:ext cx="6656832" cy="3538728"/>
          </a:xfrm>
          <a:prstGeom prst="roundRect">
            <a:avLst>
              <a:gd name="adj" fmla="val 8000"/>
            </a:avLst>
          </a:prstGeom>
          <a:solidFill>
            <a:srgbClr val="14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CHECK"/>
          <p:cNvSpPr txBox="1"/>
          <p:nvPr/>
        </p:nvSpPr>
        <p:spPr>
          <a:xfrm>
            <a:off x="822960" y="2295144"/>
            <a:ext cx="6035040" cy="320040"/>
          </a:xfrm>
          <a:prstGeom prst="rect">
            <a:avLst/>
          </a:prstGeom>
          <a:noFill/>
        </p:spPr>
        <p:txBody>
          <a:bodyPr wrap="square" lIns="0" rIns="0" tIns="0" bIns="0">
            <a:spAutoFit/>
          </a:bodyPr>
          <a:lstStyle/>
          <a:p>
            <a:pPr>
              <a:lnSpc>
                <a:spcPct val="105000"/>
              </a:lnSpc>
              <a:spcAft>
                <a:spcPts val="200"/>
              </a:spcAft>
              <a:defRPr sz="1400" b="1">
                <a:solidFill>
                  <a:srgbClr val="7DDDD5"/>
                </a:solidFill>
                <a:latin typeface="Arial"/>
              </a:defRPr>
            </a:pPr>
            <a:r>
              <a:t>CHECK</a:t>
            </a:r>
          </a:p>
        </p:txBody>
      </p:sp>
      <p:sp>
        <p:nvSpPr>
          <p:cNvPr id="10" name="Text: access(&quot;/tmp/XYZ&quot;, W_OK)"/>
          <p:cNvSpPr txBox="1"/>
          <p:nvPr/>
        </p:nvSpPr>
        <p:spPr>
          <a:xfrm>
            <a:off x="822960" y="2752344"/>
            <a:ext cx="6007608" cy="566928"/>
          </a:xfrm>
          <a:prstGeom prst="rect">
            <a:avLst/>
          </a:prstGeom>
          <a:noFill/>
        </p:spPr>
        <p:txBody>
          <a:bodyPr wrap="square" lIns="0" rIns="0" tIns="0" bIns="0">
            <a:spAutoFit/>
          </a:bodyPr>
          <a:lstStyle/>
          <a:p>
            <a:pPr>
              <a:lnSpc>
                <a:spcPct val="105000"/>
              </a:lnSpc>
              <a:spcAft>
                <a:spcPts val="600"/>
              </a:spcAft>
              <a:defRPr sz="2500" b="0">
                <a:solidFill>
                  <a:srgbClr val="FFFFFF"/>
                </a:solidFill>
                <a:latin typeface="Courier New"/>
              </a:defRPr>
            </a:pPr>
            <a:r>
              <a:t>access("/tmp/XYZ", W_OK)</a:t>
            </a:r>
          </a:p>
        </p:txBody>
      </p:sp>
      <p:sp>
        <p:nvSpPr>
          <p:cNvPr id="11" name="Text: Attacker switches the symlink here"/>
          <p:cNvSpPr txBox="1"/>
          <p:nvPr/>
        </p:nvSpPr>
        <p:spPr>
          <a:xfrm>
            <a:off x="841248" y="3447288"/>
            <a:ext cx="5760720" cy="347472"/>
          </a:xfrm>
          <a:prstGeom prst="rect">
            <a:avLst/>
          </a:prstGeom>
          <a:noFill/>
        </p:spPr>
        <p:txBody>
          <a:bodyPr wrap="square" lIns="0" rIns="0" tIns="0" bIns="0">
            <a:spAutoFit/>
          </a:bodyPr>
          <a:lstStyle/>
          <a:p>
            <a:pPr>
              <a:lnSpc>
                <a:spcPct val="105000"/>
              </a:lnSpc>
              <a:spcAft>
                <a:spcPts val="600"/>
              </a:spcAft>
              <a:defRPr sz="2000" b="1">
                <a:solidFill>
                  <a:srgbClr val="F6CE84"/>
                </a:solidFill>
                <a:latin typeface="Arial"/>
              </a:defRPr>
            </a:pPr>
            <a:r>
              <a:t>Attacker switches the symlink here</a:t>
            </a:r>
          </a:p>
        </p:txBody>
      </p:sp>
      <p:sp>
        <p:nvSpPr>
          <p:cNvPr id="12" name="Text: USE"/>
          <p:cNvSpPr txBox="1"/>
          <p:nvPr/>
        </p:nvSpPr>
        <p:spPr>
          <a:xfrm>
            <a:off x="822960" y="4050791"/>
            <a:ext cx="6035040" cy="320040"/>
          </a:xfrm>
          <a:prstGeom prst="rect">
            <a:avLst/>
          </a:prstGeom>
          <a:noFill/>
        </p:spPr>
        <p:txBody>
          <a:bodyPr wrap="square" lIns="0" rIns="0" tIns="0" bIns="0">
            <a:spAutoFit/>
          </a:bodyPr>
          <a:lstStyle/>
          <a:p>
            <a:pPr>
              <a:lnSpc>
                <a:spcPct val="105000"/>
              </a:lnSpc>
              <a:spcAft>
                <a:spcPts val="200"/>
              </a:spcAft>
              <a:defRPr sz="1400" b="1">
                <a:solidFill>
                  <a:srgbClr val="7DDDD5"/>
                </a:solidFill>
                <a:latin typeface="Arial"/>
              </a:defRPr>
            </a:pPr>
            <a:r>
              <a:t>USE</a:t>
            </a:r>
          </a:p>
        </p:txBody>
      </p:sp>
      <p:sp>
        <p:nvSpPr>
          <p:cNvPr id="13" name="Text: fopen(&quot;/tmp/XYZ&quot;, &quot;a+&quot;)"/>
          <p:cNvSpPr txBox="1"/>
          <p:nvPr/>
        </p:nvSpPr>
        <p:spPr>
          <a:xfrm>
            <a:off x="822960" y="4498848"/>
            <a:ext cx="6007608" cy="548640"/>
          </a:xfrm>
          <a:prstGeom prst="rect">
            <a:avLst/>
          </a:prstGeom>
          <a:noFill/>
        </p:spPr>
        <p:txBody>
          <a:bodyPr wrap="square" lIns="0" rIns="0" tIns="0" bIns="0">
            <a:spAutoFit/>
          </a:bodyPr>
          <a:lstStyle/>
          <a:p>
            <a:pPr>
              <a:lnSpc>
                <a:spcPct val="105000"/>
              </a:lnSpc>
              <a:spcAft>
                <a:spcPts val="600"/>
              </a:spcAft>
              <a:defRPr sz="2500" b="0">
                <a:solidFill>
                  <a:srgbClr val="FFFFFF"/>
                </a:solidFill>
                <a:latin typeface="Courier New"/>
              </a:defRPr>
            </a:pPr>
            <a:r>
              <a:t>fopen("/tmp/XYZ", "a+")</a:t>
            </a:r>
          </a:p>
        </p:txBody>
      </p:sp>
      <p:sp>
        <p:nvSpPr>
          <p:cNvPr id="14" name="Rounded Rectangle 13"/>
          <p:cNvSpPr/>
          <p:nvPr/>
        </p:nvSpPr>
        <p:spPr>
          <a:xfrm>
            <a:off x="7498079" y="2011680"/>
            <a:ext cx="4133087" cy="1600200"/>
          </a:xfrm>
          <a:prstGeom prst="roundRect">
            <a:avLst>
              <a:gd name="adj" fmla="val 8000"/>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 Real UID: 1000 (seed)"/>
          <p:cNvSpPr txBox="1"/>
          <p:nvPr/>
        </p:nvSpPr>
        <p:spPr>
          <a:xfrm>
            <a:off x="7726679" y="2267712"/>
            <a:ext cx="3657600" cy="347472"/>
          </a:xfrm>
          <a:prstGeom prst="rect">
            <a:avLst/>
          </a:prstGeom>
          <a:noFill/>
        </p:spPr>
        <p:txBody>
          <a:bodyPr wrap="square" lIns="0" rIns="0" tIns="0" bIns="0">
            <a:spAutoFit/>
          </a:bodyPr>
          <a:lstStyle/>
          <a:p>
            <a:pPr>
              <a:lnSpc>
                <a:spcPct val="105000"/>
              </a:lnSpc>
              <a:spcAft>
                <a:spcPts val="600"/>
              </a:spcAft>
              <a:defRPr sz="2300" b="1">
                <a:solidFill>
                  <a:srgbClr val="087E8B"/>
                </a:solidFill>
                <a:latin typeface="Arial"/>
              </a:defRPr>
            </a:pPr>
            <a:r>
              <a:t>Real UID: 1000 (seed)</a:t>
            </a:r>
          </a:p>
        </p:txBody>
      </p:sp>
      <p:sp>
        <p:nvSpPr>
          <p:cNvPr id="16" name="Text: The permission check uses the ordinary caller"/>
          <p:cNvSpPr txBox="1"/>
          <p:nvPr/>
        </p:nvSpPr>
        <p:spPr>
          <a:xfrm>
            <a:off x="7726679" y="2779776"/>
            <a:ext cx="3611880" cy="594360"/>
          </a:xfrm>
          <a:prstGeom prst="rect">
            <a:avLst/>
          </a:prstGeom>
          <a:noFill/>
        </p:spPr>
        <p:txBody>
          <a:bodyPr wrap="square" lIns="0" rIns="0" tIns="0" bIns="0">
            <a:spAutoFit/>
          </a:bodyPr>
          <a:lstStyle/>
          <a:p>
            <a:pPr>
              <a:lnSpc>
                <a:spcPct val="105000"/>
              </a:lnSpc>
              <a:spcAft>
                <a:spcPts val="600"/>
              </a:spcAft>
              <a:defRPr sz="2000" b="0">
                <a:solidFill>
                  <a:srgbClr val="152436"/>
                </a:solidFill>
                <a:latin typeface="Arial"/>
              </a:defRPr>
            </a:pPr>
            <a:r>
              <a:t>The permission check uses the ordinary caller.</a:t>
            </a:r>
          </a:p>
        </p:txBody>
      </p:sp>
      <p:sp>
        <p:nvSpPr>
          <p:cNvPr id="17" name="Rounded Rectangle 16"/>
          <p:cNvSpPr/>
          <p:nvPr/>
        </p:nvSpPr>
        <p:spPr>
          <a:xfrm>
            <a:off x="7498079" y="3867912"/>
            <a:ext cx="4133087" cy="1682496"/>
          </a:xfrm>
          <a:prstGeom prst="roundRect">
            <a:avLst>
              <a:gd name="adj" fmla="val 8000"/>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Effective UID: 0"/>
          <p:cNvSpPr txBox="1"/>
          <p:nvPr/>
        </p:nvSpPr>
        <p:spPr>
          <a:xfrm>
            <a:off x="7726679" y="4123944"/>
            <a:ext cx="3657600" cy="347472"/>
          </a:xfrm>
          <a:prstGeom prst="rect">
            <a:avLst/>
          </a:prstGeom>
          <a:noFill/>
        </p:spPr>
        <p:txBody>
          <a:bodyPr wrap="square" lIns="0" rIns="0" tIns="0" bIns="0">
            <a:spAutoFit/>
          </a:bodyPr>
          <a:lstStyle/>
          <a:p>
            <a:pPr>
              <a:lnSpc>
                <a:spcPct val="105000"/>
              </a:lnSpc>
              <a:spcAft>
                <a:spcPts val="600"/>
              </a:spcAft>
              <a:defRPr sz="2300" b="1">
                <a:solidFill>
                  <a:srgbClr val="C48312"/>
                </a:solidFill>
                <a:latin typeface="Arial"/>
              </a:defRPr>
            </a:pPr>
            <a:r>
              <a:t>Effective UID: 0</a:t>
            </a:r>
          </a:p>
        </p:txBody>
      </p:sp>
      <p:sp>
        <p:nvSpPr>
          <p:cNvPr id="19" name="Text: The Set-UID victim supplies root authority to"/>
          <p:cNvSpPr txBox="1"/>
          <p:nvPr/>
        </p:nvSpPr>
        <p:spPr>
          <a:xfrm>
            <a:off x="7726679" y="4636008"/>
            <a:ext cx="3611880" cy="621792"/>
          </a:xfrm>
          <a:prstGeom prst="rect">
            <a:avLst/>
          </a:prstGeom>
          <a:noFill/>
        </p:spPr>
        <p:txBody>
          <a:bodyPr wrap="square" lIns="0" rIns="0" tIns="0" bIns="0">
            <a:spAutoFit/>
          </a:bodyPr>
          <a:lstStyle/>
          <a:p>
            <a:pPr>
              <a:lnSpc>
                <a:spcPct val="105000"/>
              </a:lnSpc>
              <a:spcAft>
                <a:spcPts val="600"/>
              </a:spcAft>
              <a:defRPr sz="2000" b="0">
                <a:solidFill>
                  <a:srgbClr val="152436"/>
                </a:solidFill>
                <a:latin typeface="Arial"/>
              </a:defRPr>
            </a:pPr>
            <a:r>
              <a:t>The Set-UID victim supplies root authority to the open.</a:t>
            </a:r>
          </a:p>
        </p:txBody>
      </p:sp>
      <p:sp>
        <p:nvSpPr>
          <p:cNvPr id="20" name="Text: Lab prerequisite: deliberately installed root"/>
          <p:cNvSpPr txBox="1"/>
          <p:nvPr/>
        </p:nvSpPr>
        <p:spPr>
          <a:xfrm>
            <a:off x="594360" y="5870448"/>
            <a:ext cx="10972800" cy="329184"/>
          </a:xfrm>
          <a:prstGeom prst="rect">
            <a:avLst/>
          </a:prstGeom>
          <a:noFill/>
        </p:spPr>
        <p:txBody>
          <a:bodyPr wrap="square" lIns="0" rIns="0" tIns="0" bIns="0">
            <a:spAutoFit/>
          </a:bodyPr>
          <a:lstStyle/>
          <a:p>
            <a:pPr>
              <a:lnSpc>
                <a:spcPct val="105000"/>
              </a:lnSpc>
              <a:spcAft>
                <a:spcPts val="200"/>
              </a:spcAft>
              <a:defRPr sz="1600" b="0">
                <a:solidFill>
                  <a:srgbClr val="526175"/>
                </a:solidFill>
                <a:latin typeface="Arial"/>
              </a:defRPr>
            </a:pPr>
            <a:r>
              <a:t>Lab prerequisite: deliberately installed root-owned Set-UID victim; attack controls set to 0/0.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BFD"/>
        </a:solidFill>
        <a:effectLst/>
      </p:bgPr>
    </p:bg>
    <p:spTree>
      <p:nvGrpSpPr>
        <p:cNvPr id="1" name=""/>
        <p:cNvGrpSpPr/>
        <p:nvPr/>
      </p:nvGrpSpPr>
      <p:grpSpPr/>
      <p:sp>
        <p:nvSpPr>
          <p:cNvPr id="2" name="Rectangle 1"/>
          <p:cNvSpPr/>
          <p:nvPr/>
        </p:nvSpPr>
        <p:spPr>
          <a:xfrm>
            <a:off x="0" y="0"/>
            <a:ext cx="12191969" cy="109728"/>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ISSD  /  MEMBER 5  /  LIVE DEMO 1"/>
          <p:cNvSpPr txBox="1"/>
          <p:nvPr/>
        </p:nvSpPr>
        <p:spPr>
          <a:xfrm>
            <a:off x="502920" y="283464"/>
            <a:ext cx="9144000" cy="201168"/>
          </a:xfrm>
          <a:prstGeom prst="rect">
            <a:avLst/>
          </a:prstGeom>
          <a:noFill/>
        </p:spPr>
        <p:txBody>
          <a:bodyPr wrap="square" lIns="0" rIns="0" tIns="0" bIns="0">
            <a:spAutoFit/>
          </a:bodyPr>
          <a:lstStyle/>
          <a:p>
            <a:pPr>
              <a:lnSpc>
                <a:spcPct val="105000"/>
              </a:lnSpc>
              <a:spcAft>
                <a:spcPts val="200"/>
              </a:spcAft>
              <a:defRPr sz="1000" b="1">
                <a:solidFill>
                  <a:srgbClr val="087E8B"/>
                </a:solidFill>
                <a:latin typeface="Arial"/>
              </a:defRPr>
            </a:pPr>
            <a:r>
              <a:t>ISSD  /  MEMBER 5  /  LIVE DEMO 1</a:t>
            </a:r>
          </a:p>
        </p:txBody>
      </p:sp>
      <p:sp>
        <p:nvSpPr>
          <p:cNvPr id="4" name="Text: What to watch in the live demo"/>
          <p:cNvSpPr txBox="1"/>
          <p:nvPr/>
        </p:nvSpPr>
        <p:spPr>
          <a:xfrm>
            <a:off x="502920" y="667512"/>
            <a:ext cx="11109960" cy="557784"/>
          </a:xfrm>
          <a:prstGeom prst="rect">
            <a:avLst/>
          </a:prstGeom>
          <a:noFill/>
        </p:spPr>
        <p:txBody>
          <a:bodyPr wrap="square" lIns="0" rIns="0" tIns="0" bIns="0">
            <a:spAutoFit/>
          </a:bodyPr>
          <a:lstStyle/>
          <a:p>
            <a:pPr>
              <a:lnSpc>
                <a:spcPct val="105000"/>
              </a:lnSpc>
              <a:spcAft>
                <a:spcPts val="600"/>
              </a:spcAft>
              <a:defRPr sz="3300" b="1">
                <a:solidFill>
                  <a:srgbClr val="142A43"/>
                </a:solidFill>
                <a:latin typeface="Arial"/>
              </a:defRPr>
            </a:pPr>
            <a:r>
              <a:t>What to watch in the live demo</a:t>
            </a:r>
          </a:p>
        </p:txBody>
      </p:sp>
      <p:sp>
        <p:nvSpPr>
          <p:cNvPr id="5" name="Text: Switch to the two terminals now. Explain the "/>
          <p:cNvSpPr txBox="1"/>
          <p:nvPr/>
        </p:nvSpPr>
        <p:spPr>
          <a:xfrm>
            <a:off x="521207" y="1335024"/>
            <a:ext cx="10972800" cy="493776"/>
          </a:xfrm>
          <a:prstGeom prst="rect">
            <a:avLst/>
          </a:prstGeom>
          <a:noFill/>
        </p:spPr>
        <p:txBody>
          <a:bodyPr wrap="square" lIns="0" rIns="0" tIns="0" bIns="0">
            <a:spAutoFit/>
          </a:bodyPr>
          <a:lstStyle/>
          <a:p>
            <a:pPr>
              <a:lnSpc>
                <a:spcPct val="105000"/>
              </a:lnSpc>
              <a:spcAft>
                <a:spcPts val="200"/>
              </a:spcAft>
              <a:defRPr sz="1700" b="0">
                <a:solidFill>
                  <a:srgbClr val="526175"/>
                </a:solidFill>
                <a:latin typeface="Arial"/>
              </a:defRPr>
            </a:pPr>
            <a:r>
              <a:t>Switch to the two terminals now. Explain the output as it appears.</a:t>
            </a:r>
          </a:p>
        </p:txBody>
      </p:sp>
      <p:sp>
        <p:nvSpPr>
          <p:cNvPr id="6" name="Text: SEED Race-Condition Lab • Wenliang Du / SEED "/>
          <p:cNvSpPr txBox="1"/>
          <p:nvPr/>
        </p:nvSpPr>
        <p:spPr>
          <a:xfrm>
            <a:off x="512064" y="6464808"/>
            <a:ext cx="10515600" cy="164592"/>
          </a:xfrm>
          <a:prstGeom prst="rect">
            <a:avLst/>
          </a:prstGeom>
          <a:noFill/>
        </p:spPr>
        <p:txBody>
          <a:bodyPr wrap="square" lIns="0" rIns="0" tIns="0" bIns="0">
            <a:spAutoFit/>
          </a:bodyPr>
          <a:lstStyle/>
          <a:p>
            <a:pPr>
              <a:lnSpc>
                <a:spcPct val="105000"/>
              </a:lnSpc>
              <a:spcAft>
                <a:spcPts val="200"/>
              </a:spcAft>
              <a:defRPr sz="900" b="0">
                <a:solidFill>
                  <a:srgbClr val="526175"/>
                </a:solidFill>
                <a:latin typeface="Arial"/>
              </a:defRPr>
            </a:pPr>
            <a:r>
              <a:t>SEED Race-Condition Lab • Wenliang Du / SEED Labs • Actual VM findings: 3 Oct 2026</a:t>
            </a:r>
          </a:p>
        </p:txBody>
      </p:sp>
      <p:sp>
        <p:nvSpPr>
          <p:cNvPr id="7" name="Text: 3"/>
          <p:cNvSpPr txBox="1"/>
          <p:nvPr/>
        </p:nvSpPr>
        <p:spPr>
          <a:xfrm>
            <a:off x="11155680" y="6428232"/>
            <a:ext cx="502920" cy="237744"/>
          </a:xfrm>
          <a:prstGeom prst="rect">
            <a:avLst/>
          </a:prstGeom>
          <a:noFill/>
        </p:spPr>
        <p:txBody>
          <a:bodyPr wrap="square" lIns="0" rIns="0" tIns="0" bIns="0">
            <a:spAutoFit/>
          </a:bodyPr>
          <a:lstStyle/>
          <a:p>
            <a:pPr>
              <a:lnSpc>
                <a:spcPct val="105000"/>
              </a:lnSpc>
              <a:spcAft>
                <a:spcPts val="200"/>
              </a:spcAft>
              <a:defRPr sz="1200" b="1">
                <a:solidFill>
                  <a:srgbClr val="087E8B"/>
                </a:solidFill>
                <a:latin typeface="Arial"/>
              </a:defRPr>
            </a:pPr>
            <a:r>
              <a:t>3</a:t>
            </a:r>
          </a:p>
        </p:txBody>
      </p:sp>
      <p:sp>
        <p:nvSpPr>
          <p:cNvPr id="8" name="Rounded Rectangle 7"/>
          <p:cNvSpPr/>
          <p:nvPr/>
        </p:nvSpPr>
        <p:spPr>
          <a:xfrm>
            <a:off x="521207" y="2020824"/>
            <a:ext cx="5468112" cy="2697480"/>
          </a:xfrm>
          <a:prstGeom prst="roundRect">
            <a:avLst>
              <a:gd name="adj" fmla="val 8000"/>
            </a:avLst>
          </a:prstGeom>
          <a:solidFill>
            <a:srgbClr val="14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A — Attacker"/>
          <p:cNvSpPr txBox="1"/>
          <p:nvPr/>
        </p:nvSpPr>
        <p:spPr>
          <a:xfrm>
            <a:off x="804672" y="2313432"/>
            <a:ext cx="4873752" cy="457200"/>
          </a:xfrm>
          <a:prstGeom prst="rect">
            <a:avLst/>
          </a:prstGeom>
          <a:noFill/>
        </p:spPr>
        <p:txBody>
          <a:bodyPr wrap="square" lIns="0" rIns="0" tIns="0" bIns="0">
            <a:spAutoFit/>
          </a:bodyPr>
          <a:lstStyle/>
          <a:p>
            <a:pPr>
              <a:lnSpc>
                <a:spcPct val="105000"/>
              </a:lnSpc>
              <a:spcAft>
                <a:spcPts val="600"/>
              </a:spcAft>
              <a:defRPr sz="2900" b="1">
                <a:solidFill>
                  <a:srgbClr val="FFFFFF"/>
                </a:solidFill>
                <a:latin typeface="Arial"/>
              </a:defRPr>
            </a:pPr>
            <a:r>
              <a:t>A — Attacker</a:t>
            </a:r>
          </a:p>
        </p:txBody>
      </p:sp>
      <p:sp>
        <p:nvSpPr>
          <p:cNvPr id="10" name="Text: First: XYZ → /dev/null Then: XYZ → /etc/passw"/>
          <p:cNvSpPr txBox="1"/>
          <p:nvPr/>
        </p:nvSpPr>
        <p:spPr>
          <a:xfrm>
            <a:off x="804672" y="2999232"/>
            <a:ext cx="4773168" cy="1188720"/>
          </a:xfrm>
          <a:prstGeom prst="rect">
            <a:avLst/>
          </a:prstGeom>
          <a:noFill/>
        </p:spPr>
        <p:txBody>
          <a:bodyPr wrap="square" lIns="0" rIns="0" tIns="0" bIns="0">
            <a:spAutoFit/>
          </a:bodyPr>
          <a:lstStyle/>
          <a:p>
            <a:pPr>
              <a:lnSpc>
                <a:spcPct val="105000"/>
              </a:lnSpc>
              <a:spcAft>
                <a:spcPts val="600"/>
              </a:spcAft>
              <a:defRPr sz="2500" b="0">
                <a:solidFill>
                  <a:srgbClr val="DDE9F4"/>
                </a:solidFill>
                <a:latin typeface="Arial"/>
              </a:defRPr>
            </a:pPr>
            <a:r>
              <a:t>First: XYZ → /dev/null</a:t>
            </a:r>
          </a:p>
          <a:p>
            <a:pPr>
              <a:lnSpc>
                <a:spcPct val="105000"/>
              </a:lnSpc>
              <a:spcAft>
                <a:spcPts val="600"/>
              </a:spcAft>
              <a:defRPr sz="2500" b="0">
                <a:solidFill>
                  <a:srgbClr val="DDE9F4"/>
                </a:solidFill>
                <a:latin typeface="Arial"/>
              </a:defRPr>
            </a:pPr>
            <a:r>
              <a:t>Then: XYZ → /etc/passwd</a:t>
            </a:r>
          </a:p>
        </p:txBody>
      </p:sp>
      <p:sp>
        <p:nvSpPr>
          <p:cNvPr id="11" name="Rounded Rectangle 10"/>
          <p:cNvSpPr/>
          <p:nvPr/>
        </p:nvSpPr>
        <p:spPr>
          <a:xfrm>
            <a:off x="6208776" y="2020824"/>
            <a:ext cx="5440680" cy="2697480"/>
          </a:xfrm>
          <a:prstGeom prst="roundRect">
            <a:avLst>
              <a:gd name="adj" fmla="val 8000"/>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B — Victim and results"/>
          <p:cNvSpPr txBox="1"/>
          <p:nvPr/>
        </p:nvSpPr>
        <p:spPr>
          <a:xfrm>
            <a:off x="6492240" y="2313432"/>
            <a:ext cx="4773168" cy="457200"/>
          </a:xfrm>
          <a:prstGeom prst="rect">
            <a:avLst/>
          </a:prstGeom>
          <a:noFill/>
        </p:spPr>
        <p:txBody>
          <a:bodyPr wrap="square" lIns="0" rIns="0" tIns="0" bIns="0">
            <a:spAutoFit/>
          </a:bodyPr>
          <a:lstStyle/>
          <a:p>
            <a:pPr>
              <a:lnSpc>
                <a:spcPct val="105000"/>
              </a:lnSpc>
              <a:spcAft>
                <a:spcPts val="600"/>
              </a:spcAft>
              <a:defRPr sz="2800" b="1">
                <a:solidFill>
                  <a:srgbClr val="087E8B"/>
                </a:solidFill>
                <a:latin typeface="Arial"/>
              </a:defRPr>
            </a:pPr>
            <a:r>
              <a:t>B — Victim and results</a:t>
            </a:r>
          </a:p>
        </p:txBody>
      </p:sp>
      <p:sp>
        <p:nvSpPr>
          <p:cNvPr id="13" name="Text: Check passed Inspect the complete record Non-"/>
          <p:cNvSpPr txBox="1"/>
          <p:nvPr/>
        </p:nvSpPr>
        <p:spPr>
          <a:xfrm>
            <a:off x="6492240" y="2999232"/>
            <a:ext cx="4690872" cy="1271016"/>
          </a:xfrm>
          <a:prstGeom prst="rect">
            <a:avLst/>
          </a:prstGeom>
          <a:noFill/>
        </p:spPr>
        <p:txBody>
          <a:bodyPr wrap="square" lIns="0" rIns="0" tIns="0" bIns="0">
            <a:spAutoFit/>
          </a:bodyPr>
          <a:lstStyle/>
          <a:p>
            <a:pPr>
              <a:lnSpc>
                <a:spcPct val="105000"/>
              </a:lnSpc>
              <a:spcAft>
                <a:spcPts val="600"/>
              </a:spcAft>
              <a:defRPr sz="2400" b="0">
                <a:solidFill>
                  <a:srgbClr val="152436"/>
                </a:solidFill>
                <a:latin typeface="Arial"/>
              </a:defRPr>
            </a:pPr>
            <a:r>
              <a:t>Check passed</a:t>
            </a:r>
          </a:p>
          <a:p>
            <a:pPr>
              <a:lnSpc>
                <a:spcPct val="105000"/>
              </a:lnSpc>
              <a:spcAft>
                <a:spcPts val="600"/>
              </a:spcAft>
              <a:defRPr sz="2400" b="0">
                <a:solidFill>
                  <a:srgbClr val="152436"/>
                </a:solidFill>
                <a:latin typeface="Arial"/>
              </a:defRPr>
            </a:pPr>
            <a:r>
              <a:t>Inspect the complete record</a:t>
            </a:r>
          </a:p>
          <a:p>
            <a:pPr>
              <a:lnSpc>
                <a:spcPct val="105000"/>
              </a:lnSpc>
              <a:spcAft>
                <a:spcPts val="600"/>
              </a:spcAft>
              <a:defRPr sz="2400" b="0">
                <a:solidFill>
                  <a:srgbClr val="152436"/>
                </a:solidFill>
                <a:latin typeface="Arial"/>
              </a:defRPr>
            </a:pPr>
            <a:r>
              <a:t>Non-sudo login → id</a:t>
            </a:r>
          </a:p>
        </p:txBody>
      </p:sp>
      <p:sp>
        <p:nvSpPr>
          <p:cNvPr id="14" name="Rounded Rectangle 13"/>
          <p:cNvSpPr/>
          <p:nvPr/>
        </p:nvSpPr>
        <p:spPr>
          <a:xfrm>
            <a:off x="548640" y="5074920"/>
            <a:ext cx="11082528" cy="758952"/>
          </a:xfrm>
          <a:prstGeom prst="roundRect">
            <a:avLst>
              <a:gd name="adj" fmla="val 8000"/>
            </a:avLst>
          </a:prstGeom>
          <a:solidFill>
            <a:srgbClr val="FFF0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 Task 2.A: an explicit artificial 10-second de"/>
          <p:cNvSpPr txBox="1"/>
          <p:nvPr/>
        </p:nvSpPr>
        <p:spPr>
          <a:xfrm>
            <a:off x="786384" y="5266944"/>
            <a:ext cx="10533888" cy="347472"/>
          </a:xfrm>
          <a:prstGeom prst="rect">
            <a:avLst/>
          </a:prstGeom>
          <a:noFill/>
        </p:spPr>
        <p:txBody>
          <a:bodyPr wrap="square" lIns="0" rIns="0" tIns="0" bIns="0">
            <a:spAutoFit/>
          </a:bodyPr>
          <a:lstStyle/>
          <a:p>
            <a:pPr>
              <a:lnSpc>
                <a:spcPct val="105000"/>
              </a:lnSpc>
              <a:spcAft>
                <a:spcPts val="600"/>
              </a:spcAft>
              <a:defRPr sz="2300" b="1">
                <a:solidFill>
                  <a:srgbClr val="815300"/>
                </a:solidFill>
                <a:latin typeface="Arial"/>
              </a:defRPr>
            </a:pPr>
            <a:r>
              <a:t>Task 2.A: an explicit artificial 10-second delay for explanation.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BFD"/>
        </a:solidFill>
        <a:effectLst/>
      </p:bgPr>
    </p:bg>
    <p:spTree>
      <p:nvGrpSpPr>
        <p:cNvPr id="1" name=""/>
        <p:cNvGrpSpPr/>
        <p:nvPr/>
      </p:nvGrpSpPr>
      <p:grpSpPr/>
      <p:sp>
        <p:nvSpPr>
          <p:cNvPr id="2" name="Rectangle 1"/>
          <p:cNvSpPr/>
          <p:nvPr/>
        </p:nvSpPr>
        <p:spPr>
          <a:xfrm>
            <a:off x="0" y="0"/>
            <a:ext cx="12191969" cy="109728"/>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ISSD  /  MEMBER 5  /  INTERPRETATION"/>
          <p:cNvSpPr txBox="1"/>
          <p:nvPr/>
        </p:nvSpPr>
        <p:spPr>
          <a:xfrm>
            <a:off x="502920" y="283464"/>
            <a:ext cx="9144000" cy="201168"/>
          </a:xfrm>
          <a:prstGeom prst="rect">
            <a:avLst/>
          </a:prstGeom>
          <a:noFill/>
        </p:spPr>
        <p:txBody>
          <a:bodyPr wrap="square" lIns="0" rIns="0" tIns="0" bIns="0">
            <a:spAutoFit/>
          </a:bodyPr>
          <a:lstStyle/>
          <a:p>
            <a:pPr>
              <a:lnSpc>
                <a:spcPct val="105000"/>
              </a:lnSpc>
              <a:spcAft>
                <a:spcPts val="200"/>
              </a:spcAft>
              <a:defRPr sz="1000" b="1">
                <a:solidFill>
                  <a:srgbClr val="087E8B"/>
                </a:solidFill>
                <a:latin typeface="Arial"/>
              </a:defRPr>
            </a:pPr>
            <a:r>
              <a:t>ISSD  /  MEMBER 5  /  INTERPRETATION</a:t>
            </a:r>
          </a:p>
        </p:txBody>
      </p:sp>
      <p:sp>
        <p:nvSpPr>
          <p:cNvPr id="4" name="Text: Read the output in the right order"/>
          <p:cNvSpPr txBox="1"/>
          <p:nvPr/>
        </p:nvSpPr>
        <p:spPr>
          <a:xfrm>
            <a:off x="502920" y="667512"/>
            <a:ext cx="11109960" cy="557784"/>
          </a:xfrm>
          <a:prstGeom prst="rect">
            <a:avLst/>
          </a:prstGeom>
          <a:noFill/>
        </p:spPr>
        <p:txBody>
          <a:bodyPr wrap="square" lIns="0" rIns="0" tIns="0" bIns="0">
            <a:spAutoFit/>
          </a:bodyPr>
          <a:lstStyle/>
          <a:p>
            <a:pPr>
              <a:lnSpc>
                <a:spcPct val="105000"/>
              </a:lnSpc>
              <a:spcAft>
                <a:spcPts val="600"/>
              </a:spcAft>
              <a:defRPr sz="3300" b="1">
                <a:solidFill>
                  <a:srgbClr val="142A43"/>
                </a:solidFill>
                <a:latin typeface="Arial"/>
              </a:defRPr>
            </a:pPr>
            <a:r>
              <a:t>Read the output in the right order</a:t>
            </a:r>
          </a:p>
        </p:txBody>
      </p:sp>
      <p:sp>
        <p:nvSpPr>
          <p:cNvPr id="5" name="Text: The proof is the full chain, not a successful"/>
          <p:cNvSpPr txBox="1"/>
          <p:nvPr/>
        </p:nvSpPr>
        <p:spPr>
          <a:xfrm>
            <a:off x="521207" y="1335024"/>
            <a:ext cx="10972800" cy="493776"/>
          </a:xfrm>
          <a:prstGeom prst="rect">
            <a:avLst/>
          </a:prstGeom>
          <a:noFill/>
        </p:spPr>
        <p:txBody>
          <a:bodyPr wrap="square" lIns="0" rIns="0" tIns="0" bIns="0">
            <a:spAutoFit/>
          </a:bodyPr>
          <a:lstStyle/>
          <a:p>
            <a:pPr>
              <a:lnSpc>
                <a:spcPct val="105000"/>
              </a:lnSpc>
              <a:spcAft>
                <a:spcPts val="200"/>
              </a:spcAft>
              <a:defRPr sz="1700" b="0">
                <a:solidFill>
                  <a:srgbClr val="526175"/>
                </a:solidFill>
                <a:latin typeface="Arial"/>
              </a:defRPr>
            </a:pPr>
            <a:r>
              <a:t>The proof is the full chain, not a successful-looking message.</a:t>
            </a:r>
          </a:p>
        </p:txBody>
      </p:sp>
      <p:sp>
        <p:nvSpPr>
          <p:cNvPr id="6" name="Text: SEED Race-Condition Lab • Wenliang Du / SEED "/>
          <p:cNvSpPr txBox="1"/>
          <p:nvPr/>
        </p:nvSpPr>
        <p:spPr>
          <a:xfrm>
            <a:off x="512064" y="6464808"/>
            <a:ext cx="10515600" cy="164592"/>
          </a:xfrm>
          <a:prstGeom prst="rect">
            <a:avLst/>
          </a:prstGeom>
          <a:noFill/>
        </p:spPr>
        <p:txBody>
          <a:bodyPr wrap="square" lIns="0" rIns="0" tIns="0" bIns="0">
            <a:spAutoFit/>
          </a:bodyPr>
          <a:lstStyle/>
          <a:p>
            <a:pPr>
              <a:lnSpc>
                <a:spcPct val="105000"/>
              </a:lnSpc>
              <a:spcAft>
                <a:spcPts val="200"/>
              </a:spcAft>
              <a:defRPr sz="900" b="0">
                <a:solidFill>
                  <a:srgbClr val="526175"/>
                </a:solidFill>
                <a:latin typeface="Arial"/>
              </a:defRPr>
            </a:pPr>
            <a:r>
              <a:t>SEED Race-Condition Lab • Wenliang Du / SEED Labs • Actual VM findings: 3 Oct 2026</a:t>
            </a:r>
          </a:p>
        </p:txBody>
      </p:sp>
      <p:sp>
        <p:nvSpPr>
          <p:cNvPr id="7" name="Text: 4"/>
          <p:cNvSpPr txBox="1"/>
          <p:nvPr/>
        </p:nvSpPr>
        <p:spPr>
          <a:xfrm>
            <a:off x="11155680" y="6428232"/>
            <a:ext cx="502920" cy="237744"/>
          </a:xfrm>
          <a:prstGeom prst="rect">
            <a:avLst/>
          </a:prstGeom>
          <a:noFill/>
        </p:spPr>
        <p:txBody>
          <a:bodyPr wrap="square" lIns="0" rIns="0" tIns="0" bIns="0">
            <a:spAutoFit/>
          </a:bodyPr>
          <a:lstStyle/>
          <a:p>
            <a:pPr>
              <a:lnSpc>
                <a:spcPct val="105000"/>
              </a:lnSpc>
              <a:spcAft>
                <a:spcPts val="200"/>
              </a:spcAft>
              <a:defRPr sz="1200" b="1">
                <a:solidFill>
                  <a:srgbClr val="087E8B"/>
                </a:solidFill>
                <a:latin typeface="Arial"/>
              </a:defRPr>
            </a:pPr>
            <a:r>
              <a:t>4</a:t>
            </a:r>
          </a:p>
        </p:txBody>
      </p:sp>
      <p:sp>
        <p:nvSpPr>
          <p:cNvPr id="8" name="Rounded Rectangle 7"/>
          <p:cNvSpPr/>
          <p:nvPr/>
        </p:nvSpPr>
        <p:spPr>
          <a:xfrm>
            <a:off x="566928" y="1984248"/>
            <a:ext cx="11018520" cy="832104"/>
          </a:xfrm>
          <a:prstGeom prst="roundRect">
            <a:avLst>
              <a:gd name="adj" fmla="val 8000"/>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uid=1000(seed)"/>
          <p:cNvSpPr txBox="1"/>
          <p:nvPr/>
        </p:nvSpPr>
        <p:spPr>
          <a:xfrm>
            <a:off x="777240" y="2148840"/>
            <a:ext cx="5074920" cy="502920"/>
          </a:xfrm>
          <a:prstGeom prst="rect">
            <a:avLst/>
          </a:prstGeom>
          <a:noFill/>
        </p:spPr>
        <p:txBody>
          <a:bodyPr wrap="square" lIns="0" rIns="0" tIns="0" bIns="0">
            <a:spAutoFit/>
          </a:bodyPr>
          <a:lstStyle/>
          <a:p>
            <a:pPr>
              <a:lnSpc>
                <a:spcPct val="105000"/>
              </a:lnSpc>
              <a:spcAft>
                <a:spcPts val="600"/>
              </a:spcAft>
              <a:defRPr sz="2300" b="1">
                <a:solidFill>
                  <a:srgbClr val="087E8B"/>
                </a:solidFill>
                <a:latin typeface="Arial"/>
              </a:defRPr>
            </a:pPr>
            <a:r>
              <a:t>uid=1000(seed)</a:t>
            </a:r>
          </a:p>
        </p:txBody>
      </p:sp>
      <p:sp>
        <p:nvSpPr>
          <p:cNvPr id="10" name="Text: The attack starts as an ordinary user."/>
          <p:cNvSpPr txBox="1"/>
          <p:nvPr/>
        </p:nvSpPr>
        <p:spPr>
          <a:xfrm>
            <a:off x="6172200" y="2148840"/>
            <a:ext cx="5065776" cy="530352"/>
          </a:xfrm>
          <a:prstGeom prst="rect">
            <a:avLst/>
          </a:prstGeom>
          <a:noFill/>
        </p:spPr>
        <p:txBody>
          <a:bodyPr wrap="square" lIns="0" rIns="0" tIns="0" bIns="0">
            <a:spAutoFit/>
          </a:bodyPr>
          <a:lstStyle/>
          <a:p>
            <a:pPr>
              <a:lnSpc>
                <a:spcPct val="105000"/>
              </a:lnSpc>
              <a:spcAft>
                <a:spcPts val="600"/>
              </a:spcAft>
              <a:defRPr sz="2000" b="0">
                <a:solidFill>
                  <a:srgbClr val="152436"/>
                </a:solidFill>
                <a:latin typeface="Arial"/>
              </a:defRPr>
            </a:pPr>
            <a:r>
              <a:t>The attack starts as an ordinary user.</a:t>
            </a:r>
          </a:p>
        </p:txBody>
      </p:sp>
      <p:sp>
        <p:nvSpPr>
          <p:cNvPr id="11" name="Rounded Rectangle 10"/>
          <p:cNvSpPr/>
          <p:nvPr/>
        </p:nvSpPr>
        <p:spPr>
          <a:xfrm>
            <a:off x="566928" y="2971800"/>
            <a:ext cx="11018520" cy="832104"/>
          </a:xfrm>
          <a:prstGeom prst="roundRect">
            <a:avLst>
              <a:gd name="adj" fmla="val 8000"/>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Exact seven-field test record"/>
          <p:cNvSpPr txBox="1"/>
          <p:nvPr/>
        </p:nvSpPr>
        <p:spPr>
          <a:xfrm>
            <a:off x="777240" y="3136392"/>
            <a:ext cx="5074920" cy="502920"/>
          </a:xfrm>
          <a:prstGeom prst="rect">
            <a:avLst/>
          </a:prstGeom>
          <a:noFill/>
        </p:spPr>
        <p:txBody>
          <a:bodyPr wrap="square" lIns="0" rIns="0" tIns="0" bIns="0">
            <a:spAutoFit/>
          </a:bodyPr>
          <a:lstStyle/>
          <a:p>
            <a:pPr>
              <a:lnSpc>
                <a:spcPct val="105000"/>
              </a:lnSpc>
              <a:spcAft>
                <a:spcPts val="600"/>
              </a:spcAft>
              <a:defRPr sz="2300" b="1">
                <a:solidFill>
                  <a:srgbClr val="087E8B"/>
                </a:solidFill>
                <a:latin typeface="Arial"/>
              </a:defRPr>
            </a:pPr>
            <a:r>
              <a:t>Exact seven-field test record</a:t>
            </a:r>
          </a:p>
        </p:txBody>
      </p:sp>
      <p:sp>
        <p:nvSpPr>
          <p:cNvPr id="13" name="Text: The chosen account entry reached /etc/passwd."/>
          <p:cNvSpPr txBox="1"/>
          <p:nvPr/>
        </p:nvSpPr>
        <p:spPr>
          <a:xfrm>
            <a:off x="6172200" y="3136392"/>
            <a:ext cx="5065776" cy="530352"/>
          </a:xfrm>
          <a:prstGeom prst="rect">
            <a:avLst/>
          </a:prstGeom>
          <a:noFill/>
        </p:spPr>
        <p:txBody>
          <a:bodyPr wrap="square" lIns="0" rIns="0" tIns="0" bIns="0">
            <a:spAutoFit/>
          </a:bodyPr>
          <a:lstStyle/>
          <a:p>
            <a:pPr>
              <a:lnSpc>
                <a:spcPct val="105000"/>
              </a:lnSpc>
              <a:spcAft>
                <a:spcPts val="600"/>
              </a:spcAft>
              <a:defRPr sz="2000" b="0">
                <a:solidFill>
                  <a:srgbClr val="152436"/>
                </a:solidFill>
                <a:latin typeface="Arial"/>
              </a:defRPr>
            </a:pPr>
            <a:r>
              <a:t>The chosen account entry reached /etc/passwd.</a:t>
            </a:r>
          </a:p>
        </p:txBody>
      </p:sp>
      <p:sp>
        <p:nvSpPr>
          <p:cNvPr id="14" name="Rounded Rectangle 13"/>
          <p:cNvSpPr/>
          <p:nvPr/>
        </p:nvSpPr>
        <p:spPr>
          <a:xfrm>
            <a:off x="566928" y="3959352"/>
            <a:ext cx="11018520" cy="832104"/>
          </a:xfrm>
          <a:prstGeom prst="roundRect">
            <a:avLst>
              <a:gd name="adj" fmla="val 8000"/>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 su - test  →  id: uid=0(root)"/>
          <p:cNvSpPr txBox="1"/>
          <p:nvPr/>
        </p:nvSpPr>
        <p:spPr>
          <a:xfrm>
            <a:off x="777240" y="4123944"/>
            <a:ext cx="5074920" cy="502920"/>
          </a:xfrm>
          <a:prstGeom prst="rect">
            <a:avLst/>
          </a:prstGeom>
          <a:noFill/>
        </p:spPr>
        <p:txBody>
          <a:bodyPr wrap="square" lIns="0" rIns="0" tIns="0" bIns="0">
            <a:spAutoFit/>
          </a:bodyPr>
          <a:lstStyle/>
          <a:p>
            <a:pPr>
              <a:lnSpc>
                <a:spcPct val="105000"/>
              </a:lnSpc>
              <a:spcAft>
                <a:spcPts val="600"/>
              </a:spcAft>
              <a:defRPr sz="2300" b="1">
                <a:solidFill>
                  <a:srgbClr val="087E8B"/>
                </a:solidFill>
                <a:latin typeface="Arial"/>
              </a:defRPr>
            </a:pPr>
            <a:r>
              <a:t>su - test  →  id: uid=0(root)</a:t>
            </a:r>
          </a:p>
        </p:txBody>
      </p:sp>
      <p:sp>
        <p:nvSpPr>
          <p:cNvPr id="16" name="Text: That non-sudo login actually obtained root au"/>
          <p:cNvSpPr txBox="1"/>
          <p:nvPr/>
        </p:nvSpPr>
        <p:spPr>
          <a:xfrm>
            <a:off x="6172200" y="4123944"/>
            <a:ext cx="5065776" cy="530352"/>
          </a:xfrm>
          <a:prstGeom prst="rect">
            <a:avLst/>
          </a:prstGeom>
          <a:noFill/>
        </p:spPr>
        <p:txBody>
          <a:bodyPr wrap="square" lIns="0" rIns="0" tIns="0" bIns="0">
            <a:spAutoFit/>
          </a:bodyPr>
          <a:lstStyle/>
          <a:p>
            <a:pPr>
              <a:lnSpc>
                <a:spcPct val="105000"/>
              </a:lnSpc>
              <a:spcAft>
                <a:spcPts val="600"/>
              </a:spcAft>
              <a:defRPr sz="2000" b="0">
                <a:solidFill>
                  <a:srgbClr val="152436"/>
                </a:solidFill>
                <a:latin typeface="Arial"/>
              </a:defRPr>
            </a:pPr>
            <a:r>
              <a:t>That non-sudo login actually obtained root authority.</a:t>
            </a:r>
          </a:p>
        </p:txBody>
      </p:sp>
      <p:sp>
        <p:nvSpPr>
          <p:cNvPr id="17" name="Rounded Rectangle 16"/>
          <p:cNvSpPr/>
          <p:nvPr/>
        </p:nvSpPr>
        <p:spPr>
          <a:xfrm>
            <a:off x="585216" y="5349240"/>
            <a:ext cx="10972800" cy="640080"/>
          </a:xfrm>
          <a:prstGeom prst="roundRect">
            <a:avLst>
              <a:gd name="adj" fmla="val 8000"/>
            </a:avLst>
          </a:prstGeom>
          <a:solidFill>
            <a:srgbClr val="14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A changed SHA-256 is a signal to inspect — no"/>
          <p:cNvSpPr txBox="1"/>
          <p:nvPr/>
        </p:nvSpPr>
        <p:spPr>
          <a:xfrm>
            <a:off x="804672" y="5522976"/>
            <a:ext cx="10561320" cy="310896"/>
          </a:xfrm>
          <a:prstGeom prst="rect">
            <a:avLst/>
          </a:prstGeom>
          <a:noFill/>
        </p:spPr>
        <p:txBody>
          <a:bodyPr wrap="square" lIns="0" rIns="0" tIns="0" bIns="0">
            <a:spAutoFit/>
          </a:bodyPr>
          <a:lstStyle/>
          <a:p>
            <a:pPr>
              <a:lnSpc>
                <a:spcPct val="105000"/>
              </a:lnSpc>
              <a:spcAft>
                <a:spcPts val="600"/>
              </a:spcAft>
              <a:defRPr sz="2200" b="1">
                <a:solidFill>
                  <a:srgbClr val="FFFFFF"/>
                </a:solidFill>
                <a:latin typeface="Arial"/>
              </a:defRPr>
            </a:pPr>
            <a:r>
              <a:t>A changed SHA-256 is a signal to inspect — not proof of root access.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BFD"/>
        </a:solidFill>
        <a:effectLst/>
      </p:bgPr>
    </p:bg>
    <p:spTree>
      <p:nvGrpSpPr>
        <p:cNvPr id="1" name=""/>
        <p:cNvGrpSpPr/>
        <p:nvPr/>
      </p:nvGrpSpPr>
      <p:grpSpPr/>
      <p:sp>
        <p:nvSpPr>
          <p:cNvPr id="2" name="Rectangle 1"/>
          <p:cNvSpPr/>
          <p:nvPr/>
        </p:nvSpPr>
        <p:spPr>
          <a:xfrm>
            <a:off x="0" y="0"/>
            <a:ext cx="12191969" cy="109728"/>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ISSD  /  MEMBER 5  /  LIVE DEMO 2 / FINDINGS"/>
          <p:cNvSpPr txBox="1"/>
          <p:nvPr/>
        </p:nvSpPr>
        <p:spPr>
          <a:xfrm>
            <a:off x="502920" y="283464"/>
            <a:ext cx="9144000" cy="201168"/>
          </a:xfrm>
          <a:prstGeom prst="rect">
            <a:avLst/>
          </a:prstGeom>
          <a:noFill/>
        </p:spPr>
        <p:txBody>
          <a:bodyPr wrap="square" lIns="0" rIns="0" tIns="0" bIns="0">
            <a:spAutoFit/>
          </a:bodyPr>
          <a:lstStyle/>
          <a:p>
            <a:pPr>
              <a:lnSpc>
                <a:spcPct val="105000"/>
              </a:lnSpc>
              <a:spcAft>
                <a:spcPts val="200"/>
              </a:spcAft>
              <a:defRPr sz="1000" b="1">
                <a:solidFill>
                  <a:srgbClr val="087E8B"/>
                </a:solidFill>
                <a:latin typeface="Arial"/>
              </a:defRPr>
            </a:pPr>
            <a:r>
              <a:t>ISSD  /  MEMBER 5  /  LIVE DEMO 2 / FINDINGS</a:t>
            </a:r>
          </a:p>
        </p:txBody>
      </p:sp>
      <p:sp>
        <p:nvSpPr>
          <p:cNvPr id="4" name="Text: The no-delay experiment also succeeded"/>
          <p:cNvSpPr txBox="1"/>
          <p:nvPr/>
        </p:nvSpPr>
        <p:spPr>
          <a:xfrm>
            <a:off x="502920" y="667512"/>
            <a:ext cx="11109960" cy="557784"/>
          </a:xfrm>
          <a:prstGeom prst="rect">
            <a:avLst/>
          </a:prstGeom>
          <a:noFill/>
        </p:spPr>
        <p:txBody>
          <a:bodyPr wrap="square" lIns="0" rIns="0" tIns="0" bIns="0">
            <a:spAutoFit/>
          </a:bodyPr>
          <a:lstStyle/>
          <a:p>
            <a:pPr>
              <a:lnSpc>
                <a:spcPct val="105000"/>
              </a:lnSpc>
              <a:spcAft>
                <a:spcPts val="600"/>
              </a:spcAft>
              <a:defRPr sz="3300" b="1">
                <a:solidFill>
                  <a:srgbClr val="142A43"/>
                </a:solidFill>
                <a:latin typeface="Arial"/>
              </a:defRPr>
            </a:pPr>
            <a:r>
              <a:t>The no-delay experiment also succeeded</a:t>
            </a:r>
          </a:p>
        </p:txBody>
      </p:sp>
      <p:sp>
        <p:nvSpPr>
          <p:cNvPr id="5" name="Text: Recorded measurements from 3 October 2026 — a"/>
          <p:cNvSpPr txBox="1"/>
          <p:nvPr/>
        </p:nvSpPr>
        <p:spPr>
          <a:xfrm>
            <a:off x="521207" y="1335024"/>
            <a:ext cx="10972800" cy="493776"/>
          </a:xfrm>
          <a:prstGeom prst="rect">
            <a:avLst/>
          </a:prstGeom>
          <a:noFill/>
        </p:spPr>
        <p:txBody>
          <a:bodyPr wrap="square" lIns="0" rIns="0" tIns="0" bIns="0">
            <a:spAutoFit/>
          </a:bodyPr>
          <a:lstStyle/>
          <a:p>
            <a:pPr>
              <a:lnSpc>
                <a:spcPct val="105000"/>
              </a:lnSpc>
              <a:spcAft>
                <a:spcPts val="200"/>
              </a:spcAft>
              <a:defRPr sz="1700" b="0">
                <a:solidFill>
                  <a:srgbClr val="526175"/>
                </a:solidFill>
                <a:latin typeface="Arial"/>
              </a:defRPr>
            </a:pPr>
            <a:r>
              <a:t>Recorded measurements from 3 October 2026 — a live run can differ.</a:t>
            </a:r>
          </a:p>
        </p:txBody>
      </p:sp>
      <p:sp>
        <p:nvSpPr>
          <p:cNvPr id="6" name="Text: SEED Race-Condition Lab • Wenliang Du / SEED "/>
          <p:cNvSpPr txBox="1"/>
          <p:nvPr/>
        </p:nvSpPr>
        <p:spPr>
          <a:xfrm>
            <a:off x="512064" y="6464808"/>
            <a:ext cx="10515600" cy="164592"/>
          </a:xfrm>
          <a:prstGeom prst="rect">
            <a:avLst/>
          </a:prstGeom>
          <a:noFill/>
        </p:spPr>
        <p:txBody>
          <a:bodyPr wrap="square" lIns="0" rIns="0" tIns="0" bIns="0">
            <a:spAutoFit/>
          </a:bodyPr>
          <a:lstStyle/>
          <a:p>
            <a:pPr>
              <a:lnSpc>
                <a:spcPct val="105000"/>
              </a:lnSpc>
              <a:spcAft>
                <a:spcPts val="200"/>
              </a:spcAft>
              <a:defRPr sz="900" b="0">
                <a:solidFill>
                  <a:srgbClr val="526175"/>
                </a:solidFill>
                <a:latin typeface="Arial"/>
              </a:defRPr>
            </a:pPr>
            <a:r>
              <a:t>SEED Race-Condition Lab • Wenliang Du / SEED Labs • Actual VM findings: 3 Oct 2026</a:t>
            </a:r>
          </a:p>
        </p:txBody>
      </p:sp>
      <p:sp>
        <p:nvSpPr>
          <p:cNvPr id="7" name="Text: 5"/>
          <p:cNvSpPr txBox="1"/>
          <p:nvPr/>
        </p:nvSpPr>
        <p:spPr>
          <a:xfrm>
            <a:off x="11155680" y="6428232"/>
            <a:ext cx="502920" cy="237744"/>
          </a:xfrm>
          <a:prstGeom prst="rect">
            <a:avLst/>
          </a:prstGeom>
          <a:noFill/>
        </p:spPr>
        <p:txBody>
          <a:bodyPr wrap="square" lIns="0" rIns="0" tIns="0" bIns="0">
            <a:spAutoFit/>
          </a:bodyPr>
          <a:lstStyle/>
          <a:p>
            <a:pPr>
              <a:lnSpc>
                <a:spcPct val="105000"/>
              </a:lnSpc>
              <a:spcAft>
                <a:spcPts val="200"/>
              </a:spcAft>
              <a:defRPr sz="1200" b="1">
                <a:solidFill>
                  <a:srgbClr val="087E8B"/>
                </a:solidFill>
                <a:latin typeface="Arial"/>
              </a:defRPr>
            </a:pPr>
            <a:r>
              <a:t>5</a:t>
            </a:r>
          </a:p>
        </p:txBody>
      </p:sp>
      <p:sp>
        <p:nvSpPr>
          <p:cNvPr id="8" name="Text: Recorded run"/>
          <p:cNvSpPr txBox="1"/>
          <p:nvPr/>
        </p:nvSpPr>
        <p:spPr>
          <a:xfrm>
            <a:off x="749808" y="1984248"/>
            <a:ext cx="3657600" cy="365760"/>
          </a:xfrm>
          <a:prstGeom prst="rect">
            <a:avLst/>
          </a:prstGeom>
          <a:noFill/>
        </p:spPr>
        <p:txBody>
          <a:bodyPr wrap="square" lIns="0" rIns="0" tIns="0" bIns="0">
            <a:spAutoFit/>
          </a:bodyPr>
          <a:lstStyle/>
          <a:p>
            <a:pPr>
              <a:lnSpc>
                <a:spcPct val="105000"/>
              </a:lnSpc>
              <a:spcAft>
                <a:spcPts val="600"/>
              </a:spcAft>
              <a:defRPr sz="2000" b="1">
                <a:solidFill>
                  <a:srgbClr val="526175"/>
                </a:solidFill>
                <a:latin typeface="Arial"/>
              </a:defRPr>
            </a:pPr>
            <a:r>
              <a:t>Recorded run</a:t>
            </a:r>
          </a:p>
        </p:txBody>
      </p:sp>
      <p:sp>
        <p:nvSpPr>
          <p:cNvPr id="9" name="Text: Attempts"/>
          <p:cNvSpPr txBox="1"/>
          <p:nvPr/>
        </p:nvSpPr>
        <p:spPr>
          <a:xfrm>
            <a:off x="4590288" y="1984248"/>
            <a:ext cx="1828800" cy="365760"/>
          </a:xfrm>
          <a:prstGeom prst="rect">
            <a:avLst/>
          </a:prstGeom>
          <a:noFill/>
        </p:spPr>
        <p:txBody>
          <a:bodyPr wrap="square" lIns="0" rIns="0" tIns="0" bIns="0">
            <a:spAutoFit/>
          </a:bodyPr>
          <a:lstStyle/>
          <a:p>
            <a:pPr>
              <a:lnSpc>
                <a:spcPct val="105000"/>
              </a:lnSpc>
              <a:spcAft>
                <a:spcPts val="600"/>
              </a:spcAft>
              <a:defRPr sz="2000" b="1">
                <a:solidFill>
                  <a:srgbClr val="526175"/>
                </a:solidFill>
                <a:latin typeface="Arial"/>
              </a:defRPr>
            </a:pPr>
            <a:r>
              <a:t>Attempts</a:t>
            </a:r>
          </a:p>
        </p:txBody>
      </p:sp>
      <p:sp>
        <p:nvSpPr>
          <p:cNvPr id="10" name="Text: Wall time"/>
          <p:cNvSpPr txBox="1"/>
          <p:nvPr/>
        </p:nvSpPr>
        <p:spPr>
          <a:xfrm>
            <a:off x="6675120" y="1984248"/>
            <a:ext cx="2194560" cy="365760"/>
          </a:xfrm>
          <a:prstGeom prst="rect">
            <a:avLst/>
          </a:prstGeom>
          <a:noFill/>
        </p:spPr>
        <p:txBody>
          <a:bodyPr wrap="square" lIns="0" rIns="0" tIns="0" bIns="0">
            <a:spAutoFit/>
          </a:bodyPr>
          <a:lstStyle/>
          <a:p>
            <a:pPr>
              <a:lnSpc>
                <a:spcPct val="105000"/>
              </a:lnSpc>
              <a:spcAft>
                <a:spcPts val="600"/>
              </a:spcAft>
              <a:defRPr sz="2000" b="1">
                <a:solidFill>
                  <a:srgbClr val="526175"/>
                </a:solidFill>
                <a:latin typeface="Arial"/>
              </a:defRPr>
            </a:pPr>
            <a:r>
              <a:t>Wall time</a:t>
            </a:r>
          </a:p>
        </p:txBody>
      </p:sp>
      <p:sp>
        <p:nvSpPr>
          <p:cNvPr id="11" name="Text: Verified"/>
          <p:cNvSpPr txBox="1"/>
          <p:nvPr/>
        </p:nvSpPr>
        <p:spPr>
          <a:xfrm>
            <a:off x="9208008" y="1984248"/>
            <a:ext cx="1828800" cy="365760"/>
          </a:xfrm>
          <a:prstGeom prst="rect">
            <a:avLst/>
          </a:prstGeom>
          <a:noFill/>
        </p:spPr>
        <p:txBody>
          <a:bodyPr wrap="square" lIns="0" rIns="0" tIns="0" bIns="0">
            <a:spAutoFit/>
          </a:bodyPr>
          <a:lstStyle/>
          <a:p>
            <a:pPr>
              <a:lnSpc>
                <a:spcPct val="105000"/>
              </a:lnSpc>
              <a:spcAft>
                <a:spcPts val="600"/>
              </a:spcAft>
              <a:defRPr sz="2000" b="1">
                <a:solidFill>
                  <a:srgbClr val="526175"/>
                </a:solidFill>
                <a:latin typeface="Arial"/>
              </a:defRPr>
            </a:pPr>
            <a:r>
              <a:t>Verified</a:t>
            </a:r>
          </a:p>
        </p:txBody>
      </p:sp>
      <p:sp>
        <p:nvSpPr>
          <p:cNvPr id="12" name="Rounded Rectangle 11"/>
          <p:cNvSpPr/>
          <p:nvPr/>
        </p:nvSpPr>
        <p:spPr>
          <a:xfrm>
            <a:off x="557784" y="2441448"/>
            <a:ext cx="11018520" cy="630936"/>
          </a:xfrm>
          <a:prstGeom prst="roundRect">
            <a:avLst>
              <a:gd name="adj" fmla="val 8000"/>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Naive: first success"/>
          <p:cNvSpPr txBox="1"/>
          <p:nvPr/>
        </p:nvSpPr>
        <p:spPr>
          <a:xfrm>
            <a:off x="749808" y="2569464"/>
            <a:ext cx="3730752" cy="393192"/>
          </a:xfrm>
          <a:prstGeom prst="rect">
            <a:avLst/>
          </a:prstGeom>
          <a:noFill/>
        </p:spPr>
        <p:txBody>
          <a:bodyPr wrap="square" lIns="0" rIns="0" tIns="0" bIns="0">
            <a:spAutoFit/>
          </a:bodyPr>
          <a:lstStyle/>
          <a:p>
            <a:pPr>
              <a:lnSpc>
                <a:spcPct val="105000"/>
              </a:lnSpc>
              <a:spcAft>
                <a:spcPts val="600"/>
              </a:spcAft>
              <a:defRPr sz="2300" b="0">
                <a:solidFill>
                  <a:srgbClr val="152436"/>
                </a:solidFill>
                <a:latin typeface="Arial"/>
              </a:defRPr>
            </a:pPr>
            <a:r>
              <a:t>Naive: first success</a:t>
            </a:r>
          </a:p>
        </p:txBody>
      </p:sp>
      <p:sp>
        <p:nvSpPr>
          <p:cNvPr id="14" name="Text: 20"/>
          <p:cNvSpPr txBox="1"/>
          <p:nvPr/>
        </p:nvSpPr>
        <p:spPr>
          <a:xfrm>
            <a:off x="4590288" y="2569464"/>
            <a:ext cx="1737360" cy="393192"/>
          </a:xfrm>
          <a:prstGeom prst="rect">
            <a:avLst/>
          </a:prstGeom>
          <a:noFill/>
        </p:spPr>
        <p:txBody>
          <a:bodyPr wrap="square" lIns="0" rIns="0" tIns="0" bIns="0">
            <a:spAutoFit/>
          </a:bodyPr>
          <a:lstStyle/>
          <a:p>
            <a:pPr>
              <a:lnSpc>
                <a:spcPct val="105000"/>
              </a:lnSpc>
              <a:spcAft>
                <a:spcPts val="600"/>
              </a:spcAft>
              <a:defRPr sz="2300" b="0">
                <a:solidFill>
                  <a:srgbClr val="152436"/>
                </a:solidFill>
                <a:latin typeface="Arial"/>
              </a:defRPr>
            </a:pPr>
            <a:r>
              <a:t>20</a:t>
            </a:r>
          </a:p>
        </p:txBody>
      </p:sp>
      <p:sp>
        <p:nvSpPr>
          <p:cNvPr id="15" name="Text: 0.865 s"/>
          <p:cNvSpPr txBox="1"/>
          <p:nvPr/>
        </p:nvSpPr>
        <p:spPr>
          <a:xfrm>
            <a:off x="6675120" y="2569464"/>
            <a:ext cx="2194560" cy="393192"/>
          </a:xfrm>
          <a:prstGeom prst="rect">
            <a:avLst/>
          </a:prstGeom>
          <a:noFill/>
        </p:spPr>
        <p:txBody>
          <a:bodyPr wrap="square" lIns="0" rIns="0" tIns="0" bIns="0">
            <a:spAutoFit/>
          </a:bodyPr>
          <a:lstStyle/>
          <a:p>
            <a:pPr>
              <a:lnSpc>
                <a:spcPct val="105000"/>
              </a:lnSpc>
              <a:spcAft>
                <a:spcPts val="600"/>
              </a:spcAft>
              <a:defRPr sz="2300" b="0">
                <a:solidFill>
                  <a:srgbClr val="152436"/>
                </a:solidFill>
                <a:latin typeface="Arial"/>
              </a:defRPr>
            </a:pPr>
            <a:r>
              <a:t>0.865 s</a:t>
            </a:r>
          </a:p>
        </p:txBody>
      </p:sp>
      <p:sp>
        <p:nvSpPr>
          <p:cNvPr id="16" name="Text: UID 0"/>
          <p:cNvSpPr txBox="1"/>
          <p:nvPr/>
        </p:nvSpPr>
        <p:spPr>
          <a:xfrm>
            <a:off x="9208008" y="2569464"/>
            <a:ext cx="1828800" cy="393192"/>
          </a:xfrm>
          <a:prstGeom prst="rect">
            <a:avLst/>
          </a:prstGeom>
          <a:noFill/>
        </p:spPr>
        <p:txBody>
          <a:bodyPr wrap="square" lIns="0" rIns="0" tIns="0" bIns="0">
            <a:spAutoFit/>
          </a:bodyPr>
          <a:lstStyle/>
          <a:p>
            <a:pPr>
              <a:lnSpc>
                <a:spcPct val="105000"/>
              </a:lnSpc>
              <a:spcAft>
                <a:spcPts val="600"/>
              </a:spcAft>
              <a:defRPr sz="2300" b="1">
                <a:solidFill>
                  <a:srgbClr val="087E8B"/>
                </a:solidFill>
                <a:latin typeface="Arial"/>
              </a:defRPr>
            </a:pPr>
            <a:r>
              <a:t>UID 0</a:t>
            </a:r>
          </a:p>
        </p:txBody>
      </p:sp>
      <p:sp>
        <p:nvSpPr>
          <p:cNvPr id="17" name="Rounded Rectangle 16"/>
          <p:cNvSpPr/>
          <p:nvPr/>
        </p:nvSpPr>
        <p:spPr>
          <a:xfrm>
            <a:off x="557784" y="3154679"/>
            <a:ext cx="11018520" cy="630936"/>
          </a:xfrm>
          <a:prstGeom prst="roundRect">
            <a:avLst>
              <a:gd name="adj" fmla="val 8000"/>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Atomic exchange"/>
          <p:cNvSpPr txBox="1"/>
          <p:nvPr/>
        </p:nvSpPr>
        <p:spPr>
          <a:xfrm>
            <a:off x="749808" y="3282696"/>
            <a:ext cx="3730752" cy="393192"/>
          </a:xfrm>
          <a:prstGeom prst="rect">
            <a:avLst/>
          </a:prstGeom>
          <a:noFill/>
        </p:spPr>
        <p:txBody>
          <a:bodyPr wrap="square" lIns="0" rIns="0" tIns="0" bIns="0">
            <a:spAutoFit/>
          </a:bodyPr>
          <a:lstStyle/>
          <a:p>
            <a:pPr>
              <a:lnSpc>
                <a:spcPct val="105000"/>
              </a:lnSpc>
              <a:spcAft>
                <a:spcPts val="600"/>
              </a:spcAft>
              <a:defRPr sz="2300" b="0">
                <a:solidFill>
                  <a:srgbClr val="152436"/>
                </a:solidFill>
                <a:latin typeface="Arial"/>
              </a:defRPr>
            </a:pPr>
            <a:r>
              <a:t>Atomic exchange</a:t>
            </a:r>
          </a:p>
        </p:txBody>
      </p:sp>
      <p:sp>
        <p:nvSpPr>
          <p:cNvPr id="19" name="Text: 1"/>
          <p:cNvSpPr txBox="1"/>
          <p:nvPr/>
        </p:nvSpPr>
        <p:spPr>
          <a:xfrm>
            <a:off x="4590288" y="3282696"/>
            <a:ext cx="1737360" cy="393192"/>
          </a:xfrm>
          <a:prstGeom prst="rect">
            <a:avLst/>
          </a:prstGeom>
          <a:noFill/>
        </p:spPr>
        <p:txBody>
          <a:bodyPr wrap="square" lIns="0" rIns="0" tIns="0" bIns="0">
            <a:spAutoFit/>
          </a:bodyPr>
          <a:lstStyle/>
          <a:p>
            <a:pPr>
              <a:lnSpc>
                <a:spcPct val="105000"/>
              </a:lnSpc>
              <a:spcAft>
                <a:spcPts val="600"/>
              </a:spcAft>
              <a:defRPr sz="2300" b="0">
                <a:solidFill>
                  <a:srgbClr val="152436"/>
                </a:solidFill>
                <a:latin typeface="Arial"/>
              </a:defRPr>
            </a:pPr>
            <a:r>
              <a:t>1</a:t>
            </a:r>
          </a:p>
        </p:txBody>
      </p:sp>
      <p:sp>
        <p:nvSpPr>
          <p:cNvPr id="20" name="Text: 0.273 s"/>
          <p:cNvSpPr txBox="1"/>
          <p:nvPr/>
        </p:nvSpPr>
        <p:spPr>
          <a:xfrm>
            <a:off x="6675120" y="3282696"/>
            <a:ext cx="2194560" cy="393192"/>
          </a:xfrm>
          <a:prstGeom prst="rect">
            <a:avLst/>
          </a:prstGeom>
          <a:noFill/>
        </p:spPr>
        <p:txBody>
          <a:bodyPr wrap="square" lIns="0" rIns="0" tIns="0" bIns="0">
            <a:spAutoFit/>
          </a:bodyPr>
          <a:lstStyle/>
          <a:p>
            <a:pPr>
              <a:lnSpc>
                <a:spcPct val="105000"/>
              </a:lnSpc>
              <a:spcAft>
                <a:spcPts val="600"/>
              </a:spcAft>
              <a:defRPr sz="2300" b="0">
                <a:solidFill>
                  <a:srgbClr val="152436"/>
                </a:solidFill>
                <a:latin typeface="Arial"/>
              </a:defRPr>
            </a:pPr>
            <a:r>
              <a:t>0.273 s</a:t>
            </a:r>
          </a:p>
        </p:txBody>
      </p:sp>
      <p:sp>
        <p:nvSpPr>
          <p:cNvPr id="21" name="Text: UID 0"/>
          <p:cNvSpPr txBox="1"/>
          <p:nvPr/>
        </p:nvSpPr>
        <p:spPr>
          <a:xfrm>
            <a:off x="9208008" y="3282696"/>
            <a:ext cx="1828800" cy="393192"/>
          </a:xfrm>
          <a:prstGeom prst="rect">
            <a:avLst/>
          </a:prstGeom>
          <a:noFill/>
        </p:spPr>
        <p:txBody>
          <a:bodyPr wrap="square" lIns="0" rIns="0" tIns="0" bIns="0">
            <a:spAutoFit/>
          </a:bodyPr>
          <a:lstStyle/>
          <a:p>
            <a:pPr>
              <a:lnSpc>
                <a:spcPct val="105000"/>
              </a:lnSpc>
              <a:spcAft>
                <a:spcPts val="600"/>
              </a:spcAft>
              <a:defRPr sz="2300" b="1">
                <a:solidFill>
                  <a:srgbClr val="087E8B"/>
                </a:solidFill>
                <a:latin typeface="Arial"/>
              </a:defRPr>
            </a:pPr>
            <a:r>
              <a:t>UID 0</a:t>
            </a:r>
          </a:p>
        </p:txBody>
      </p:sp>
      <p:sp>
        <p:nvSpPr>
          <p:cNvPr id="22" name="Rounded Rectangle 21"/>
          <p:cNvSpPr/>
          <p:nvPr/>
        </p:nvSpPr>
        <p:spPr>
          <a:xfrm>
            <a:off x="557784" y="3867912"/>
            <a:ext cx="11018520" cy="630936"/>
          </a:xfrm>
          <a:prstGeom prst="roundRect">
            <a:avLst>
              <a:gd name="adj" fmla="val 8000"/>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 Naive: recorded repeat"/>
          <p:cNvSpPr txBox="1"/>
          <p:nvPr/>
        </p:nvSpPr>
        <p:spPr>
          <a:xfrm>
            <a:off x="749808" y="3995928"/>
            <a:ext cx="3730752" cy="393192"/>
          </a:xfrm>
          <a:prstGeom prst="rect">
            <a:avLst/>
          </a:prstGeom>
          <a:noFill/>
        </p:spPr>
        <p:txBody>
          <a:bodyPr wrap="square" lIns="0" rIns="0" tIns="0" bIns="0">
            <a:spAutoFit/>
          </a:bodyPr>
          <a:lstStyle/>
          <a:p>
            <a:pPr>
              <a:lnSpc>
                <a:spcPct val="105000"/>
              </a:lnSpc>
              <a:spcAft>
                <a:spcPts val="600"/>
              </a:spcAft>
              <a:defRPr sz="2300" b="0">
                <a:solidFill>
                  <a:srgbClr val="152436"/>
                </a:solidFill>
                <a:latin typeface="Arial"/>
              </a:defRPr>
            </a:pPr>
            <a:r>
              <a:t>Naive: recorded repeat</a:t>
            </a:r>
          </a:p>
        </p:txBody>
      </p:sp>
      <p:sp>
        <p:nvSpPr>
          <p:cNvPr id="24" name="Text: 1"/>
          <p:cNvSpPr txBox="1"/>
          <p:nvPr/>
        </p:nvSpPr>
        <p:spPr>
          <a:xfrm>
            <a:off x="4590288" y="3995928"/>
            <a:ext cx="1737360" cy="393192"/>
          </a:xfrm>
          <a:prstGeom prst="rect">
            <a:avLst/>
          </a:prstGeom>
          <a:noFill/>
        </p:spPr>
        <p:txBody>
          <a:bodyPr wrap="square" lIns="0" rIns="0" tIns="0" bIns="0">
            <a:spAutoFit/>
          </a:bodyPr>
          <a:lstStyle/>
          <a:p>
            <a:pPr>
              <a:lnSpc>
                <a:spcPct val="105000"/>
              </a:lnSpc>
              <a:spcAft>
                <a:spcPts val="600"/>
              </a:spcAft>
              <a:defRPr sz="2300" b="0">
                <a:solidFill>
                  <a:srgbClr val="152436"/>
                </a:solidFill>
                <a:latin typeface="Arial"/>
              </a:defRPr>
            </a:pPr>
            <a:r>
              <a:t>1</a:t>
            </a:r>
          </a:p>
        </p:txBody>
      </p:sp>
      <p:sp>
        <p:nvSpPr>
          <p:cNvPr id="25" name="Text: 0.238 s"/>
          <p:cNvSpPr txBox="1"/>
          <p:nvPr/>
        </p:nvSpPr>
        <p:spPr>
          <a:xfrm>
            <a:off x="6675120" y="3995928"/>
            <a:ext cx="2194560" cy="393192"/>
          </a:xfrm>
          <a:prstGeom prst="rect">
            <a:avLst/>
          </a:prstGeom>
          <a:noFill/>
        </p:spPr>
        <p:txBody>
          <a:bodyPr wrap="square" lIns="0" rIns="0" tIns="0" bIns="0">
            <a:spAutoFit/>
          </a:bodyPr>
          <a:lstStyle/>
          <a:p>
            <a:pPr>
              <a:lnSpc>
                <a:spcPct val="105000"/>
              </a:lnSpc>
              <a:spcAft>
                <a:spcPts val="600"/>
              </a:spcAft>
              <a:defRPr sz="2300" b="0">
                <a:solidFill>
                  <a:srgbClr val="152436"/>
                </a:solidFill>
                <a:latin typeface="Arial"/>
              </a:defRPr>
            </a:pPr>
            <a:r>
              <a:t>0.238 s</a:t>
            </a:r>
          </a:p>
        </p:txBody>
      </p:sp>
      <p:sp>
        <p:nvSpPr>
          <p:cNvPr id="26" name="Text: UID 0"/>
          <p:cNvSpPr txBox="1"/>
          <p:nvPr/>
        </p:nvSpPr>
        <p:spPr>
          <a:xfrm>
            <a:off x="9208008" y="3995928"/>
            <a:ext cx="1828800" cy="393192"/>
          </a:xfrm>
          <a:prstGeom prst="rect">
            <a:avLst/>
          </a:prstGeom>
          <a:noFill/>
        </p:spPr>
        <p:txBody>
          <a:bodyPr wrap="square" lIns="0" rIns="0" tIns="0" bIns="0">
            <a:spAutoFit/>
          </a:bodyPr>
          <a:lstStyle/>
          <a:p>
            <a:pPr>
              <a:lnSpc>
                <a:spcPct val="105000"/>
              </a:lnSpc>
              <a:spcAft>
                <a:spcPts val="600"/>
              </a:spcAft>
              <a:defRPr sz="2300" b="1">
                <a:solidFill>
                  <a:srgbClr val="087E8B"/>
                </a:solidFill>
                <a:latin typeface="Arial"/>
              </a:defRPr>
            </a:pPr>
            <a:r>
              <a:t>UID 0</a:t>
            </a:r>
          </a:p>
        </p:txBody>
      </p:sp>
      <p:sp>
        <p:nvSpPr>
          <p:cNvPr id="27" name="Text: Same no-delay vulp. Bash timer: whole seconds"/>
          <p:cNvSpPr txBox="1"/>
          <p:nvPr/>
        </p:nvSpPr>
        <p:spPr>
          <a:xfrm>
            <a:off x="667512" y="4937760"/>
            <a:ext cx="10872216" cy="512064"/>
          </a:xfrm>
          <a:prstGeom prst="rect">
            <a:avLst/>
          </a:prstGeom>
          <a:noFill/>
        </p:spPr>
        <p:txBody>
          <a:bodyPr wrap="square" lIns="0" rIns="0" tIns="0" bIns="0">
            <a:spAutoFit/>
          </a:bodyPr>
          <a:lstStyle/>
          <a:p>
            <a:pPr>
              <a:lnSpc>
                <a:spcPct val="105000"/>
              </a:lnSpc>
              <a:spcAft>
                <a:spcPts val="200"/>
              </a:spcAft>
              <a:defRPr sz="1700" b="0">
                <a:solidFill>
                  <a:srgbClr val="526175"/>
                </a:solidFill>
                <a:latin typeface="Arial"/>
              </a:defRPr>
            </a:pPr>
            <a:r>
              <a:t>Same no-delay vulp. Bash timer: whole seconds; a 0 s reading does not mean zero runtime.</a:t>
            </a:r>
          </a:p>
        </p:txBody>
      </p:sp>
      <p:sp>
        <p:nvSpPr>
          <p:cNvPr id="28" name="Text: Live demonstration: original vulp + atomic sw"/>
          <p:cNvSpPr txBox="1"/>
          <p:nvPr/>
        </p:nvSpPr>
        <p:spPr>
          <a:xfrm>
            <a:off x="667512" y="5623560"/>
            <a:ext cx="10872216" cy="384048"/>
          </a:xfrm>
          <a:prstGeom prst="rect">
            <a:avLst/>
          </a:prstGeom>
          <a:noFill/>
        </p:spPr>
        <p:txBody>
          <a:bodyPr wrap="square" lIns="0" rIns="0" tIns="0" bIns="0">
            <a:spAutoFit/>
          </a:bodyPr>
          <a:lstStyle/>
          <a:p>
            <a:pPr>
              <a:lnSpc>
                <a:spcPct val="105000"/>
              </a:lnSpc>
              <a:spcAft>
                <a:spcPts val="600"/>
              </a:spcAft>
              <a:defRPr sz="2000" b="1">
                <a:solidFill>
                  <a:srgbClr val="087E8B"/>
                </a:solidFill>
                <a:latin typeface="Arial"/>
              </a:defRPr>
            </a:pPr>
            <a:r>
              <a:t>Live demonstration: original vulp + atomic switching, with no artificial delay.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BFD"/>
        </a:solidFill>
        <a:effectLst/>
      </p:bgPr>
    </p:bg>
    <p:spTree>
      <p:nvGrpSpPr>
        <p:cNvPr id="1" name=""/>
        <p:cNvGrpSpPr/>
        <p:nvPr/>
      </p:nvGrpSpPr>
      <p:grpSpPr/>
      <p:sp>
        <p:nvSpPr>
          <p:cNvPr id="2" name="Rectangle 1"/>
          <p:cNvSpPr/>
          <p:nvPr/>
        </p:nvSpPr>
        <p:spPr>
          <a:xfrm>
            <a:off x="0" y="0"/>
            <a:ext cx="12191969" cy="109728"/>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ISSD  /  MEMBER 5  /  SURPRISING OBSERVATION"/>
          <p:cNvSpPr txBox="1"/>
          <p:nvPr/>
        </p:nvSpPr>
        <p:spPr>
          <a:xfrm>
            <a:off x="502920" y="283464"/>
            <a:ext cx="9144000" cy="201168"/>
          </a:xfrm>
          <a:prstGeom prst="rect">
            <a:avLst/>
          </a:prstGeom>
          <a:noFill/>
        </p:spPr>
        <p:txBody>
          <a:bodyPr wrap="square" lIns="0" rIns="0" tIns="0" bIns="0">
            <a:spAutoFit/>
          </a:bodyPr>
          <a:lstStyle/>
          <a:p>
            <a:pPr>
              <a:lnSpc>
                <a:spcPct val="105000"/>
              </a:lnSpc>
              <a:spcAft>
                <a:spcPts val="200"/>
              </a:spcAft>
              <a:defRPr sz="1000" b="1">
                <a:solidFill>
                  <a:srgbClr val="087E8B"/>
                </a:solidFill>
                <a:latin typeface="Arial"/>
              </a:defRPr>
            </a:pPr>
            <a:r>
              <a:t>ISSD  /  MEMBER 5  /  SURPRISING OBSERVATION</a:t>
            </a:r>
          </a:p>
        </p:txBody>
      </p:sp>
      <p:sp>
        <p:nvSpPr>
          <p:cNvPr id="4" name="Text: Why the naive attacker got stuck"/>
          <p:cNvSpPr txBox="1"/>
          <p:nvPr/>
        </p:nvSpPr>
        <p:spPr>
          <a:xfrm>
            <a:off x="502920" y="667512"/>
            <a:ext cx="11109960" cy="557784"/>
          </a:xfrm>
          <a:prstGeom prst="rect">
            <a:avLst/>
          </a:prstGeom>
          <a:noFill/>
        </p:spPr>
        <p:txBody>
          <a:bodyPr wrap="square" lIns="0" rIns="0" tIns="0" bIns="0">
            <a:spAutoFit/>
          </a:bodyPr>
          <a:lstStyle/>
          <a:p>
            <a:pPr>
              <a:lnSpc>
                <a:spcPct val="105000"/>
              </a:lnSpc>
              <a:spcAft>
                <a:spcPts val="600"/>
              </a:spcAft>
              <a:defRPr sz="3300" b="1">
                <a:solidFill>
                  <a:srgbClr val="142A43"/>
                </a:solidFill>
                <a:latin typeface="Arial"/>
              </a:defRPr>
            </a:pPr>
            <a:r>
              <a:t>Why the naive attacker got stuck</a:t>
            </a:r>
          </a:p>
        </p:txBody>
      </p:sp>
      <p:sp>
        <p:nvSpPr>
          <p:cNvPr id="5" name="Text: File exists and Operation not permitted expla"/>
          <p:cNvSpPr txBox="1"/>
          <p:nvPr/>
        </p:nvSpPr>
        <p:spPr>
          <a:xfrm>
            <a:off x="521207" y="1335024"/>
            <a:ext cx="10972800" cy="493776"/>
          </a:xfrm>
          <a:prstGeom prst="rect">
            <a:avLst/>
          </a:prstGeom>
          <a:noFill/>
        </p:spPr>
        <p:txBody>
          <a:bodyPr wrap="square" lIns="0" rIns="0" tIns="0" bIns="0">
            <a:spAutoFit/>
          </a:bodyPr>
          <a:lstStyle/>
          <a:p>
            <a:pPr>
              <a:lnSpc>
                <a:spcPct val="105000"/>
              </a:lnSpc>
              <a:spcAft>
                <a:spcPts val="200"/>
              </a:spcAft>
              <a:defRPr sz="1700" b="0">
                <a:solidFill>
                  <a:srgbClr val="526175"/>
                </a:solidFill>
                <a:latin typeface="Arial"/>
              </a:defRPr>
            </a:pPr>
            <a:r>
              <a:t>File exists and Operation not permitted explained a real failure.</a:t>
            </a:r>
          </a:p>
        </p:txBody>
      </p:sp>
      <p:sp>
        <p:nvSpPr>
          <p:cNvPr id="6" name="Text: SEED Race-Condition Lab • Wenliang Du / SEED "/>
          <p:cNvSpPr txBox="1"/>
          <p:nvPr/>
        </p:nvSpPr>
        <p:spPr>
          <a:xfrm>
            <a:off x="512064" y="6464808"/>
            <a:ext cx="10515600" cy="164592"/>
          </a:xfrm>
          <a:prstGeom prst="rect">
            <a:avLst/>
          </a:prstGeom>
          <a:noFill/>
        </p:spPr>
        <p:txBody>
          <a:bodyPr wrap="square" lIns="0" rIns="0" tIns="0" bIns="0">
            <a:spAutoFit/>
          </a:bodyPr>
          <a:lstStyle/>
          <a:p>
            <a:pPr>
              <a:lnSpc>
                <a:spcPct val="105000"/>
              </a:lnSpc>
              <a:spcAft>
                <a:spcPts val="200"/>
              </a:spcAft>
              <a:defRPr sz="900" b="0">
                <a:solidFill>
                  <a:srgbClr val="526175"/>
                </a:solidFill>
                <a:latin typeface="Arial"/>
              </a:defRPr>
            </a:pPr>
            <a:r>
              <a:t>SEED Race-Condition Lab • Wenliang Du / SEED Labs • Actual VM findings: 3 Oct 2026</a:t>
            </a:r>
          </a:p>
        </p:txBody>
      </p:sp>
      <p:sp>
        <p:nvSpPr>
          <p:cNvPr id="7" name="Text: 6"/>
          <p:cNvSpPr txBox="1"/>
          <p:nvPr/>
        </p:nvSpPr>
        <p:spPr>
          <a:xfrm>
            <a:off x="11155680" y="6428232"/>
            <a:ext cx="502920" cy="237744"/>
          </a:xfrm>
          <a:prstGeom prst="rect">
            <a:avLst/>
          </a:prstGeom>
          <a:noFill/>
        </p:spPr>
        <p:txBody>
          <a:bodyPr wrap="square" lIns="0" rIns="0" tIns="0" bIns="0">
            <a:spAutoFit/>
          </a:bodyPr>
          <a:lstStyle/>
          <a:p>
            <a:pPr>
              <a:lnSpc>
                <a:spcPct val="105000"/>
              </a:lnSpc>
              <a:spcAft>
                <a:spcPts val="200"/>
              </a:spcAft>
              <a:defRPr sz="1200" b="1">
                <a:solidFill>
                  <a:srgbClr val="087E8B"/>
                </a:solidFill>
                <a:latin typeface="Arial"/>
              </a:defRPr>
            </a:pPr>
            <a:r>
              <a:t>6</a:t>
            </a:r>
          </a:p>
        </p:txBody>
      </p:sp>
      <p:sp>
        <p:nvSpPr>
          <p:cNvPr id="8" name="Rounded Rectangle 7"/>
          <p:cNvSpPr/>
          <p:nvPr/>
        </p:nvSpPr>
        <p:spPr>
          <a:xfrm>
            <a:off x="566928" y="2057400"/>
            <a:ext cx="3593592" cy="2423160"/>
          </a:xfrm>
          <a:prstGeom prst="roundRect">
            <a:avLst>
              <a:gd name="adj" fmla="val 8000"/>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1  unlink()"/>
          <p:cNvSpPr txBox="1"/>
          <p:nvPr/>
        </p:nvSpPr>
        <p:spPr>
          <a:xfrm>
            <a:off x="786384" y="2267712"/>
            <a:ext cx="3118104" cy="365760"/>
          </a:xfrm>
          <a:prstGeom prst="rect">
            <a:avLst/>
          </a:prstGeom>
          <a:noFill/>
        </p:spPr>
        <p:txBody>
          <a:bodyPr wrap="square" lIns="0" rIns="0" tIns="0" bIns="0">
            <a:spAutoFit/>
          </a:bodyPr>
          <a:lstStyle/>
          <a:p>
            <a:pPr>
              <a:lnSpc>
                <a:spcPct val="105000"/>
              </a:lnSpc>
              <a:spcAft>
                <a:spcPts val="600"/>
              </a:spcAft>
              <a:defRPr sz="2400" b="1">
                <a:solidFill>
                  <a:srgbClr val="087E8B"/>
                </a:solidFill>
                <a:latin typeface="Arial"/>
              </a:defRPr>
            </a:pPr>
            <a:r>
              <a:t>1  unlink()</a:t>
            </a:r>
          </a:p>
        </p:txBody>
      </p:sp>
      <p:sp>
        <p:nvSpPr>
          <p:cNvPr id="10" name="Text: XYZ is temporarily absent."/>
          <p:cNvSpPr txBox="1"/>
          <p:nvPr/>
        </p:nvSpPr>
        <p:spPr>
          <a:xfrm>
            <a:off x="786384" y="2953512"/>
            <a:ext cx="3081528" cy="1152144"/>
          </a:xfrm>
          <a:prstGeom prst="rect">
            <a:avLst/>
          </a:prstGeom>
          <a:noFill/>
        </p:spPr>
        <p:txBody>
          <a:bodyPr wrap="square" lIns="0" rIns="0" tIns="0" bIns="0">
            <a:spAutoFit/>
          </a:bodyPr>
          <a:lstStyle/>
          <a:p>
            <a:pPr>
              <a:lnSpc>
                <a:spcPct val="105000"/>
              </a:lnSpc>
              <a:spcAft>
                <a:spcPts val="600"/>
              </a:spcAft>
              <a:defRPr sz="2300" b="0">
                <a:solidFill>
                  <a:srgbClr val="152436"/>
                </a:solidFill>
                <a:latin typeface="Arial"/>
              </a:defRPr>
            </a:pPr>
            <a:r>
              <a:t>XYZ is temporarily absent.</a:t>
            </a:r>
          </a:p>
        </p:txBody>
      </p:sp>
      <p:sp>
        <p:nvSpPr>
          <p:cNvPr id="11" name="Rounded Rectangle 10"/>
          <p:cNvSpPr/>
          <p:nvPr/>
        </p:nvSpPr>
        <p:spPr>
          <a:xfrm>
            <a:off x="4379976" y="2057400"/>
            <a:ext cx="3593592" cy="2423160"/>
          </a:xfrm>
          <a:prstGeom prst="roundRect">
            <a:avLst>
              <a:gd name="adj" fmla="val 8000"/>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2  fopen(&quot;a+&quot;)"/>
          <p:cNvSpPr txBox="1"/>
          <p:nvPr/>
        </p:nvSpPr>
        <p:spPr>
          <a:xfrm>
            <a:off x="4599432" y="2267712"/>
            <a:ext cx="3118104" cy="365760"/>
          </a:xfrm>
          <a:prstGeom prst="rect">
            <a:avLst/>
          </a:prstGeom>
          <a:noFill/>
        </p:spPr>
        <p:txBody>
          <a:bodyPr wrap="square" lIns="0" rIns="0" tIns="0" bIns="0">
            <a:spAutoFit/>
          </a:bodyPr>
          <a:lstStyle/>
          <a:p>
            <a:pPr>
              <a:lnSpc>
                <a:spcPct val="105000"/>
              </a:lnSpc>
              <a:spcAft>
                <a:spcPts val="600"/>
              </a:spcAft>
              <a:defRPr sz="2400" b="1">
                <a:solidFill>
                  <a:srgbClr val="087E8B"/>
                </a:solidFill>
                <a:latin typeface="Arial"/>
              </a:defRPr>
            </a:pPr>
            <a:r>
              <a:t>2  fopen("a+")</a:t>
            </a:r>
          </a:p>
        </p:txBody>
      </p:sp>
      <p:sp>
        <p:nvSpPr>
          <p:cNvPr id="13" name="Text: The victim can create a root-owned regular fi"/>
          <p:cNvSpPr txBox="1"/>
          <p:nvPr/>
        </p:nvSpPr>
        <p:spPr>
          <a:xfrm>
            <a:off x="4599432" y="2953512"/>
            <a:ext cx="3081528" cy="1152144"/>
          </a:xfrm>
          <a:prstGeom prst="rect">
            <a:avLst/>
          </a:prstGeom>
          <a:noFill/>
        </p:spPr>
        <p:txBody>
          <a:bodyPr wrap="square" lIns="0" rIns="0" tIns="0" bIns="0">
            <a:spAutoFit/>
          </a:bodyPr>
          <a:lstStyle/>
          <a:p>
            <a:pPr>
              <a:lnSpc>
                <a:spcPct val="105000"/>
              </a:lnSpc>
              <a:spcAft>
                <a:spcPts val="600"/>
              </a:spcAft>
              <a:defRPr sz="2300" b="0">
                <a:solidFill>
                  <a:srgbClr val="152436"/>
                </a:solidFill>
                <a:latin typeface="Arial"/>
              </a:defRPr>
            </a:pPr>
            <a:r>
              <a:t>The victim can create a root-owned regular file.</a:t>
            </a:r>
          </a:p>
        </p:txBody>
      </p:sp>
      <p:sp>
        <p:nvSpPr>
          <p:cNvPr id="14" name="Rounded Rectangle 13"/>
          <p:cNvSpPr/>
          <p:nvPr/>
        </p:nvSpPr>
        <p:spPr>
          <a:xfrm>
            <a:off x="8193023" y="2057400"/>
            <a:ext cx="3593592" cy="2423160"/>
          </a:xfrm>
          <a:prstGeom prst="roundRect">
            <a:avLst>
              <a:gd name="adj" fmla="val 8000"/>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 3  Sticky /tmp"/>
          <p:cNvSpPr txBox="1"/>
          <p:nvPr/>
        </p:nvSpPr>
        <p:spPr>
          <a:xfrm>
            <a:off x="8412480" y="2267712"/>
            <a:ext cx="3118104" cy="365760"/>
          </a:xfrm>
          <a:prstGeom prst="rect">
            <a:avLst/>
          </a:prstGeom>
          <a:noFill/>
        </p:spPr>
        <p:txBody>
          <a:bodyPr wrap="square" lIns="0" rIns="0" tIns="0" bIns="0">
            <a:spAutoFit/>
          </a:bodyPr>
          <a:lstStyle/>
          <a:p>
            <a:pPr>
              <a:lnSpc>
                <a:spcPct val="105000"/>
              </a:lnSpc>
              <a:spcAft>
                <a:spcPts val="600"/>
              </a:spcAft>
              <a:defRPr sz="2400" b="1">
                <a:solidFill>
                  <a:srgbClr val="087E8B"/>
                </a:solidFill>
                <a:latin typeface="Arial"/>
              </a:defRPr>
            </a:pPr>
            <a:r>
              <a:t>3  Sticky /tmp</a:t>
            </a:r>
          </a:p>
        </p:txBody>
      </p:sp>
      <p:sp>
        <p:nvSpPr>
          <p:cNvPr id="16" name="Text: seed cannot unlink that root-owned entry."/>
          <p:cNvSpPr txBox="1"/>
          <p:nvPr/>
        </p:nvSpPr>
        <p:spPr>
          <a:xfrm>
            <a:off x="8412480" y="2953512"/>
            <a:ext cx="3081528" cy="1152144"/>
          </a:xfrm>
          <a:prstGeom prst="rect">
            <a:avLst/>
          </a:prstGeom>
          <a:noFill/>
        </p:spPr>
        <p:txBody>
          <a:bodyPr wrap="square" lIns="0" rIns="0" tIns="0" bIns="0">
            <a:spAutoFit/>
          </a:bodyPr>
          <a:lstStyle/>
          <a:p>
            <a:pPr>
              <a:lnSpc>
                <a:spcPct val="105000"/>
              </a:lnSpc>
              <a:spcAft>
                <a:spcPts val="600"/>
              </a:spcAft>
              <a:defRPr sz="2300" b="0">
                <a:solidFill>
                  <a:srgbClr val="152436"/>
                </a:solidFill>
                <a:latin typeface="Arial"/>
              </a:defRPr>
            </a:pPr>
            <a:r>
              <a:t>seed cannot unlink that root-owned entry.</a:t>
            </a:r>
          </a:p>
        </p:txBody>
      </p:sp>
      <p:sp>
        <p:nvSpPr>
          <p:cNvPr id="17" name="Text: Observed: root:seed, mode 0664, under root-ow"/>
          <p:cNvSpPr txBox="1"/>
          <p:nvPr/>
        </p:nvSpPr>
        <p:spPr>
          <a:xfrm>
            <a:off x="713232" y="4800600"/>
            <a:ext cx="10780776" cy="411480"/>
          </a:xfrm>
          <a:prstGeom prst="rect">
            <a:avLst/>
          </a:prstGeom>
          <a:noFill/>
        </p:spPr>
        <p:txBody>
          <a:bodyPr wrap="square" lIns="0" rIns="0" tIns="0" bIns="0">
            <a:spAutoFit/>
          </a:bodyPr>
          <a:lstStyle/>
          <a:p>
            <a:pPr>
              <a:lnSpc>
                <a:spcPct val="105000"/>
              </a:lnSpc>
              <a:spcAft>
                <a:spcPts val="600"/>
              </a:spcAft>
              <a:defRPr sz="2000" b="0">
                <a:solidFill>
                  <a:srgbClr val="526175"/>
                </a:solidFill>
                <a:latin typeface="Arial"/>
              </a:defRPr>
            </a:pPr>
            <a:r>
              <a:t>Observed: root:seed, mode 0664, under root-owned mode-1777 /tmp.</a:t>
            </a:r>
          </a:p>
        </p:txBody>
      </p:sp>
      <p:sp>
        <p:nvSpPr>
          <p:cNvPr id="18" name="Rounded Rectangle 17"/>
          <p:cNvSpPr/>
          <p:nvPr/>
        </p:nvSpPr>
        <p:spPr>
          <a:xfrm>
            <a:off x="612648" y="5458968"/>
            <a:ext cx="10972800" cy="557784"/>
          </a:xfrm>
          <a:prstGeom prst="roundRect">
            <a:avLst>
              <a:gd name="adj" fmla="val 8000"/>
            </a:avLst>
          </a:prstGeom>
          <a:solidFill>
            <a:srgbClr val="14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RENAME_EXCHANGE removes this missing-name gap"/>
          <p:cNvSpPr txBox="1"/>
          <p:nvPr/>
        </p:nvSpPr>
        <p:spPr>
          <a:xfrm>
            <a:off x="841248" y="5596128"/>
            <a:ext cx="10479024" cy="283464"/>
          </a:xfrm>
          <a:prstGeom prst="rect">
            <a:avLst/>
          </a:prstGeom>
          <a:noFill/>
        </p:spPr>
        <p:txBody>
          <a:bodyPr wrap="square" lIns="0" rIns="0" tIns="0" bIns="0">
            <a:spAutoFit/>
          </a:bodyPr>
          <a:lstStyle/>
          <a:p>
            <a:pPr>
              <a:lnSpc>
                <a:spcPct val="105000"/>
              </a:lnSpc>
              <a:spcAft>
                <a:spcPts val="600"/>
              </a:spcAft>
              <a:defRPr sz="2000" b="1">
                <a:solidFill>
                  <a:srgbClr val="FFFFFF"/>
                </a:solidFill>
                <a:latin typeface="Arial"/>
              </a:defRPr>
            </a:pPr>
            <a:r>
              <a:t>RENAME_EXCHANGE removes this missing-name gap — it does not fix the victim.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BFD"/>
        </a:solidFill>
        <a:effectLst/>
      </p:bgPr>
    </p:bg>
    <p:spTree>
      <p:nvGrpSpPr>
        <p:cNvPr id="1" name=""/>
        <p:cNvGrpSpPr/>
        <p:nvPr/>
      </p:nvGrpSpPr>
      <p:grpSpPr/>
      <p:sp>
        <p:nvSpPr>
          <p:cNvPr id="2" name="Rectangle 1"/>
          <p:cNvSpPr/>
          <p:nvPr/>
        </p:nvSpPr>
        <p:spPr>
          <a:xfrm>
            <a:off x="0" y="0"/>
            <a:ext cx="12191969" cy="109728"/>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ISSD  /  MEMBER 5  /  LIVE DEMO 3 / DEFENCES"/>
          <p:cNvSpPr txBox="1"/>
          <p:nvPr/>
        </p:nvSpPr>
        <p:spPr>
          <a:xfrm>
            <a:off x="502920" y="283464"/>
            <a:ext cx="9144000" cy="201168"/>
          </a:xfrm>
          <a:prstGeom prst="rect">
            <a:avLst/>
          </a:prstGeom>
          <a:noFill/>
        </p:spPr>
        <p:txBody>
          <a:bodyPr wrap="square" lIns="0" rIns="0" tIns="0" bIns="0">
            <a:spAutoFit/>
          </a:bodyPr>
          <a:lstStyle/>
          <a:p>
            <a:pPr>
              <a:lnSpc>
                <a:spcPct val="105000"/>
              </a:lnSpc>
              <a:spcAft>
                <a:spcPts val="200"/>
              </a:spcAft>
              <a:defRPr sz="1000" b="1">
                <a:solidFill>
                  <a:srgbClr val="087E8B"/>
                </a:solidFill>
                <a:latin typeface="Arial"/>
              </a:defRPr>
            </a:pPr>
            <a:r>
              <a:t>ISSD  /  MEMBER 5  /  LIVE DEMO 3 / DEFENCES</a:t>
            </a:r>
          </a:p>
        </p:txBody>
      </p:sp>
      <p:sp>
        <p:nvSpPr>
          <p:cNvPr id="4" name="Text: Two defences, tested independently"/>
          <p:cNvSpPr txBox="1"/>
          <p:nvPr/>
        </p:nvSpPr>
        <p:spPr>
          <a:xfrm>
            <a:off x="502920" y="667512"/>
            <a:ext cx="11109960" cy="557784"/>
          </a:xfrm>
          <a:prstGeom prst="rect">
            <a:avLst/>
          </a:prstGeom>
          <a:noFill/>
        </p:spPr>
        <p:txBody>
          <a:bodyPr wrap="square" lIns="0" rIns="0" tIns="0" bIns="0">
            <a:spAutoFit/>
          </a:bodyPr>
          <a:lstStyle/>
          <a:p>
            <a:pPr>
              <a:lnSpc>
                <a:spcPct val="105000"/>
              </a:lnSpc>
              <a:spcAft>
                <a:spcPts val="600"/>
              </a:spcAft>
              <a:defRPr sz="3300" b="1">
                <a:solidFill>
                  <a:srgbClr val="142A43"/>
                </a:solidFill>
                <a:latin typeface="Arial"/>
              </a:defRPr>
            </a:pPr>
            <a:r>
              <a:t>Two defences, tested independently</a:t>
            </a:r>
          </a:p>
        </p:txBody>
      </p:sp>
      <p:sp>
        <p:nvSpPr>
          <p:cNvPr id="5" name="Text: The long trials are recorded findings; the li"/>
          <p:cNvSpPr txBox="1"/>
          <p:nvPr/>
        </p:nvSpPr>
        <p:spPr>
          <a:xfrm>
            <a:off x="521207" y="1335024"/>
            <a:ext cx="10972800" cy="493776"/>
          </a:xfrm>
          <a:prstGeom prst="rect">
            <a:avLst/>
          </a:prstGeom>
          <a:noFill/>
        </p:spPr>
        <p:txBody>
          <a:bodyPr wrap="square" lIns="0" rIns="0" tIns="0" bIns="0">
            <a:spAutoFit/>
          </a:bodyPr>
          <a:lstStyle/>
          <a:p>
            <a:pPr>
              <a:lnSpc>
                <a:spcPct val="105000"/>
              </a:lnSpc>
              <a:spcAft>
                <a:spcPts val="200"/>
              </a:spcAft>
              <a:defRPr sz="1700" b="0">
                <a:solidFill>
                  <a:srgbClr val="526175"/>
                </a:solidFill>
                <a:latin typeface="Arial"/>
              </a:defRPr>
            </a:pPr>
            <a:r>
              <a:t>The long trials are recorded findings; the live check is a short control.</a:t>
            </a:r>
          </a:p>
        </p:txBody>
      </p:sp>
      <p:sp>
        <p:nvSpPr>
          <p:cNvPr id="6" name="Text: SEED Race-Condition Lab • Wenliang Du / SEED "/>
          <p:cNvSpPr txBox="1"/>
          <p:nvPr/>
        </p:nvSpPr>
        <p:spPr>
          <a:xfrm>
            <a:off x="512064" y="6464808"/>
            <a:ext cx="10515600" cy="164592"/>
          </a:xfrm>
          <a:prstGeom prst="rect">
            <a:avLst/>
          </a:prstGeom>
          <a:noFill/>
        </p:spPr>
        <p:txBody>
          <a:bodyPr wrap="square" lIns="0" rIns="0" tIns="0" bIns="0">
            <a:spAutoFit/>
          </a:bodyPr>
          <a:lstStyle/>
          <a:p>
            <a:pPr>
              <a:lnSpc>
                <a:spcPct val="105000"/>
              </a:lnSpc>
              <a:spcAft>
                <a:spcPts val="200"/>
              </a:spcAft>
              <a:defRPr sz="900" b="0">
                <a:solidFill>
                  <a:srgbClr val="526175"/>
                </a:solidFill>
                <a:latin typeface="Arial"/>
              </a:defRPr>
            </a:pPr>
            <a:r>
              <a:t>SEED Race-Condition Lab • Wenliang Du / SEED Labs • Actual VM findings: 3 Oct 2026</a:t>
            </a:r>
          </a:p>
        </p:txBody>
      </p:sp>
      <p:sp>
        <p:nvSpPr>
          <p:cNvPr id="7" name="Text: 7"/>
          <p:cNvSpPr txBox="1"/>
          <p:nvPr/>
        </p:nvSpPr>
        <p:spPr>
          <a:xfrm>
            <a:off x="11155680" y="6428232"/>
            <a:ext cx="502920" cy="237744"/>
          </a:xfrm>
          <a:prstGeom prst="rect">
            <a:avLst/>
          </a:prstGeom>
          <a:noFill/>
        </p:spPr>
        <p:txBody>
          <a:bodyPr wrap="square" lIns="0" rIns="0" tIns="0" bIns="0">
            <a:spAutoFit/>
          </a:bodyPr>
          <a:lstStyle/>
          <a:p>
            <a:pPr>
              <a:lnSpc>
                <a:spcPct val="105000"/>
              </a:lnSpc>
              <a:spcAft>
                <a:spcPts val="200"/>
              </a:spcAft>
              <a:defRPr sz="1200" b="1">
                <a:solidFill>
                  <a:srgbClr val="087E8B"/>
                </a:solidFill>
                <a:latin typeface="Arial"/>
              </a:defRPr>
            </a:pPr>
            <a:r>
              <a:t>7</a:t>
            </a:r>
          </a:p>
        </p:txBody>
      </p:sp>
      <p:sp>
        <p:nvSpPr>
          <p:cNvPr id="8" name="Rounded Rectangle 7"/>
          <p:cNvSpPr/>
          <p:nvPr/>
        </p:nvSpPr>
        <p:spPr>
          <a:xfrm>
            <a:off x="566928" y="1993392"/>
            <a:ext cx="5394960" cy="3392424"/>
          </a:xfrm>
          <a:prstGeom prst="roundRect">
            <a:avLst>
              <a:gd name="adj" fmla="val 8000"/>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Least privilege"/>
          <p:cNvSpPr txBox="1"/>
          <p:nvPr/>
        </p:nvSpPr>
        <p:spPr>
          <a:xfrm>
            <a:off x="804672" y="2258568"/>
            <a:ext cx="4910328" cy="402336"/>
          </a:xfrm>
          <a:prstGeom prst="rect">
            <a:avLst/>
          </a:prstGeom>
          <a:noFill/>
        </p:spPr>
        <p:txBody>
          <a:bodyPr wrap="square" lIns="0" rIns="0" tIns="0" bIns="0">
            <a:spAutoFit/>
          </a:bodyPr>
          <a:lstStyle/>
          <a:p>
            <a:pPr>
              <a:lnSpc>
                <a:spcPct val="105000"/>
              </a:lnSpc>
              <a:spcAft>
                <a:spcPts val="600"/>
              </a:spcAft>
              <a:defRPr sz="2700" b="1">
                <a:solidFill>
                  <a:srgbClr val="087E8B"/>
                </a:solidFill>
                <a:latin typeface="Arial"/>
              </a:defRPr>
            </a:pPr>
            <a:r>
              <a:t>Least privilege</a:t>
            </a:r>
          </a:p>
        </p:txBody>
      </p:sp>
      <p:sp>
        <p:nvSpPr>
          <p:cNvPr id="10" name="Text: vulp_least • controls 0/0"/>
          <p:cNvSpPr txBox="1"/>
          <p:nvPr/>
        </p:nvSpPr>
        <p:spPr>
          <a:xfrm>
            <a:off x="804672" y="2798064"/>
            <a:ext cx="4901184" cy="347472"/>
          </a:xfrm>
          <a:prstGeom prst="rect">
            <a:avLst/>
          </a:prstGeom>
          <a:noFill/>
        </p:spPr>
        <p:txBody>
          <a:bodyPr wrap="square" lIns="0" rIns="0" tIns="0" bIns="0">
            <a:spAutoFit/>
          </a:bodyPr>
          <a:lstStyle/>
          <a:p>
            <a:pPr>
              <a:lnSpc>
                <a:spcPct val="105000"/>
              </a:lnSpc>
              <a:spcAft>
                <a:spcPts val="600"/>
              </a:spcAft>
              <a:defRPr sz="1900" b="0">
                <a:solidFill>
                  <a:srgbClr val="526175"/>
                </a:solidFill>
                <a:latin typeface="Arial"/>
              </a:defRPr>
            </a:pPr>
            <a:r>
              <a:t>vulp_least • controls 0/0</a:t>
            </a:r>
          </a:p>
        </p:txBody>
      </p:sp>
      <p:sp>
        <p:nvSpPr>
          <p:cNvPr id="11" name="Text: 9,455 attempts / 300 s"/>
          <p:cNvSpPr txBox="1"/>
          <p:nvPr/>
        </p:nvSpPr>
        <p:spPr>
          <a:xfrm>
            <a:off x="804672" y="3337560"/>
            <a:ext cx="4910328" cy="402336"/>
          </a:xfrm>
          <a:prstGeom prst="rect">
            <a:avLst/>
          </a:prstGeom>
          <a:noFill/>
        </p:spPr>
        <p:txBody>
          <a:bodyPr wrap="square" lIns="0" rIns="0" tIns="0" bIns="0">
            <a:spAutoFit/>
          </a:bodyPr>
          <a:lstStyle/>
          <a:p>
            <a:pPr>
              <a:lnSpc>
                <a:spcPct val="105000"/>
              </a:lnSpc>
              <a:spcAft>
                <a:spcPts val="600"/>
              </a:spcAft>
              <a:defRPr sz="2600" b="1">
                <a:solidFill>
                  <a:srgbClr val="142A43"/>
                </a:solidFill>
                <a:latin typeface="Arial"/>
              </a:defRPr>
            </a:pPr>
            <a:r>
              <a:t>9,455 attempts / 300 s</a:t>
            </a:r>
          </a:p>
        </p:txBody>
      </p:sp>
      <p:sp>
        <p:nvSpPr>
          <p:cNvPr id="12" name="Text: Target hash unchanged Protected operation den"/>
          <p:cNvSpPr txBox="1"/>
          <p:nvPr/>
        </p:nvSpPr>
        <p:spPr>
          <a:xfrm>
            <a:off x="804672" y="3977639"/>
            <a:ext cx="4800600" cy="1197864"/>
          </a:xfrm>
          <a:prstGeom prst="rect">
            <a:avLst/>
          </a:prstGeom>
          <a:noFill/>
        </p:spPr>
        <p:txBody>
          <a:bodyPr wrap="square" lIns="0" rIns="0" tIns="0" bIns="0">
            <a:spAutoFit/>
          </a:bodyPr>
          <a:lstStyle/>
          <a:p>
            <a:pPr>
              <a:lnSpc>
                <a:spcPct val="105000"/>
              </a:lnSpc>
              <a:spcAft>
                <a:spcPts val="600"/>
              </a:spcAft>
              <a:defRPr sz="2100" b="0">
                <a:solidFill>
                  <a:srgbClr val="152436"/>
                </a:solidFill>
                <a:latin typeface="Arial"/>
              </a:defRPr>
            </a:pPr>
            <a:r>
              <a:t>Target hash unchanged</a:t>
            </a:r>
          </a:p>
          <a:p>
            <a:pPr>
              <a:lnSpc>
                <a:spcPct val="105000"/>
              </a:lnSpc>
              <a:spcAft>
                <a:spcPts val="600"/>
              </a:spcAft>
              <a:defRPr sz="2100" b="0">
                <a:solidFill>
                  <a:srgbClr val="152436"/>
                </a:solidFill>
                <a:latin typeface="Arial"/>
              </a:defRPr>
            </a:pPr>
            <a:r>
              <a:t>Protected operation denied</a:t>
            </a:r>
          </a:p>
          <a:p>
            <a:pPr>
              <a:lnSpc>
                <a:spcPct val="105000"/>
              </a:lnSpc>
              <a:spcAft>
                <a:spcPts val="600"/>
              </a:spcAft>
              <a:defRPr sz="2100" b="0">
                <a:solidFill>
                  <a:srgbClr val="152436"/>
                </a:solidFill>
                <a:latin typeface="Arial"/>
              </a:defRPr>
            </a:pPr>
            <a:r>
              <a:t>Ordinary-file write succeeded</a:t>
            </a:r>
          </a:p>
        </p:txBody>
      </p:sp>
      <p:sp>
        <p:nvSpPr>
          <p:cNvPr id="13" name="Rounded Rectangle 12"/>
          <p:cNvSpPr/>
          <p:nvPr/>
        </p:nvSpPr>
        <p:spPr>
          <a:xfrm>
            <a:off x="6254496" y="1993392"/>
            <a:ext cx="5394960" cy="3392424"/>
          </a:xfrm>
          <a:prstGeom prst="roundRect">
            <a:avLst>
              <a:gd name="adj" fmla="val 8000"/>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 Symlink protection"/>
          <p:cNvSpPr txBox="1"/>
          <p:nvPr/>
        </p:nvSpPr>
        <p:spPr>
          <a:xfrm>
            <a:off x="6492240" y="2258568"/>
            <a:ext cx="4910328" cy="402336"/>
          </a:xfrm>
          <a:prstGeom prst="rect">
            <a:avLst/>
          </a:prstGeom>
          <a:noFill/>
        </p:spPr>
        <p:txBody>
          <a:bodyPr wrap="square" lIns="0" rIns="0" tIns="0" bIns="0">
            <a:spAutoFit/>
          </a:bodyPr>
          <a:lstStyle/>
          <a:p>
            <a:pPr>
              <a:lnSpc>
                <a:spcPct val="105000"/>
              </a:lnSpc>
              <a:spcAft>
                <a:spcPts val="600"/>
              </a:spcAft>
              <a:defRPr sz="2700" b="1">
                <a:solidFill>
                  <a:srgbClr val="087E8B"/>
                </a:solidFill>
                <a:latin typeface="Arial"/>
              </a:defRPr>
            </a:pPr>
            <a:r>
              <a:t>Symlink protection</a:t>
            </a:r>
          </a:p>
        </p:txBody>
      </p:sp>
      <p:sp>
        <p:nvSpPr>
          <p:cNvPr id="15" name="Text: original vulp • controls 1/0"/>
          <p:cNvSpPr txBox="1"/>
          <p:nvPr/>
        </p:nvSpPr>
        <p:spPr>
          <a:xfrm>
            <a:off x="6492240" y="2798064"/>
            <a:ext cx="4901184" cy="347472"/>
          </a:xfrm>
          <a:prstGeom prst="rect">
            <a:avLst/>
          </a:prstGeom>
          <a:noFill/>
        </p:spPr>
        <p:txBody>
          <a:bodyPr wrap="square" lIns="0" rIns="0" tIns="0" bIns="0">
            <a:spAutoFit/>
          </a:bodyPr>
          <a:lstStyle/>
          <a:p>
            <a:pPr>
              <a:lnSpc>
                <a:spcPct val="105000"/>
              </a:lnSpc>
              <a:spcAft>
                <a:spcPts val="600"/>
              </a:spcAft>
              <a:defRPr sz="1900" b="0">
                <a:solidFill>
                  <a:srgbClr val="526175"/>
                </a:solidFill>
                <a:latin typeface="Arial"/>
              </a:defRPr>
            </a:pPr>
            <a:r>
              <a:t>original vulp • controls 1/0</a:t>
            </a:r>
          </a:p>
        </p:txBody>
      </p:sp>
      <p:sp>
        <p:nvSpPr>
          <p:cNvPr id="16" name="Text: 9,177 attempts / 300 s"/>
          <p:cNvSpPr txBox="1"/>
          <p:nvPr/>
        </p:nvSpPr>
        <p:spPr>
          <a:xfrm>
            <a:off x="6492240" y="3337560"/>
            <a:ext cx="4910328" cy="402336"/>
          </a:xfrm>
          <a:prstGeom prst="rect">
            <a:avLst/>
          </a:prstGeom>
          <a:noFill/>
        </p:spPr>
        <p:txBody>
          <a:bodyPr wrap="square" lIns="0" rIns="0" tIns="0" bIns="0">
            <a:spAutoFit/>
          </a:bodyPr>
          <a:lstStyle/>
          <a:p>
            <a:pPr>
              <a:lnSpc>
                <a:spcPct val="105000"/>
              </a:lnSpc>
              <a:spcAft>
                <a:spcPts val="600"/>
              </a:spcAft>
              <a:defRPr sz="2600" b="1">
                <a:solidFill>
                  <a:srgbClr val="142A43"/>
                </a:solidFill>
                <a:latin typeface="Arial"/>
              </a:defRPr>
            </a:pPr>
            <a:r>
              <a:t>9,177 attempts / 300 s</a:t>
            </a:r>
          </a:p>
        </p:txBody>
      </p:sp>
      <p:sp>
        <p:nvSpPr>
          <p:cNvPr id="17" name="Text: Target hash unchanged Stable privileged open "/>
          <p:cNvSpPr txBox="1"/>
          <p:nvPr/>
        </p:nvSpPr>
        <p:spPr>
          <a:xfrm>
            <a:off x="6492240" y="3977639"/>
            <a:ext cx="4800600" cy="1197864"/>
          </a:xfrm>
          <a:prstGeom prst="rect">
            <a:avLst/>
          </a:prstGeom>
          <a:noFill/>
        </p:spPr>
        <p:txBody>
          <a:bodyPr wrap="square" lIns="0" rIns="0" tIns="0" bIns="0">
            <a:spAutoFit/>
          </a:bodyPr>
          <a:lstStyle/>
          <a:p>
            <a:pPr>
              <a:lnSpc>
                <a:spcPct val="105000"/>
              </a:lnSpc>
              <a:spcAft>
                <a:spcPts val="600"/>
              </a:spcAft>
              <a:defRPr sz="2100" b="0">
                <a:solidFill>
                  <a:srgbClr val="152436"/>
                </a:solidFill>
                <a:latin typeface="Arial"/>
              </a:defRPr>
            </a:pPr>
            <a:r>
              <a:t>Target hash unchanged</a:t>
            </a:r>
          </a:p>
          <a:p>
            <a:pPr>
              <a:lnSpc>
                <a:spcPct val="105000"/>
              </a:lnSpc>
              <a:spcAft>
                <a:spcPts val="600"/>
              </a:spcAft>
              <a:defRPr sz="2100" b="0">
                <a:solidFill>
                  <a:srgbClr val="152436"/>
                </a:solidFill>
                <a:latin typeface="Arial"/>
              </a:defRPr>
            </a:pPr>
            <a:r>
              <a:t>Stable privileged open denied</a:t>
            </a:r>
          </a:p>
          <a:p>
            <a:pPr>
              <a:lnSpc>
                <a:spcPct val="105000"/>
              </a:lnSpc>
              <a:spcAft>
                <a:spcPts val="600"/>
              </a:spcAft>
              <a:defRPr sz="2100" b="0">
                <a:solidFill>
                  <a:srgbClr val="152436"/>
                </a:solidFill>
                <a:latin typeface="Arial"/>
              </a:defRPr>
            </a:pPr>
            <a:r>
              <a:t>Ownership/context rule applies</a:t>
            </a:r>
          </a:p>
        </p:txBody>
      </p:sp>
      <p:sp>
        <p:nvSpPr>
          <p:cNvPr id="18" name="Text: Observed: no protected-file change in either "/>
          <p:cNvSpPr txBox="1"/>
          <p:nvPr/>
        </p:nvSpPr>
        <p:spPr>
          <a:xfrm>
            <a:off x="731520" y="5715000"/>
            <a:ext cx="10835640" cy="429768"/>
          </a:xfrm>
          <a:prstGeom prst="rect">
            <a:avLst/>
          </a:prstGeom>
          <a:noFill/>
        </p:spPr>
        <p:txBody>
          <a:bodyPr wrap="square" lIns="0" rIns="0" tIns="0" bIns="0">
            <a:spAutoFit/>
          </a:bodyPr>
          <a:lstStyle/>
          <a:p>
            <a:pPr>
              <a:lnSpc>
                <a:spcPct val="105000"/>
              </a:lnSpc>
              <a:spcAft>
                <a:spcPts val="600"/>
              </a:spcAft>
              <a:defRPr sz="2100" b="1">
                <a:solidFill>
                  <a:srgbClr val="087E8B"/>
                </a:solidFill>
                <a:latin typeface="Arial"/>
              </a:defRPr>
            </a:pPr>
            <a:r>
              <a:t>Observed: no protected-file change in either 300-second trial.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BFD"/>
        </a:solidFill>
        <a:effectLst/>
      </p:bgPr>
    </p:bg>
    <p:spTree>
      <p:nvGrpSpPr>
        <p:cNvPr id="1" name=""/>
        <p:cNvGrpSpPr/>
        <p:nvPr/>
      </p:nvGrpSpPr>
      <p:grpSpPr/>
      <p:sp>
        <p:nvSpPr>
          <p:cNvPr id="2" name="Rectangle 1"/>
          <p:cNvSpPr/>
          <p:nvPr/>
        </p:nvSpPr>
        <p:spPr>
          <a:xfrm>
            <a:off x="0" y="0"/>
            <a:ext cx="12191969" cy="109728"/>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ISSD  /  MEMBER 5  /  TAKEAWAY"/>
          <p:cNvSpPr txBox="1"/>
          <p:nvPr/>
        </p:nvSpPr>
        <p:spPr>
          <a:xfrm>
            <a:off x="502920" y="283464"/>
            <a:ext cx="9144000" cy="201168"/>
          </a:xfrm>
          <a:prstGeom prst="rect">
            <a:avLst/>
          </a:prstGeom>
          <a:noFill/>
        </p:spPr>
        <p:txBody>
          <a:bodyPr wrap="square" lIns="0" rIns="0" tIns="0" bIns="0">
            <a:spAutoFit/>
          </a:bodyPr>
          <a:lstStyle/>
          <a:p>
            <a:pPr>
              <a:lnSpc>
                <a:spcPct val="105000"/>
              </a:lnSpc>
              <a:spcAft>
                <a:spcPts val="200"/>
              </a:spcAft>
              <a:defRPr sz="1000" b="1">
                <a:solidFill>
                  <a:srgbClr val="087E8B"/>
                </a:solidFill>
                <a:latin typeface="Arial"/>
              </a:defRPr>
            </a:pPr>
            <a:r>
              <a:t>ISSD  /  MEMBER 5  /  TAKEAWAY</a:t>
            </a:r>
          </a:p>
        </p:txBody>
      </p:sp>
      <p:sp>
        <p:nvSpPr>
          <p:cNvPr id="4" name="Text: Protect the operation, not just the filename"/>
          <p:cNvSpPr txBox="1"/>
          <p:nvPr/>
        </p:nvSpPr>
        <p:spPr>
          <a:xfrm>
            <a:off x="502920" y="667512"/>
            <a:ext cx="11109960" cy="557784"/>
          </a:xfrm>
          <a:prstGeom prst="rect">
            <a:avLst/>
          </a:prstGeom>
          <a:noFill/>
        </p:spPr>
        <p:txBody>
          <a:bodyPr wrap="square" lIns="0" rIns="0" tIns="0" bIns="0">
            <a:spAutoFit/>
          </a:bodyPr>
          <a:lstStyle/>
          <a:p>
            <a:pPr>
              <a:lnSpc>
                <a:spcPct val="105000"/>
              </a:lnSpc>
              <a:spcAft>
                <a:spcPts val="600"/>
              </a:spcAft>
              <a:defRPr sz="3300" b="1">
                <a:solidFill>
                  <a:srgbClr val="142A43"/>
                </a:solidFill>
                <a:latin typeface="Arial"/>
              </a:defRPr>
            </a:pPr>
            <a:r>
              <a:t>Protect the operation, not just the filename</a:t>
            </a:r>
          </a:p>
        </p:txBody>
      </p:sp>
      <p:sp>
        <p:nvSpPr>
          <p:cNvPr id="5" name="Text: A local file-handling flaw can undermine the "/>
          <p:cNvSpPr txBox="1"/>
          <p:nvPr/>
        </p:nvSpPr>
        <p:spPr>
          <a:xfrm>
            <a:off x="521207" y="1335024"/>
            <a:ext cx="10972800" cy="493776"/>
          </a:xfrm>
          <a:prstGeom prst="rect">
            <a:avLst/>
          </a:prstGeom>
          <a:noFill/>
        </p:spPr>
        <p:txBody>
          <a:bodyPr wrap="square" lIns="0" rIns="0" tIns="0" bIns="0">
            <a:spAutoFit/>
          </a:bodyPr>
          <a:lstStyle/>
          <a:p>
            <a:pPr>
              <a:lnSpc>
                <a:spcPct val="105000"/>
              </a:lnSpc>
              <a:spcAft>
                <a:spcPts val="200"/>
              </a:spcAft>
              <a:defRPr sz="1700" b="0">
                <a:solidFill>
                  <a:srgbClr val="526175"/>
                </a:solidFill>
                <a:latin typeface="Arial"/>
              </a:defRPr>
            </a:pPr>
            <a:r>
              <a:t>A local file-handling flaw can undermine the account database used by authentication.</a:t>
            </a:r>
          </a:p>
        </p:txBody>
      </p:sp>
      <p:sp>
        <p:nvSpPr>
          <p:cNvPr id="6" name="Text: SEED Race-Condition Lab • Wenliang Du / SEED "/>
          <p:cNvSpPr txBox="1"/>
          <p:nvPr/>
        </p:nvSpPr>
        <p:spPr>
          <a:xfrm>
            <a:off x="512064" y="6464808"/>
            <a:ext cx="10515600" cy="164592"/>
          </a:xfrm>
          <a:prstGeom prst="rect">
            <a:avLst/>
          </a:prstGeom>
          <a:noFill/>
        </p:spPr>
        <p:txBody>
          <a:bodyPr wrap="square" lIns="0" rIns="0" tIns="0" bIns="0">
            <a:spAutoFit/>
          </a:bodyPr>
          <a:lstStyle/>
          <a:p>
            <a:pPr>
              <a:lnSpc>
                <a:spcPct val="105000"/>
              </a:lnSpc>
              <a:spcAft>
                <a:spcPts val="200"/>
              </a:spcAft>
              <a:defRPr sz="900" b="0">
                <a:solidFill>
                  <a:srgbClr val="526175"/>
                </a:solidFill>
                <a:latin typeface="Arial"/>
              </a:defRPr>
            </a:pPr>
            <a:r>
              <a:t>SEED Race-Condition Lab • Wenliang Du / SEED Labs • Actual VM findings: 3 Oct 2026</a:t>
            </a:r>
          </a:p>
        </p:txBody>
      </p:sp>
      <p:sp>
        <p:nvSpPr>
          <p:cNvPr id="7" name="Text: 8"/>
          <p:cNvSpPr txBox="1"/>
          <p:nvPr/>
        </p:nvSpPr>
        <p:spPr>
          <a:xfrm>
            <a:off x="11155680" y="6428232"/>
            <a:ext cx="502920" cy="237744"/>
          </a:xfrm>
          <a:prstGeom prst="rect">
            <a:avLst/>
          </a:prstGeom>
          <a:noFill/>
        </p:spPr>
        <p:txBody>
          <a:bodyPr wrap="square" lIns="0" rIns="0" tIns="0" bIns="0">
            <a:spAutoFit/>
          </a:bodyPr>
          <a:lstStyle/>
          <a:p>
            <a:pPr>
              <a:lnSpc>
                <a:spcPct val="105000"/>
              </a:lnSpc>
              <a:spcAft>
                <a:spcPts val="200"/>
              </a:spcAft>
              <a:defRPr sz="1200" b="1">
                <a:solidFill>
                  <a:srgbClr val="087E8B"/>
                </a:solidFill>
                <a:latin typeface="Arial"/>
              </a:defRPr>
            </a:pPr>
            <a:r>
              <a:t>8</a:t>
            </a:r>
          </a:p>
        </p:txBody>
      </p:sp>
      <p:sp>
        <p:nvSpPr>
          <p:cNvPr id="8" name="Rounded Rectangle 7"/>
          <p:cNvSpPr/>
          <p:nvPr/>
        </p:nvSpPr>
        <p:spPr>
          <a:xfrm>
            <a:off x="585216" y="2093976"/>
            <a:ext cx="3575304" cy="2258568"/>
          </a:xfrm>
          <a:prstGeom prst="roundRect">
            <a:avLst>
              <a:gd name="adj" fmla="val 8000"/>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Use the right privilege"/>
          <p:cNvSpPr txBox="1"/>
          <p:nvPr/>
        </p:nvSpPr>
        <p:spPr>
          <a:xfrm>
            <a:off x="795528" y="2350008"/>
            <a:ext cx="3118104" cy="795528"/>
          </a:xfrm>
          <a:prstGeom prst="rect">
            <a:avLst/>
          </a:prstGeom>
          <a:noFill/>
        </p:spPr>
        <p:txBody>
          <a:bodyPr wrap="square" lIns="0" rIns="0" tIns="0" bIns="0">
            <a:spAutoFit/>
          </a:bodyPr>
          <a:lstStyle/>
          <a:p>
            <a:pPr>
              <a:lnSpc>
                <a:spcPct val="105000"/>
              </a:lnSpc>
              <a:spcAft>
                <a:spcPts val="600"/>
              </a:spcAft>
              <a:defRPr sz="2500" b="1">
                <a:solidFill>
                  <a:srgbClr val="087E8B"/>
                </a:solidFill>
                <a:latin typeface="Arial"/>
              </a:defRPr>
            </a:pPr>
            <a:r>
              <a:t>Use the right privilege</a:t>
            </a:r>
          </a:p>
        </p:txBody>
      </p:sp>
      <p:sp>
        <p:nvSpPr>
          <p:cNvPr id="10" name="Text: Drop privilege before user-directed file oper"/>
          <p:cNvSpPr txBox="1"/>
          <p:nvPr/>
        </p:nvSpPr>
        <p:spPr>
          <a:xfrm>
            <a:off x="795528" y="3310128"/>
            <a:ext cx="3108960" cy="987552"/>
          </a:xfrm>
          <a:prstGeom prst="rect">
            <a:avLst/>
          </a:prstGeom>
          <a:noFill/>
        </p:spPr>
        <p:txBody>
          <a:bodyPr wrap="square" lIns="0" rIns="0" tIns="0" bIns="0">
            <a:spAutoFit/>
          </a:bodyPr>
          <a:lstStyle/>
          <a:p>
            <a:pPr>
              <a:lnSpc>
                <a:spcPct val="105000"/>
              </a:lnSpc>
              <a:spcAft>
                <a:spcPts val="600"/>
              </a:spcAft>
              <a:defRPr sz="2000" b="0">
                <a:solidFill>
                  <a:srgbClr val="152436"/>
                </a:solidFill>
                <a:latin typeface="Arial"/>
              </a:defRPr>
            </a:pPr>
            <a:r>
              <a:t>Drop privilege before user-directed file operations.</a:t>
            </a:r>
          </a:p>
        </p:txBody>
      </p:sp>
      <p:sp>
        <p:nvSpPr>
          <p:cNvPr id="11" name="Rounded Rectangle 10"/>
          <p:cNvSpPr/>
          <p:nvPr/>
        </p:nvSpPr>
        <p:spPr>
          <a:xfrm>
            <a:off x="4389120" y="2093976"/>
            <a:ext cx="3575304" cy="2258568"/>
          </a:xfrm>
          <a:prstGeom prst="roundRect">
            <a:avLst>
              <a:gd name="adj" fmla="val 8000"/>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Use the opened object"/>
          <p:cNvSpPr txBox="1"/>
          <p:nvPr/>
        </p:nvSpPr>
        <p:spPr>
          <a:xfrm>
            <a:off x="4599432" y="2350008"/>
            <a:ext cx="3118104" cy="795528"/>
          </a:xfrm>
          <a:prstGeom prst="rect">
            <a:avLst/>
          </a:prstGeom>
          <a:noFill/>
        </p:spPr>
        <p:txBody>
          <a:bodyPr wrap="square" lIns="0" rIns="0" tIns="0" bIns="0">
            <a:spAutoFit/>
          </a:bodyPr>
          <a:lstStyle/>
          <a:p>
            <a:pPr>
              <a:lnSpc>
                <a:spcPct val="105000"/>
              </a:lnSpc>
              <a:spcAft>
                <a:spcPts val="600"/>
              </a:spcAft>
              <a:defRPr sz="2500" b="1">
                <a:solidFill>
                  <a:srgbClr val="087E8B"/>
                </a:solidFill>
                <a:latin typeface="Arial"/>
              </a:defRPr>
            </a:pPr>
            <a:r>
              <a:t>Use the opened object</a:t>
            </a:r>
          </a:p>
        </p:txBody>
      </p:sp>
      <p:sp>
        <p:nvSpPr>
          <p:cNvPr id="13" name="Text: Open once; retain and validate the file descr"/>
          <p:cNvSpPr txBox="1"/>
          <p:nvPr/>
        </p:nvSpPr>
        <p:spPr>
          <a:xfrm>
            <a:off x="4599432" y="3310128"/>
            <a:ext cx="3108960" cy="987552"/>
          </a:xfrm>
          <a:prstGeom prst="rect">
            <a:avLst/>
          </a:prstGeom>
          <a:noFill/>
        </p:spPr>
        <p:txBody>
          <a:bodyPr wrap="square" lIns="0" rIns="0" tIns="0" bIns="0">
            <a:spAutoFit/>
          </a:bodyPr>
          <a:lstStyle/>
          <a:p>
            <a:pPr>
              <a:lnSpc>
                <a:spcPct val="105000"/>
              </a:lnSpc>
              <a:spcAft>
                <a:spcPts val="600"/>
              </a:spcAft>
              <a:defRPr sz="2000" b="0">
                <a:solidFill>
                  <a:srgbClr val="152436"/>
                </a:solidFill>
                <a:latin typeface="Arial"/>
              </a:defRPr>
            </a:pPr>
            <a:r>
              <a:t>Open once; retain and validate the file descriptor.</a:t>
            </a:r>
          </a:p>
        </p:txBody>
      </p:sp>
      <p:sp>
        <p:nvSpPr>
          <p:cNvPr id="14" name="Rounded Rectangle 13"/>
          <p:cNvSpPr/>
          <p:nvPr/>
        </p:nvSpPr>
        <p:spPr>
          <a:xfrm>
            <a:off x="8193024" y="2093976"/>
            <a:ext cx="3575304" cy="2258568"/>
          </a:xfrm>
          <a:prstGeom prst="roundRect">
            <a:avLst>
              <a:gd name="adj" fmla="val 8000"/>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 Create files safely"/>
          <p:cNvSpPr txBox="1"/>
          <p:nvPr/>
        </p:nvSpPr>
        <p:spPr>
          <a:xfrm>
            <a:off x="8403336" y="2350008"/>
            <a:ext cx="3118104" cy="795528"/>
          </a:xfrm>
          <a:prstGeom prst="rect">
            <a:avLst/>
          </a:prstGeom>
          <a:noFill/>
        </p:spPr>
        <p:txBody>
          <a:bodyPr wrap="square" lIns="0" rIns="0" tIns="0" bIns="0">
            <a:spAutoFit/>
          </a:bodyPr>
          <a:lstStyle/>
          <a:p>
            <a:pPr>
              <a:lnSpc>
                <a:spcPct val="105000"/>
              </a:lnSpc>
              <a:spcAft>
                <a:spcPts val="600"/>
              </a:spcAft>
              <a:defRPr sz="2500" b="1">
                <a:solidFill>
                  <a:srgbClr val="087E8B"/>
                </a:solidFill>
                <a:latin typeface="Arial"/>
              </a:defRPr>
            </a:pPr>
            <a:r>
              <a:t>Create files safely</a:t>
            </a:r>
          </a:p>
        </p:txBody>
      </p:sp>
      <p:sp>
        <p:nvSpPr>
          <p:cNvPr id="16" name="Text: Use mkstemp, O_CREAT|O_EXCL and trusted direc"/>
          <p:cNvSpPr txBox="1"/>
          <p:nvPr/>
        </p:nvSpPr>
        <p:spPr>
          <a:xfrm>
            <a:off x="8403336" y="3310128"/>
            <a:ext cx="3108960" cy="987552"/>
          </a:xfrm>
          <a:prstGeom prst="rect">
            <a:avLst/>
          </a:prstGeom>
          <a:noFill/>
        </p:spPr>
        <p:txBody>
          <a:bodyPr wrap="square" lIns="0" rIns="0" tIns="0" bIns="0">
            <a:spAutoFit/>
          </a:bodyPr>
          <a:lstStyle/>
          <a:p>
            <a:pPr>
              <a:lnSpc>
                <a:spcPct val="105000"/>
              </a:lnSpc>
              <a:spcAft>
                <a:spcPts val="600"/>
              </a:spcAft>
              <a:defRPr sz="2000" b="0">
                <a:solidFill>
                  <a:srgbClr val="152436"/>
                </a:solidFill>
                <a:latin typeface="Arial"/>
              </a:defRPr>
            </a:pPr>
            <a:r>
              <a:t>Use mkstemp, O_CREAT|O_EXCL and trusted directories.</a:t>
            </a:r>
          </a:p>
        </p:txBody>
      </p:sp>
      <p:sp>
        <p:nvSpPr>
          <p:cNvPr id="17" name="Text: Do not check an attacker-changeable name and "/>
          <p:cNvSpPr txBox="1"/>
          <p:nvPr/>
        </p:nvSpPr>
        <p:spPr>
          <a:xfrm>
            <a:off x="722376" y="4718304"/>
            <a:ext cx="10789920" cy="658368"/>
          </a:xfrm>
          <a:prstGeom prst="rect">
            <a:avLst/>
          </a:prstGeom>
          <a:noFill/>
        </p:spPr>
        <p:txBody>
          <a:bodyPr wrap="square" lIns="0" rIns="0" tIns="0" bIns="0">
            <a:spAutoFit/>
          </a:bodyPr>
          <a:lstStyle/>
          <a:p>
            <a:pPr>
              <a:lnSpc>
                <a:spcPct val="105000"/>
              </a:lnSpc>
              <a:spcAft>
                <a:spcPts val="600"/>
              </a:spcAft>
              <a:defRPr sz="2800" b="1">
                <a:solidFill>
                  <a:srgbClr val="142A43"/>
                </a:solidFill>
                <a:latin typeface="Arial"/>
              </a:defRPr>
            </a:pPr>
            <a:r>
              <a:t>Do not check an attacker-changeable name and later use it with more privilege.</a:t>
            </a:r>
          </a:p>
        </p:txBody>
      </p:sp>
      <p:sp>
        <p:nvSpPr>
          <p:cNvPr id="18" name="Text: After the demo: exit root, stop processes, re"/>
          <p:cNvSpPr txBox="1"/>
          <p:nvPr/>
        </p:nvSpPr>
        <p:spPr>
          <a:xfrm>
            <a:off x="740664" y="5660136"/>
            <a:ext cx="10698480" cy="475488"/>
          </a:xfrm>
          <a:prstGeom prst="rect">
            <a:avLst/>
          </a:prstGeom>
          <a:noFill/>
        </p:spPr>
        <p:txBody>
          <a:bodyPr wrap="square" lIns="0" rIns="0" tIns="0" bIns="0">
            <a:spAutoFit/>
          </a:bodyPr>
          <a:lstStyle/>
          <a:p>
            <a:pPr>
              <a:lnSpc>
                <a:spcPct val="105000"/>
              </a:lnSpc>
              <a:spcAft>
                <a:spcPts val="600"/>
              </a:spcAft>
              <a:defRPr sz="1800" b="0">
                <a:solidFill>
                  <a:srgbClr val="526175"/>
                </a:solidFill>
                <a:latin typeface="Arial"/>
              </a:defRPr>
            </a:pPr>
            <a:r>
              <a:t>After the demo: exit root, stop processes, restore the baseline and remove Set-UID (Part 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BFD"/>
        </a:solidFill>
        <a:effectLst/>
      </p:bgPr>
    </p:bg>
    <p:spTree>
      <p:nvGrpSpPr>
        <p:cNvPr id="1" name=""/>
        <p:cNvGrpSpPr/>
        <p:nvPr/>
      </p:nvGrpSpPr>
      <p:grpSpPr/>
      <p:sp>
        <p:nvSpPr>
          <p:cNvPr id="2" name="Rectangle 1"/>
          <p:cNvSpPr/>
          <p:nvPr/>
        </p:nvSpPr>
        <p:spPr>
          <a:xfrm>
            <a:off x="0" y="0"/>
            <a:ext cx="12191969" cy="109728"/>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ISSD  /  MEMBER 5  /  BACKUP — EVIDENCE"/>
          <p:cNvSpPr txBox="1"/>
          <p:nvPr/>
        </p:nvSpPr>
        <p:spPr>
          <a:xfrm>
            <a:off x="502920" y="283464"/>
            <a:ext cx="9144000" cy="201168"/>
          </a:xfrm>
          <a:prstGeom prst="rect">
            <a:avLst/>
          </a:prstGeom>
          <a:noFill/>
        </p:spPr>
        <p:txBody>
          <a:bodyPr wrap="square" lIns="0" rIns="0" tIns="0" bIns="0">
            <a:spAutoFit/>
          </a:bodyPr>
          <a:lstStyle/>
          <a:p>
            <a:pPr>
              <a:lnSpc>
                <a:spcPct val="105000"/>
              </a:lnSpc>
              <a:spcAft>
                <a:spcPts val="200"/>
              </a:spcAft>
              <a:defRPr sz="1000" b="1">
                <a:solidFill>
                  <a:srgbClr val="087E8B"/>
                </a:solidFill>
                <a:latin typeface="Arial"/>
              </a:defRPr>
            </a:pPr>
            <a:r>
              <a:t>ISSD  /  MEMBER 5  /  BACKUP — EVIDENCE</a:t>
            </a:r>
          </a:p>
        </p:txBody>
      </p:sp>
      <p:sp>
        <p:nvSpPr>
          <p:cNvPr id="4" name="Text: Recorded verification: account and UID"/>
          <p:cNvSpPr txBox="1"/>
          <p:nvPr/>
        </p:nvSpPr>
        <p:spPr>
          <a:xfrm>
            <a:off x="502920" y="667512"/>
            <a:ext cx="11109960" cy="557784"/>
          </a:xfrm>
          <a:prstGeom prst="rect">
            <a:avLst/>
          </a:prstGeom>
          <a:noFill/>
        </p:spPr>
        <p:txBody>
          <a:bodyPr wrap="square" lIns="0" rIns="0" tIns="0" bIns="0">
            <a:spAutoFit/>
          </a:bodyPr>
          <a:lstStyle/>
          <a:p>
            <a:pPr>
              <a:lnSpc>
                <a:spcPct val="105000"/>
              </a:lnSpc>
              <a:spcAft>
                <a:spcPts val="600"/>
              </a:spcAft>
              <a:defRPr sz="3300" b="1">
                <a:solidFill>
                  <a:srgbClr val="142A43"/>
                </a:solidFill>
                <a:latin typeface="Arial"/>
              </a:defRPr>
            </a:pPr>
            <a:r>
              <a:t>Recorded verification: account and UID</a:t>
            </a:r>
          </a:p>
        </p:txBody>
      </p:sp>
      <p:sp>
        <p:nvSpPr>
          <p:cNvPr id="5" name="Text: Actual image excerpts; whole originals are re"/>
          <p:cNvSpPr txBox="1"/>
          <p:nvPr/>
        </p:nvSpPr>
        <p:spPr>
          <a:xfrm>
            <a:off x="521207" y="1335024"/>
            <a:ext cx="10972800" cy="493776"/>
          </a:xfrm>
          <a:prstGeom prst="rect">
            <a:avLst/>
          </a:prstGeom>
          <a:noFill/>
        </p:spPr>
        <p:txBody>
          <a:bodyPr wrap="square" lIns="0" rIns="0" tIns="0" bIns="0">
            <a:spAutoFit/>
          </a:bodyPr>
          <a:lstStyle/>
          <a:p>
            <a:pPr>
              <a:lnSpc>
                <a:spcPct val="105000"/>
              </a:lnSpc>
              <a:spcAft>
                <a:spcPts val="200"/>
              </a:spcAft>
              <a:defRPr sz="1700" b="0">
                <a:solidFill>
                  <a:srgbClr val="526175"/>
                </a:solidFill>
                <a:latin typeface="Arial"/>
              </a:defRPr>
            </a:pPr>
            <a:r>
              <a:t>Actual image excerpts; whole originals are retained as S09.</a:t>
            </a:r>
          </a:p>
        </p:txBody>
      </p:sp>
      <p:sp>
        <p:nvSpPr>
          <p:cNvPr id="6" name="Text: SEED Race-Condition Lab • Wenliang Du / SEED "/>
          <p:cNvSpPr txBox="1"/>
          <p:nvPr/>
        </p:nvSpPr>
        <p:spPr>
          <a:xfrm>
            <a:off x="512064" y="6464808"/>
            <a:ext cx="10515600" cy="164592"/>
          </a:xfrm>
          <a:prstGeom prst="rect">
            <a:avLst/>
          </a:prstGeom>
          <a:noFill/>
        </p:spPr>
        <p:txBody>
          <a:bodyPr wrap="square" lIns="0" rIns="0" tIns="0" bIns="0">
            <a:spAutoFit/>
          </a:bodyPr>
          <a:lstStyle/>
          <a:p>
            <a:pPr>
              <a:lnSpc>
                <a:spcPct val="105000"/>
              </a:lnSpc>
              <a:spcAft>
                <a:spcPts val="200"/>
              </a:spcAft>
              <a:defRPr sz="900" b="0">
                <a:solidFill>
                  <a:srgbClr val="526175"/>
                </a:solidFill>
                <a:latin typeface="Arial"/>
              </a:defRPr>
            </a:pPr>
            <a:r>
              <a:t>SEED Race-Condition Lab • Wenliang Du / SEED Labs • Actual VM findings: 3 Oct 2026</a:t>
            </a:r>
          </a:p>
        </p:txBody>
      </p:sp>
      <p:sp>
        <p:nvSpPr>
          <p:cNvPr id="7" name="Text: 9"/>
          <p:cNvSpPr txBox="1"/>
          <p:nvPr/>
        </p:nvSpPr>
        <p:spPr>
          <a:xfrm>
            <a:off x="11155680" y="6428232"/>
            <a:ext cx="502920" cy="237744"/>
          </a:xfrm>
          <a:prstGeom prst="rect">
            <a:avLst/>
          </a:prstGeom>
          <a:noFill/>
        </p:spPr>
        <p:txBody>
          <a:bodyPr wrap="square" lIns="0" rIns="0" tIns="0" bIns="0">
            <a:spAutoFit/>
          </a:bodyPr>
          <a:lstStyle/>
          <a:p>
            <a:pPr>
              <a:lnSpc>
                <a:spcPct val="105000"/>
              </a:lnSpc>
              <a:spcAft>
                <a:spcPts val="200"/>
              </a:spcAft>
              <a:defRPr sz="1200" b="1">
                <a:solidFill>
                  <a:srgbClr val="087E8B"/>
                </a:solidFill>
                <a:latin typeface="Arial"/>
              </a:defRPr>
            </a:pPr>
            <a:r>
              <a:t>9</a:t>
            </a:r>
          </a:p>
        </p:txBody>
      </p:sp>
      <p:sp>
        <p:nvSpPr>
          <p:cNvPr id="8" name="Text: Complete-record check"/>
          <p:cNvSpPr txBox="1"/>
          <p:nvPr/>
        </p:nvSpPr>
        <p:spPr>
          <a:xfrm>
            <a:off x="685800" y="1847088"/>
            <a:ext cx="10881360" cy="320040"/>
          </a:xfrm>
          <a:prstGeom prst="rect">
            <a:avLst/>
          </a:prstGeom>
          <a:noFill/>
        </p:spPr>
        <p:txBody>
          <a:bodyPr wrap="square" lIns="0" rIns="0" tIns="0" bIns="0">
            <a:spAutoFit/>
          </a:bodyPr>
          <a:lstStyle/>
          <a:p>
            <a:pPr>
              <a:lnSpc>
                <a:spcPct val="105000"/>
              </a:lnSpc>
              <a:spcAft>
                <a:spcPts val="600"/>
              </a:spcAft>
              <a:defRPr sz="2100" b="1">
                <a:solidFill>
                  <a:srgbClr val="087E8B"/>
                </a:solidFill>
                <a:latin typeface="Arial"/>
              </a:defRPr>
            </a:pPr>
            <a:r>
              <a:t>Complete-record check</a:t>
            </a:r>
          </a:p>
        </p:txBody>
      </p:sp>
      <p:pic>
        <p:nvPicPr>
          <p:cNvPr id="9" name="Picture 8" descr="slide-record.png"/>
          <p:cNvPicPr>
            <a:picLocks noChangeAspect="1"/>
          </p:cNvPicPr>
          <p:nvPr/>
        </p:nvPicPr>
        <p:blipFill>
          <a:blip r:embed="rId2"/>
          <a:stretch>
            <a:fillRect/>
          </a:stretch>
        </p:blipFill>
        <p:spPr>
          <a:xfrm>
            <a:off x="694944" y="2267712"/>
            <a:ext cx="10735056" cy="1277982"/>
          </a:xfrm>
          <a:prstGeom prst="rect">
            <a:avLst/>
          </a:prstGeom>
        </p:spPr>
      </p:pic>
      <p:sp>
        <p:nvSpPr>
          <p:cNvPr id="10" name="Text: Actual non-sudo command and UID output (separ"/>
          <p:cNvSpPr txBox="1"/>
          <p:nvPr/>
        </p:nvSpPr>
        <p:spPr>
          <a:xfrm>
            <a:off x="685800" y="4041648"/>
            <a:ext cx="10881360" cy="320040"/>
          </a:xfrm>
          <a:prstGeom prst="rect">
            <a:avLst/>
          </a:prstGeom>
          <a:noFill/>
        </p:spPr>
        <p:txBody>
          <a:bodyPr wrap="square" lIns="0" rIns="0" tIns="0" bIns="0">
            <a:spAutoFit/>
          </a:bodyPr>
          <a:lstStyle/>
          <a:p>
            <a:pPr>
              <a:lnSpc>
                <a:spcPct val="105000"/>
              </a:lnSpc>
              <a:spcAft>
                <a:spcPts val="600"/>
              </a:spcAft>
              <a:defRPr sz="2100" b="1">
                <a:solidFill>
                  <a:srgbClr val="087E8B"/>
                </a:solidFill>
                <a:latin typeface="Arial"/>
              </a:defRPr>
            </a:pPr>
            <a:r>
              <a:t>Actual non-sudo command and UID output (separate excerpts)</a:t>
            </a:r>
          </a:p>
        </p:txBody>
      </p:sp>
      <p:pic>
        <p:nvPicPr>
          <p:cNvPr id="11" name="Picture 10" descr="slide-login.png"/>
          <p:cNvPicPr>
            <a:picLocks noChangeAspect="1"/>
          </p:cNvPicPr>
          <p:nvPr/>
        </p:nvPicPr>
        <p:blipFill>
          <a:blip r:embed="rId3"/>
          <a:stretch>
            <a:fillRect/>
          </a:stretch>
        </p:blipFill>
        <p:spPr>
          <a:xfrm>
            <a:off x="694944" y="4526280"/>
            <a:ext cx="10735056" cy="243978"/>
          </a:xfrm>
          <a:prstGeom prst="rect">
            <a:avLst/>
          </a:prstGeom>
        </p:spPr>
      </p:pic>
      <p:pic>
        <p:nvPicPr>
          <p:cNvPr id="12" name="Picture 11" descr="slide-uid.png"/>
          <p:cNvPicPr>
            <a:picLocks noChangeAspect="1"/>
          </p:cNvPicPr>
          <p:nvPr/>
        </p:nvPicPr>
        <p:blipFill>
          <a:blip r:embed="rId4"/>
          <a:stretch>
            <a:fillRect/>
          </a:stretch>
        </p:blipFill>
        <p:spPr>
          <a:xfrm>
            <a:off x="694944" y="5102352"/>
            <a:ext cx="10735056" cy="708699"/>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BFD"/>
        </a:solidFill>
        <a:effectLst/>
      </p:bgPr>
    </p:bg>
    <p:spTree>
      <p:nvGrpSpPr>
        <p:cNvPr id="1" name=""/>
        <p:cNvGrpSpPr/>
        <p:nvPr/>
      </p:nvGrpSpPr>
      <p:grpSpPr/>
      <p:sp>
        <p:nvSpPr>
          <p:cNvPr id="2" name="Rectangle 1"/>
          <p:cNvSpPr/>
          <p:nvPr/>
        </p:nvSpPr>
        <p:spPr>
          <a:xfrm>
            <a:off x="0" y="0"/>
            <a:ext cx="12191969" cy="109728"/>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ISSD  /  MEMBER 5  /  BACKUP — RESULT DETAILS"/>
          <p:cNvSpPr txBox="1"/>
          <p:nvPr/>
        </p:nvSpPr>
        <p:spPr>
          <a:xfrm>
            <a:off x="502920" y="283464"/>
            <a:ext cx="9144000" cy="201168"/>
          </a:xfrm>
          <a:prstGeom prst="rect">
            <a:avLst/>
          </a:prstGeom>
          <a:noFill/>
        </p:spPr>
        <p:txBody>
          <a:bodyPr wrap="square" lIns="0" rIns="0" tIns="0" bIns="0">
            <a:spAutoFit/>
          </a:bodyPr>
          <a:lstStyle/>
          <a:p>
            <a:pPr>
              <a:lnSpc>
                <a:spcPct val="105000"/>
              </a:lnSpc>
              <a:spcAft>
                <a:spcPts val="200"/>
              </a:spcAft>
              <a:defRPr sz="1000" b="1">
                <a:solidFill>
                  <a:srgbClr val="087E8B"/>
                </a:solidFill>
                <a:latin typeface="Arial"/>
              </a:defRPr>
            </a:pPr>
            <a:r>
              <a:t>ISSD  /  MEMBER 5  /  BACKUP — RESULT DETAILS</a:t>
            </a:r>
          </a:p>
        </p:txBody>
      </p:sp>
      <p:sp>
        <p:nvSpPr>
          <p:cNvPr id="4" name="Text: What the failures and timers mean"/>
          <p:cNvSpPr txBox="1"/>
          <p:nvPr/>
        </p:nvSpPr>
        <p:spPr>
          <a:xfrm>
            <a:off x="502920" y="667512"/>
            <a:ext cx="11109960" cy="557784"/>
          </a:xfrm>
          <a:prstGeom prst="rect">
            <a:avLst/>
          </a:prstGeom>
          <a:noFill/>
        </p:spPr>
        <p:txBody>
          <a:bodyPr wrap="square" lIns="0" rIns="0" tIns="0" bIns="0">
            <a:spAutoFit/>
          </a:bodyPr>
          <a:lstStyle/>
          <a:p>
            <a:pPr>
              <a:lnSpc>
                <a:spcPct val="105000"/>
              </a:lnSpc>
              <a:spcAft>
                <a:spcPts val="600"/>
              </a:spcAft>
              <a:defRPr sz="3300" b="1">
                <a:solidFill>
                  <a:srgbClr val="142A43"/>
                </a:solidFill>
                <a:latin typeface="Arial"/>
              </a:defRPr>
            </a:pPr>
            <a:r>
              <a:t>What the failures and timers mean</a:t>
            </a:r>
          </a:p>
        </p:txBody>
      </p:sp>
      <p:sp>
        <p:nvSpPr>
          <p:cNvPr id="5" name="Text: Preserved outcomes matter as much as the succ"/>
          <p:cNvSpPr txBox="1"/>
          <p:nvPr/>
        </p:nvSpPr>
        <p:spPr>
          <a:xfrm>
            <a:off x="521207" y="1335024"/>
            <a:ext cx="10972800" cy="493776"/>
          </a:xfrm>
          <a:prstGeom prst="rect">
            <a:avLst/>
          </a:prstGeom>
          <a:noFill/>
        </p:spPr>
        <p:txBody>
          <a:bodyPr wrap="square" lIns="0" rIns="0" tIns="0" bIns="0">
            <a:spAutoFit/>
          </a:bodyPr>
          <a:lstStyle/>
          <a:p>
            <a:pPr>
              <a:lnSpc>
                <a:spcPct val="105000"/>
              </a:lnSpc>
              <a:spcAft>
                <a:spcPts val="200"/>
              </a:spcAft>
              <a:defRPr sz="1700" b="0">
                <a:solidFill>
                  <a:srgbClr val="526175"/>
                </a:solidFill>
                <a:latin typeface="Arial"/>
              </a:defRPr>
            </a:pPr>
            <a:r>
              <a:t>Preserved outcomes matter as much as the successful screenshots.</a:t>
            </a:r>
          </a:p>
        </p:txBody>
      </p:sp>
      <p:sp>
        <p:nvSpPr>
          <p:cNvPr id="6" name="Text: SEED Race-Condition Lab • Wenliang Du / SEED "/>
          <p:cNvSpPr txBox="1"/>
          <p:nvPr/>
        </p:nvSpPr>
        <p:spPr>
          <a:xfrm>
            <a:off x="512064" y="6464808"/>
            <a:ext cx="10515600" cy="164592"/>
          </a:xfrm>
          <a:prstGeom prst="rect">
            <a:avLst/>
          </a:prstGeom>
          <a:noFill/>
        </p:spPr>
        <p:txBody>
          <a:bodyPr wrap="square" lIns="0" rIns="0" tIns="0" bIns="0">
            <a:spAutoFit/>
          </a:bodyPr>
          <a:lstStyle/>
          <a:p>
            <a:pPr>
              <a:lnSpc>
                <a:spcPct val="105000"/>
              </a:lnSpc>
              <a:spcAft>
                <a:spcPts val="200"/>
              </a:spcAft>
              <a:defRPr sz="900" b="0">
                <a:solidFill>
                  <a:srgbClr val="526175"/>
                </a:solidFill>
                <a:latin typeface="Arial"/>
              </a:defRPr>
            </a:pPr>
            <a:r>
              <a:t>SEED Race-Condition Lab • Wenliang Du / SEED Labs • Actual VM findings: 3 Oct 2026</a:t>
            </a:r>
          </a:p>
        </p:txBody>
      </p:sp>
      <p:sp>
        <p:nvSpPr>
          <p:cNvPr id="7" name="Text: 10"/>
          <p:cNvSpPr txBox="1"/>
          <p:nvPr/>
        </p:nvSpPr>
        <p:spPr>
          <a:xfrm>
            <a:off x="11155680" y="6428232"/>
            <a:ext cx="502920" cy="237744"/>
          </a:xfrm>
          <a:prstGeom prst="rect">
            <a:avLst/>
          </a:prstGeom>
          <a:noFill/>
        </p:spPr>
        <p:txBody>
          <a:bodyPr wrap="square" lIns="0" rIns="0" tIns="0" bIns="0">
            <a:spAutoFit/>
          </a:bodyPr>
          <a:lstStyle/>
          <a:p>
            <a:pPr>
              <a:lnSpc>
                <a:spcPct val="105000"/>
              </a:lnSpc>
              <a:spcAft>
                <a:spcPts val="200"/>
              </a:spcAft>
              <a:defRPr sz="1200" b="1">
                <a:solidFill>
                  <a:srgbClr val="087E8B"/>
                </a:solidFill>
                <a:latin typeface="Arial"/>
              </a:defRPr>
            </a:pPr>
            <a:r>
              <a:t>10</a:t>
            </a:r>
          </a:p>
        </p:txBody>
      </p:sp>
      <p:sp>
        <p:nvSpPr>
          <p:cNvPr id="8" name="Rounded Rectangle 7"/>
          <p:cNvSpPr/>
          <p:nvPr/>
        </p:nvSpPr>
        <p:spPr>
          <a:xfrm>
            <a:off x="585216" y="1929384"/>
            <a:ext cx="10972800" cy="621792"/>
          </a:xfrm>
          <a:prstGeom prst="roundRect">
            <a:avLst>
              <a:gd name="adj" fmla="val 8000"/>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 Original naive log"/>
          <p:cNvSpPr txBox="1"/>
          <p:nvPr/>
        </p:nvSpPr>
        <p:spPr>
          <a:xfrm>
            <a:off x="795528" y="2057400"/>
            <a:ext cx="3657600" cy="384048"/>
          </a:xfrm>
          <a:prstGeom prst="rect">
            <a:avLst/>
          </a:prstGeom>
          <a:noFill/>
        </p:spPr>
        <p:txBody>
          <a:bodyPr wrap="square" lIns="0" rIns="0" tIns="0" bIns="0">
            <a:spAutoFit/>
          </a:bodyPr>
          <a:lstStyle/>
          <a:p>
            <a:pPr>
              <a:lnSpc>
                <a:spcPct val="105000"/>
              </a:lnSpc>
              <a:spcAft>
                <a:spcPts val="600"/>
              </a:spcAft>
              <a:defRPr sz="2100" b="1">
                <a:solidFill>
                  <a:srgbClr val="087E8B"/>
                </a:solidFill>
                <a:latin typeface="Arial"/>
              </a:defRPr>
            </a:pPr>
            <a:r>
              <a:t>Original naive log</a:t>
            </a:r>
          </a:p>
        </p:txBody>
      </p:sp>
      <p:sp>
        <p:nvSpPr>
          <p:cNvPr id="10" name="Text: Last progress 76,000 / 227 s; final totals un"/>
          <p:cNvSpPr txBox="1"/>
          <p:nvPr/>
        </p:nvSpPr>
        <p:spPr>
          <a:xfrm>
            <a:off x="4672584" y="2057400"/>
            <a:ext cx="6629400" cy="411480"/>
          </a:xfrm>
          <a:prstGeom prst="rect">
            <a:avLst/>
          </a:prstGeom>
          <a:noFill/>
        </p:spPr>
        <p:txBody>
          <a:bodyPr wrap="square" lIns="0" rIns="0" tIns="0" bIns="0">
            <a:spAutoFit/>
          </a:bodyPr>
          <a:lstStyle/>
          <a:p>
            <a:pPr>
              <a:lnSpc>
                <a:spcPct val="105000"/>
              </a:lnSpc>
              <a:spcAft>
                <a:spcPts val="600"/>
              </a:spcAft>
              <a:defRPr sz="1900" b="0">
                <a:solidFill>
                  <a:srgbClr val="152436"/>
                </a:solidFill>
                <a:latin typeface="Arial"/>
              </a:defRPr>
            </a:pPr>
            <a:r>
              <a:t>Last progress 76,000 / 227 s; final totals unknown.</a:t>
            </a:r>
          </a:p>
        </p:txBody>
      </p:sp>
      <p:sp>
        <p:nvSpPr>
          <p:cNvPr id="11" name="Rounded Rectangle 10"/>
          <p:cNvSpPr/>
          <p:nvPr/>
        </p:nvSpPr>
        <p:spPr>
          <a:xfrm>
            <a:off x="585216" y="2670048"/>
            <a:ext cx="10972800" cy="621792"/>
          </a:xfrm>
          <a:prstGeom prst="roundRect">
            <a:avLst>
              <a:gd name="adj" fmla="val 8000"/>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Naive retry 1"/>
          <p:cNvSpPr txBox="1"/>
          <p:nvPr/>
        </p:nvSpPr>
        <p:spPr>
          <a:xfrm>
            <a:off x="795528" y="2798064"/>
            <a:ext cx="3657600" cy="384048"/>
          </a:xfrm>
          <a:prstGeom prst="rect">
            <a:avLst/>
          </a:prstGeom>
          <a:noFill/>
        </p:spPr>
        <p:txBody>
          <a:bodyPr wrap="square" lIns="0" rIns="0" tIns="0" bIns="0">
            <a:spAutoFit/>
          </a:bodyPr>
          <a:lstStyle/>
          <a:p>
            <a:pPr>
              <a:lnSpc>
                <a:spcPct val="105000"/>
              </a:lnSpc>
              <a:spcAft>
                <a:spcPts val="600"/>
              </a:spcAft>
              <a:defRPr sz="2100" b="1">
                <a:solidFill>
                  <a:srgbClr val="087E8B"/>
                </a:solidFill>
                <a:latin typeface="Arial"/>
              </a:defRPr>
            </a:pPr>
            <a:r>
              <a:t>Naive retry 1</a:t>
            </a:r>
          </a:p>
        </p:txBody>
      </p:sp>
      <p:sp>
        <p:nvSpPr>
          <p:cNvPr id="13" name="Text: 9 attempts; 0 integer seconds; sticky-file fa"/>
          <p:cNvSpPr txBox="1"/>
          <p:nvPr/>
        </p:nvSpPr>
        <p:spPr>
          <a:xfrm>
            <a:off x="4672584" y="2798064"/>
            <a:ext cx="6629400" cy="411480"/>
          </a:xfrm>
          <a:prstGeom prst="rect">
            <a:avLst/>
          </a:prstGeom>
          <a:noFill/>
        </p:spPr>
        <p:txBody>
          <a:bodyPr wrap="square" lIns="0" rIns="0" tIns="0" bIns="0">
            <a:spAutoFit/>
          </a:bodyPr>
          <a:lstStyle/>
          <a:p>
            <a:pPr>
              <a:lnSpc>
                <a:spcPct val="105000"/>
              </a:lnSpc>
              <a:spcAft>
                <a:spcPts val="600"/>
              </a:spcAft>
              <a:defRPr sz="1900" b="0">
                <a:solidFill>
                  <a:srgbClr val="152436"/>
                </a:solidFill>
                <a:latin typeface="Arial"/>
              </a:defRPr>
            </a:pPr>
            <a:r>
              <a:t>9 attempts; 0 integer seconds; sticky-file failure.</a:t>
            </a:r>
          </a:p>
        </p:txBody>
      </p:sp>
      <p:sp>
        <p:nvSpPr>
          <p:cNvPr id="14" name="Rounded Rectangle 13"/>
          <p:cNvSpPr/>
          <p:nvPr/>
        </p:nvSpPr>
        <p:spPr>
          <a:xfrm>
            <a:off x="585216" y="3410712"/>
            <a:ext cx="10972800" cy="621792"/>
          </a:xfrm>
          <a:prstGeom prst="roundRect">
            <a:avLst>
              <a:gd name="adj" fmla="val 8000"/>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 Supplemental capture run"/>
          <p:cNvSpPr txBox="1"/>
          <p:nvPr/>
        </p:nvSpPr>
        <p:spPr>
          <a:xfrm>
            <a:off x="795528" y="3538728"/>
            <a:ext cx="3657600" cy="384048"/>
          </a:xfrm>
          <a:prstGeom prst="rect">
            <a:avLst/>
          </a:prstGeom>
          <a:noFill/>
        </p:spPr>
        <p:txBody>
          <a:bodyPr wrap="square" lIns="0" rIns="0" tIns="0" bIns="0">
            <a:spAutoFit/>
          </a:bodyPr>
          <a:lstStyle/>
          <a:p>
            <a:pPr>
              <a:lnSpc>
                <a:spcPct val="105000"/>
              </a:lnSpc>
              <a:spcAft>
                <a:spcPts val="600"/>
              </a:spcAft>
              <a:defRPr sz="2100" b="1">
                <a:solidFill>
                  <a:srgbClr val="087E8B"/>
                </a:solidFill>
                <a:latin typeface="Arial"/>
              </a:defRPr>
            </a:pPr>
            <a:r>
              <a:t>Supplemental capture run</a:t>
            </a:r>
          </a:p>
        </p:txBody>
      </p:sp>
      <p:sp>
        <p:nvSpPr>
          <p:cNvPr id="16" name="Text: 2 attempts; 0 integer seconds; sticky-file fa"/>
          <p:cNvSpPr txBox="1"/>
          <p:nvPr/>
        </p:nvSpPr>
        <p:spPr>
          <a:xfrm>
            <a:off x="4672584" y="3538728"/>
            <a:ext cx="6629400" cy="411480"/>
          </a:xfrm>
          <a:prstGeom prst="rect">
            <a:avLst/>
          </a:prstGeom>
          <a:noFill/>
        </p:spPr>
        <p:txBody>
          <a:bodyPr wrap="square" lIns="0" rIns="0" tIns="0" bIns="0">
            <a:spAutoFit/>
          </a:bodyPr>
          <a:lstStyle/>
          <a:p>
            <a:pPr>
              <a:lnSpc>
                <a:spcPct val="105000"/>
              </a:lnSpc>
              <a:spcAft>
                <a:spcPts val="600"/>
              </a:spcAft>
              <a:defRPr sz="1900" b="0">
                <a:solidFill>
                  <a:srgbClr val="152436"/>
                </a:solidFill>
                <a:latin typeface="Arial"/>
              </a:defRPr>
            </a:pPr>
            <a:r>
              <a:t>2 attempts; 0 integer seconds; sticky-file failure.</a:t>
            </a:r>
          </a:p>
        </p:txBody>
      </p:sp>
      <p:sp>
        <p:nvSpPr>
          <p:cNvPr id="17" name="Rounded Rectangle 16"/>
          <p:cNvSpPr/>
          <p:nvPr/>
        </p:nvSpPr>
        <p:spPr>
          <a:xfrm>
            <a:off x="585216" y="4151376"/>
            <a:ext cx="10972800" cy="621792"/>
          </a:xfrm>
          <a:prstGeom prst="roundRect">
            <a:avLst>
              <a:gd name="adj" fmla="val 8000"/>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Integer timer"/>
          <p:cNvSpPr txBox="1"/>
          <p:nvPr/>
        </p:nvSpPr>
        <p:spPr>
          <a:xfrm>
            <a:off x="795528" y="4279392"/>
            <a:ext cx="3657600" cy="384048"/>
          </a:xfrm>
          <a:prstGeom prst="rect">
            <a:avLst/>
          </a:prstGeom>
          <a:noFill/>
        </p:spPr>
        <p:txBody>
          <a:bodyPr wrap="square" lIns="0" rIns="0" tIns="0" bIns="0">
            <a:spAutoFit/>
          </a:bodyPr>
          <a:lstStyle/>
          <a:p>
            <a:pPr>
              <a:lnSpc>
                <a:spcPct val="105000"/>
              </a:lnSpc>
              <a:spcAft>
                <a:spcPts val="600"/>
              </a:spcAft>
              <a:defRPr sz="2100" b="1">
                <a:solidFill>
                  <a:srgbClr val="087E8B"/>
                </a:solidFill>
                <a:latin typeface="Arial"/>
              </a:defRPr>
            </a:pPr>
            <a:r>
              <a:t>Integer timer</a:t>
            </a:r>
          </a:p>
        </p:txBody>
      </p:sp>
      <p:sp>
        <p:nvSpPr>
          <p:cNvPr id="19" name="Text: 0 seconds means below the timer’s granularity"/>
          <p:cNvSpPr txBox="1"/>
          <p:nvPr/>
        </p:nvSpPr>
        <p:spPr>
          <a:xfrm>
            <a:off x="4672584" y="4279392"/>
            <a:ext cx="6629400" cy="411480"/>
          </a:xfrm>
          <a:prstGeom prst="rect">
            <a:avLst/>
          </a:prstGeom>
          <a:noFill/>
        </p:spPr>
        <p:txBody>
          <a:bodyPr wrap="square" lIns="0" rIns="0" tIns="0" bIns="0">
            <a:spAutoFit/>
          </a:bodyPr>
          <a:lstStyle/>
          <a:p>
            <a:pPr>
              <a:lnSpc>
                <a:spcPct val="105000"/>
              </a:lnSpc>
              <a:spcAft>
                <a:spcPts val="600"/>
              </a:spcAft>
              <a:defRPr sz="1900" b="0">
                <a:solidFill>
                  <a:srgbClr val="152436"/>
                </a:solidFill>
                <a:latin typeface="Arial"/>
              </a:defRPr>
            </a:pPr>
            <a:r>
              <a:t>0 seconds means below the timer’s granularity.</a:t>
            </a:r>
          </a:p>
        </p:txBody>
      </p:sp>
      <p:sp>
        <p:nvSpPr>
          <p:cNvPr id="20" name="Rounded Rectangle 19"/>
          <p:cNvSpPr/>
          <p:nvPr/>
        </p:nvSpPr>
        <p:spPr>
          <a:xfrm>
            <a:off x="585216" y="4892040"/>
            <a:ext cx="10972800" cy="621792"/>
          </a:xfrm>
          <a:prstGeom prst="roundRect">
            <a:avLst>
              <a:gd name="adj" fmla="val 8000"/>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 Runner wall time"/>
          <p:cNvSpPr txBox="1"/>
          <p:nvPr/>
        </p:nvSpPr>
        <p:spPr>
          <a:xfrm>
            <a:off x="795528" y="5020055"/>
            <a:ext cx="3657600" cy="384048"/>
          </a:xfrm>
          <a:prstGeom prst="rect">
            <a:avLst/>
          </a:prstGeom>
          <a:noFill/>
        </p:spPr>
        <p:txBody>
          <a:bodyPr wrap="square" lIns="0" rIns="0" tIns="0" bIns="0">
            <a:spAutoFit/>
          </a:bodyPr>
          <a:lstStyle/>
          <a:p>
            <a:pPr>
              <a:lnSpc>
                <a:spcPct val="105000"/>
              </a:lnSpc>
              <a:spcAft>
                <a:spcPts val="600"/>
              </a:spcAft>
              <a:defRPr sz="2100" b="1">
                <a:solidFill>
                  <a:srgbClr val="087E8B"/>
                </a:solidFill>
                <a:latin typeface="Arial"/>
              </a:defRPr>
            </a:pPr>
            <a:r>
              <a:t>Runner wall time</a:t>
            </a:r>
          </a:p>
        </p:txBody>
      </p:sp>
      <p:sp>
        <p:nvSpPr>
          <p:cNvPr id="22" name="Text: Includes monitor startup/exit; not the race-w"/>
          <p:cNvSpPr txBox="1"/>
          <p:nvPr/>
        </p:nvSpPr>
        <p:spPr>
          <a:xfrm>
            <a:off x="4672584" y="5020055"/>
            <a:ext cx="6629400" cy="411480"/>
          </a:xfrm>
          <a:prstGeom prst="rect">
            <a:avLst/>
          </a:prstGeom>
          <a:noFill/>
        </p:spPr>
        <p:txBody>
          <a:bodyPr wrap="square" lIns="0" rIns="0" tIns="0" bIns="0">
            <a:spAutoFit/>
          </a:bodyPr>
          <a:lstStyle/>
          <a:p>
            <a:pPr>
              <a:lnSpc>
                <a:spcPct val="105000"/>
              </a:lnSpc>
              <a:spcAft>
                <a:spcPts val="600"/>
              </a:spcAft>
              <a:defRPr sz="1900" b="0">
                <a:solidFill>
                  <a:srgbClr val="152436"/>
                </a:solidFill>
                <a:latin typeface="Arial"/>
              </a:defRPr>
            </a:pPr>
            <a:r>
              <a:t>Includes monitor startup/exit; not the race-window size.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BFD"/>
        </a:solidFill>
        <a:effectLst/>
      </p:bgPr>
    </p:bg>
    <p:spTree>
      <p:nvGrpSpPr>
        <p:cNvPr id="1" name=""/>
        <p:cNvGrpSpPr/>
        <p:nvPr/>
      </p:nvGrpSpPr>
      <p:grpSpPr/>
      <p:sp>
        <p:nvSpPr>
          <p:cNvPr id="2" name="Rectangle 1"/>
          <p:cNvSpPr/>
          <p:nvPr/>
        </p:nvSpPr>
        <p:spPr>
          <a:xfrm>
            <a:off x="0" y="0"/>
            <a:ext cx="12191969" cy="109728"/>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ISSD  /  MEMBER 5  /  BACKUP — PRESENTER BACK"/>
          <p:cNvSpPr txBox="1"/>
          <p:nvPr/>
        </p:nvSpPr>
        <p:spPr>
          <a:xfrm>
            <a:off x="502920" y="283464"/>
            <a:ext cx="9144000" cy="201168"/>
          </a:xfrm>
          <a:prstGeom prst="rect">
            <a:avLst/>
          </a:prstGeom>
          <a:noFill/>
        </p:spPr>
        <p:txBody>
          <a:bodyPr wrap="square" lIns="0" rIns="0" tIns="0" bIns="0">
            <a:spAutoFit/>
          </a:bodyPr>
          <a:lstStyle/>
          <a:p>
            <a:pPr>
              <a:lnSpc>
                <a:spcPct val="105000"/>
              </a:lnSpc>
              <a:spcAft>
                <a:spcPts val="200"/>
              </a:spcAft>
              <a:defRPr sz="1000" b="1">
                <a:solidFill>
                  <a:srgbClr val="087E8B"/>
                </a:solidFill>
                <a:latin typeface="Arial"/>
              </a:defRPr>
            </a:pPr>
            <a:r>
              <a:t>ISSD  /  MEMBER 5  /  BACKUP — PRESENTER BACKUP</a:t>
            </a:r>
          </a:p>
        </p:txBody>
      </p:sp>
      <p:sp>
        <p:nvSpPr>
          <p:cNvPr id="4" name="Text: Live-demo recovery"/>
          <p:cNvSpPr txBox="1"/>
          <p:nvPr/>
        </p:nvSpPr>
        <p:spPr>
          <a:xfrm>
            <a:off x="502920" y="667512"/>
            <a:ext cx="11109960" cy="557784"/>
          </a:xfrm>
          <a:prstGeom prst="rect">
            <a:avLst/>
          </a:prstGeom>
          <a:noFill/>
        </p:spPr>
        <p:txBody>
          <a:bodyPr wrap="square" lIns="0" rIns="0" tIns="0" bIns="0">
            <a:spAutoFit/>
          </a:bodyPr>
          <a:lstStyle/>
          <a:p>
            <a:pPr>
              <a:lnSpc>
                <a:spcPct val="105000"/>
              </a:lnSpc>
              <a:spcAft>
                <a:spcPts val="600"/>
              </a:spcAft>
              <a:defRPr sz="3300" b="1">
                <a:solidFill>
                  <a:srgbClr val="142A43"/>
                </a:solidFill>
                <a:latin typeface="Arial"/>
              </a:defRPr>
            </a:pPr>
            <a:r>
              <a:t>Live-demo recovery</a:t>
            </a:r>
          </a:p>
        </p:txBody>
      </p:sp>
      <p:sp>
        <p:nvSpPr>
          <p:cNvPr id="5" name="Text: Use the real output; keep the experiment boun"/>
          <p:cNvSpPr txBox="1"/>
          <p:nvPr/>
        </p:nvSpPr>
        <p:spPr>
          <a:xfrm>
            <a:off x="521207" y="1335024"/>
            <a:ext cx="10972800" cy="493776"/>
          </a:xfrm>
          <a:prstGeom prst="rect">
            <a:avLst/>
          </a:prstGeom>
          <a:noFill/>
        </p:spPr>
        <p:txBody>
          <a:bodyPr wrap="square" lIns="0" rIns="0" tIns="0" bIns="0">
            <a:spAutoFit/>
          </a:bodyPr>
          <a:lstStyle/>
          <a:p>
            <a:pPr>
              <a:lnSpc>
                <a:spcPct val="105000"/>
              </a:lnSpc>
              <a:spcAft>
                <a:spcPts val="200"/>
              </a:spcAft>
              <a:defRPr sz="1700" b="0">
                <a:solidFill>
                  <a:srgbClr val="526175"/>
                </a:solidFill>
                <a:latin typeface="Arial"/>
              </a:defRPr>
            </a:pPr>
            <a:r>
              <a:t>Use the real output; keep the experiment boundary clear.</a:t>
            </a:r>
          </a:p>
        </p:txBody>
      </p:sp>
      <p:sp>
        <p:nvSpPr>
          <p:cNvPr id="6" name="Text: SEED Race-Condition Lab • Wenliang Du / SEED "/>
          <p:cNvSpPr txBox="1"/>
          <p:nvPr/>
        </p:nvSpPr>
        <p:spPr>
          <a:xfrm>
            <a:off x="512064" y="6464808"/>
            <a:ext cx="10515600" cy="164592"/>
          </a:xfrm>
          <a:prstGeom prst="rect">
            <a:avLst/>
          </a:prstGeom>
          <a:noFill/>
        </p:spPr>
        <p:txBody>
          <a:bodyPr wrap="square" lIns="0" rIns="0" tIns="0" bIns="0">
            <a:spAutoFit/>
          </a:bodyPr>
          <a:lstStyle/>
          <a:p>
            <a:pPr>
              <a:lnSpc>
                <a:spcPct val="105000"/>
              </a:lnSpc>
              <a:spcAft>
                <a:spcPts val="200"/>
              </a:spcAft>
              <a:defRPr sz="900" b="0">
                <a:solidFill>
                  <a:srgbClr val="526175"/>
                </a:solidFill>
                <a:latin typeface="Arial"/>
              </a:defRPr>
            </a:pPr>
            <a:r>
              <a:t>SEED Race-Condition Lab • Wenliang Du / SEED Labs • Actual VM findings: 3 Oct 2026</a:t>
            </a:r>
          </a:p>
        </p:txBody>
      </p:sp>
      <p:sp>
        <p:nvSpPr>
          <p:cNvPr id="7" name="Text: 11"/>
          <p:cNvSpPr txBox="1"/>
          <p:nvPr/>
        </p:nvSpPr>
        <p:spPr>
          <a:xfrm>
            <a:off x="11155680" y="6428232"/>
            <a:ext cx="502920" cy="237744"/>
          </a:xfrm>
          <a:prstGeom prst="rect">
            <a:avLst/>
          </a:prstGeom>
          <a:noFill/>
        </p:spPr>
        <p:txBody>
          <a:bodyPr wrap="square" lIns="0" rIns="0" tIns="0" bIns="0">
            <a:spAutoFit/>
          </a:bodyPr>
          <a:lstStyle/>
          <a:p>
            <a:pPr>
              <a:lnSpc>
                <a:spcPct val="105000"/>
              </a:lnSpc>
              <a:spcAft>
                <a:spcPts val="200"/>
              </a:spcAft>
              <a:defRPr sz="1200" b="1">
                <a:solidFill>
                  <a:srgbClr val="087E8B"/>
                </a:solidFill>
                <a:latin typeface="Arial"/>
              </a:defRPr>
            </a:pPr>
            <a:r>
              <a:t>11</a:t>
            </a:r>
          </a:p>
        </p:txBody>
      </p:sp>
      <p:sp>
        <p:nvSpPr>
          <p:cNvPr id="8" name="Text: Timing miss / 30 s unchanged"/>
          <p:cNvSpPr txBox="1"/>
          <p:nvPr/>
        </p:nvSpPr>
        <p:spPr>
          <a:xfrm>
            <a:off x="704088" y="1901952"/>
            <a:ext cx="3858768" cy="640080"/>
          </a:xfrm>
          <a:prstGeom prst="rect">
            <a:avLst/>
          </a:prstGeom>
          <a:noFill/>
        </p:spPr>
        <p:txBody>
          <a:bodyPr wrap="square" lIns="0" rIns="0" tIns="0" bIns="0">
            <a:spAutoFit/>
          </a:bodyPr>
          <a:lstStyle/>
          <a:p>
            <a:pPr>
              <a:lnSpc>
                <a:spcPct val="105000"/>
              </a:lnSpc>
              <a:spcAft>
                <a:spcPts val="600"/>
              </a:spcAft>
              <a:defRPr sz="2200" b="1">
                <a:solidFill>
                  <a:srgbClr val="087E8B"/>
                </a:solidFill>
                <a:latin typeface="Arial"/>
              </a:defRPr>
            </a:pPr>
            <a:r>
              <a:t>Timing miss / 30 s unchanged</a:t>
            </a:r>
          </a:p>
        </p:txBody>
      </p:sp>
      <p:sp>
        <p:nvSpPr>
          <p:cNvPr id="9" name="Text: State the failed bounded attempt. Use the lab"/>
          <p:cNvSpPr txBox="1"/>
          <p:nvPr/>
        </p:nvSpPr>
        <p:spPr>
          <a:xfrm>
            <a:off x="4846320" y="1901952"/>
            <a:ext cx="6473952" cy="685800"/>
          </a:xfrm>
          <a:prstGeom prst="rect">
            <a:avLst/>
          </a:prstGeom>
          <a:noFill/>
        </p:spPr>
        <p:txBody>
          <a:bodyPr wrap="square" lIns="0" rIns="0" tIns="0" bIns="0">
            <a:spAutoFit/>
          </a:bodyPr>
          <a:lstStyle/>
          <a:p>
            <a:pPr>
              <a:lnSpc>
                <a:spcPct val="105000"/>
              </a:lnSpc>
              <a:spcAft>
                <a:spcPts val="600"/>
              </a:spcAft>
              <a:defRPr sz="2100" b="0">
                <a:solidFill>
                  <a:srgbClr val="152436"/>
                </a:solidFill>
                <a:latin typeface="Arial"/>
              </a:defRPr>
            </a:pPr>
            <a:r>
              <a:t>State the failed bounded attempt. Use the labelled recorded S09/S11 result.</a:t>
            </a:r>
          </a:p>
        </p:txBody>
      </p:sp>
      <p:sp>
        <p:nvSpPr>
          <p:cNvPr id="10" name="Text: File exists / unlink denied"/>
          <p:cNvSpPr txBox="1"/>
          <p:nvPr/>
        </p:nvSpPr>
        <p:spPr>
          <a:xfrm>
            <a:off x="704088" y="2834640"/>
            <a:ext cx="3858768" cy="640080"/>
          </a:xfrm>
          <a:prstGeom prst="rect">
            <a:avLst/>
          </a:prstGeom>
          <a:noFill/>
        </p:spPr>
        <p:txBody>
          <a:bodyPr wrap="square" lIns="0" rIns="0" tIns="0" bIns="0">
            <a:spAutoFit/>
          </a:bodyPr>
          <a:lstStyle/>
          <a:p>
            <a:pPr>
              <a:lnSpc>
                <a:spcPct val="105000"/>
              </a:lnSpc>
              <a:spcAft>
                <a:spcPts val="600"/>
              </a:spcAft>
              <a:defRPr sz="2200" b="1">
                <a:solidFill>
                  <a:srgbClr val="087E8B"/>
                </a:solidFill>
                <a:latin typeface="Arial"/>
              </a:defRPr>
            </a:pPr>
            <a:r>
              <a:t>File exists / unlink denied</a:t>
            </a:r>
          </a:p>
        </p:txBody>
      </p:sp>
      <p:sp>
        <p:nvSpPr>
          <p:cNvPr id="11" name="Text: Stop first. Inspect /tmp and XYZ ownership. P"/>
          <p:cNvSpPr txBox="1"/>
          <p:nvPr/>
        </p:nvSpPr>
        <p:spPr>
          <a:xfrm>
            <a:off x="4846320" y="2834640"/>
            <a:ext cx="6473952" cy="685800"/>
          </a:xfrm>
          <a:prstGeom prst="rect">
            <a:avLst/>
          </a:prstGeom>
          <a:noFill/>
        </p:spPr>
        <p:txBody>
          <a:bodyPr wrap="square" lIns="0" rIns="0" tIns="0" bIns="0">
            <a:spAutoFit/>
          </a:bodyPr>
          <a:lstStyle/>
          <a:p>
            <a:pPr>
              <a:lnSpc>
                <a:spcPct val="105000"/>
              </a:lnSpc>
              <a:spcAft>
                <a:spcPts val="600"/>
              </a:spcAft>
              <a:defRPr sz="2100" b="0">
                <a:solidFill>
                  <a:srgbClr val="152436"/>
                </a:solidFill>
                <a:latin typeface="Arial"/>
              </a:defRPr>
            </a:pPr>
            <a:r>
              <a:t>Stop first. Inspect /tmp and XYZ ownership. Preserve the failure; reset in B.</a:t>
            </a:r>
          </a:p>
        </p:txBody>
      </p:sp>
      <p:sp>
        <p:nvSpPr>
          <p:cNvPr id="12" name="Text: Root shell still open"/>
          <p:cNvSpPr txBox="1"/>
          <p:nvPr/>
        </p:nvSpPr>
        <p:spPr>
          <a:xfrm>
            <a:off x="704088" y="3767328"/>
            <a:ext cx="3858768" cy="640080"/>
          </a:xfrm>
          <a:prstGeom prst="rect">
            <a:avLst/>
          </a:prstGeom>
          <a:noFill/>
        </p:spPr>
        <p:txBody>
          <a:bodyPr wrap="square" lIns="0" rIns="0" tIns="0" bIns="0">
            <a:spAutoFit/>
          </a:bodyPr>
          <a:lstStyle/>
          <a:p>
            <a:pPr>
              <a:lnSpc>
                <a:spcPct val="105000"/>
              </a:lnSpc>
              <a:spcAft>
                <a:spcPts val="600"/>
              </a:spcAft>
              <a:defRPr sz="2200" b="1">
                <a:solidFill>
                  <a:srgbClr val="087E8B"/>
                </a:solidFill>
                <a:latin typeface="Arial"/>
              </a:defRPr>
            </a:pPr>
            <a:r>
              <a:t>Root shell still open</a:t>
            </a:r>
          </a:p>
        </p:txBody>
      </p:sp>
      <p:sp>
        <p:nvSpPr>
          <p:cNvPr id="13" name="Text: exit once, then id. Return to seed before res"/>
          <p:cNvSpPr txBox="1"/>
          <p:nvPr/>
        </p:nvSpPr>
        <p:spPr>
          <a:xfrm>
            <a:off x="4846320" y="3767328"/>
            <a:ext cx="6473952" cy="685800"/>
          </a:xfrm>
          <a:prstGeom prst="rect">
            <a:avLst/>
          </a:prstGeom>
          <a:noFill/>
        </p:spPr>
        <p:txBody>
          <a:bodyPr wrap="square" lIns="0" rIns="0" tIns="0" bIns="0">
            <a:spAutoFit/>
          </a:bodyPr>
          <a:lstStyle/>
          <a:p>
            <a:pPr>
              <a:lnSpc>
                <a:spcPct val="105000"/>
              </a:lnSpc>
              <a:spcAft>
                <a:spcPts val="600"/>
              </a:spcAft>
              <a:defRPr sz="2100" b="0">
                <a:solidFill>
                  <a:srgbClr val="152436"/>
                </a:solidFill>
                <a:latin typeface="Arial"/>
              </a:defRPr>
            </a:pPr>
            <a:r>
              <a:t>exit once, then id. Return to seed before reset or a new ordinary-user trial.</a:t>
            </a:r>
          </a:p>
        </p:txBody>
      </p:sp>
      <p:sp>
        <p:nvSpPr>
          <p:cNvPr id="14" name="Text: Set-UID missing"/>
          <p:cNvSpPr txBox="1"/>
          <p:nvPr/>
        </p:nvSpPr>
        <p:spPr>
          <a:xfrm>
            <a:off x="704088" y="4700016"/>
            <a:ext cx="3858768" cy="640080"/>
          </a:xfrm>
          <a:prstGeom prst="rect">
            <a:avLst/>
          </a:prstGeom>
          <a:noFill/>
        </p:spPr>
        <p:txBody>
          <a:bodyPr wrap="square" lIns="0" rIns="0" tIns="0" bIns="0">
            <a:spAutoFit/>
          </a:bodyPr>
          <a:lstStyle/>
          <a:p>
            <a:pPr>
              <a:lnSpc>
                <a:spcPct val="105000"/>
              </a:lnSpc>
              <a:spcAft>
                <a:spcPts val="600"/>
              </a:spcAft>
              <a:defRPr sz="2200" b="1">
                <a:solidFill>
                  <a:srgbClr val="087E8B"/>
                </a:solidFill>
                <a:latin typeface="Arial"/>
              </a:defRPr>
            </a:pPr>
            <a:r>
              <a:t>Set-UID missing</a:t>
            </a:r>
          </a:p>
        </p:txBody>
      </p:sp>
      <p:sp>
        <p:nvSpPr>
          <p:cNvPr id="15" name="Text: Use Part 0 setup. Do not run the attacker or "/>
          <p:cNvSpPr txBox="1"/>
          <p:nvPr/>
        </p:nvSpPr>
        <p:spPr>
          <a:xfrm>
            <a:off x="4846320" y="4700016"/>
            <a:ext cx="6473952" cy="685800"/>
          </a:xfrm>
          <a:prstGeom prst="rect">
            <a:avLst/>
          </a:prstGeom>
          <a:noFill/>
        </p:spPr>
        <p:txBody>
          <a:bodyPr wrap="square" lIns="0" rIns="0" tIns="0" bIns="0">
            <a:spAutoFit/>
          </a:bodyPr>
          <a:lstStyle/>
          <a:p>
            <a:pPr>
              <a:lnSpc>
                <a:spcPct val="105000"/>
              </a:lnSpc>
              <a:spcAft>
                <a:spcPts val="600"/>
              </a:spcAft>
              <a:defRPr sz="2100" b="0">
                <a:solidFill>
                  <a:srgbClr val="152436"/>
                </a:solidFill>
                <a:latin typeface="Arial"/>
              </a:defRPr>
            </a:pPr>
            <a:r>
              <a:t>Use Part 0 setup. Do not run the attacker or victim through sudo.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BFD"/>
        </a:solidFill>
        <a:effectLst/>
      </p:bgPr>
    </p:bg>
    <p:spTree>
      <p:nvGrpSpPr>
        <p:cNvPr id="1" name=""/>
        <p:cNvGrpSpPr/>
        <p:nvPr/>
      </p:nvGrpSpPr>
      <p:grpSpPr/>
      <p:sp>
        <p:nvSpPr>
          <p:cNvPr id="2" name="Rectangle 1"/>
          <p:cNvSpPr/>
          <p:nvPr/>
        </p:nvSpPr>
        <p:spPr>
          <a:xfrm>
            <a:off x="0" y="0"/>
            <a:ext cx="12191969" cy="109728"/>
          </a:xfrm>
          <a:prstGeom prst="rect">
            <a:avLst/>
          </a:prstGeom>
          <a:solidFill>
            <a:srgbClr val="087E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ISSD  /  MEMBER 5  /  BACKUP — REFERENCES"/>
          <p:cNvSpPr txBox="1"/>
          <p:nvPr/>
        </p:nvSpPr>
        <p:spPr>
          <a:xfrm>
            <a:off x="502920" y="283464"/>
            <a:ext cx="9144000" cy="201168"/>
          </a:xfrm>
          <a:prstGeom prst="rect">
            <a:avLst/>
          </a:prstGeom>
          <a:noFill/>
        </p:spPr>
        <p:txBody>
          <a:bodyPr wrap="square" lIns="0" rIns="0" tIns="0" bIns="0">
            <a:spAutoFit/>
          </a:bodyPr>
          <a:lstStyle/>
          <a:p>
            <a:pPr>
              <a:lnSpc>
                <a:spcPct val="105000"/>
              </a:lnSpc>
              <a:spcAft>
                <a:spcPts val="200"/>
              </a:spcAft>
              <a:defRPr sz="1000" b="1">
                <a:solidFill>
                  <a:srgbClr val="087E8B"/>
                </a:solidFill>
                <a:latin typeface="Arial"/>
              </a:defRPr>
            </a:pPr>
            <a:r>
              <a:t>ISSD  /  MEMBER 5  /  BACKUP — REFERENCES</a:t>
            </a:r>
          </a:p>
        </p:txBody>
      </p:sp>
      <p:sp>
        <p:nvSpPr>
          <p:cNvPr id="4" name="Text: Sources and supporting files"/>
          <p:cNvSpPr txBox="1"/>
          <p:nvPr/>
        </p:nvSpPr>
        <p:spPr>
          <a:xfrm>
            <a:off x="502920" y="667512"/>
            <a:ext cx="11109960" cy="557784"/>
          </a:xfrm>
          <a:prstGeom prst="rect">
            <a:avLst/>
          </a:prstGeom>
          <a:noFill/>
        </p:spPr>
        <p:txBody>
          <a:bodyPr wrap="square" lIns="0" rIns="0" tIns="0" bIns="0">
            <a:spAutoFit/>
          </a:bodyPr>
          <a:lstStyle/>
          <a:p>
            <a:pPr>
              <a:lnSpc>
                <a:spcPct val="105000"/>
              </a:lnSpc>
              <a:spcAft>
                <a:spcPts val="600"/>
              </a:spcAft>
              <a:defRPr sz="3300" b="1">
                <a:solidFill>
                  <a:srgbClr val="142A43"/>
                </a:solidFill>
                <a:latin typeface="Arial"/>
              </a:defRPr>
            </a:pPr>
            <a:r>
              <a:t>Sources and supporting files</a:t>
            </a:r>
          </a:p>
        </p:txBody>
      </p:sp>
      <p:sp>
        <p:nvSpPr>
          <p:cNvPr id="5" name="Text: Original lab content and actual experimental "/>
          <p:cNvSpPr txBox="1"/>
          <p:nvPr/>
        </p:nvSpPr>
        <p:spPr>
          <a:xfrm>
            <a:off x="521207" y="1335024"/>
            <a:ext cx="10972800" cy="493776"/>
          </a:xfrm>
          <a:prstGeom prst="rect">
            <a:avLst/>
          </a:prstGeom>
          <a:noFill/>
        </p:spPr>
        <p:txBody>
          <a:bodyPr wrap="square" lIns="0" rIns="0" tIns="0" bIns="0">
            <a:spAutoFit/>
          </a:bodyPr>
          <a:lstStyle/>
          <a:p>
            <a:pPr>
              <a:lnSpc>
                <a:spcPct val="105000"/>
              </a:lnSpc>
              <a:spcAft>
                <a:spcPts val="200"/>
              </a:spcAft>
              <a:defRPr sz="1700" b="0">
                <a:solidFill>
                  <a:srgbClr val="526175"/>
                </a:solidFill>
                <a:latin typeface="Arial"/>
              </a:defRPr>
            </a:pPr>
            <a:r>
              <a:t>Original lab content and actual experimental evidence are distinguishable.</a:t>
            </a:r>
          </a:p>
        </p:txBody>
      </p:sp>
      <p:sp>
        <p:nvSpPr>
          <p:cNvPr id="6" name="Text: SEED Race-Condition Lab • Wenliang Du / SEED "/>
          <p:cNvSpPr txBox="1"/>
          <p:nvPr/>
        </p:nvSpPr>
        <p:spPr>
          <a:xfrm>
            <a:off x="512064" y="6464808"/>
            <a:ext cx="10515600" cy="164592"/>
          </a:xfrm>
          <a:prstGeom prst="rect">
            <a:avLst/>
          </a:prstGeom>
          <a:noFill/>
        </p:spPr>
        <p:txBody>
          <a:bodyPr wrap="square" lIns="0" rIns="0" tIns="0" bIns="0">
            <a:spAutoFit/>
          </a:bodyPr>
          <a:lstStyle/>
          <a:p>
            <a:pPr>
              <a:lnSpc>
                <a:spcPct val="105000"/>
              </a:lnSpc>
              <a:spcAft>
                <a:spcPts val="200"/>
              </a:spcAft>
              <a:defRPr sz="900" b="0">
                <a:solidFill>
                  <a:srgbClr val="526175"/>
                </a:solidFill>
                <a:latin typeface="Arial"/>
              </a:defRPr>
            </a:pPr>
            <a:r>
              <a:t>SEED Race-Condition Lab • Wenliang Du / SEED Labs • Actual VM findings: 3 Oct 2026</a:t>
            </a:r>
          </a:p>
        </p:txBody>
      </p:sp>
      <p:sp>
        <p:nvSpPr>
          <p:cNvPr id="7" name="Text: 12"/>
          <p:cNvSpPr txBox="1"/>
          <p:nvPr/>
        </p:nvSpPr>
        <p:spPr>
          <a:xfrm>
            <a:off x="11155680" y="6428232"/>
            <a:ext cx="502920" cy="237744"/>
          </a:xfrm>
          <a:prstGeom prst="rect">
            <a:avLst/>
          </a:prstGeom>
          <a:noFill/>
        </p:spPr>
        <p:txBody>
          <a:bodyPr wrap="square" lIns="0" rIns="0" tIns="0" bIns="0">
            <a:spAutoFit/>
          </a:bodyPr>
          <a:lstStyle/>
          <a:p>
            <a:pPr>
              <a:lnSpc>
                <a:spcPct val="105000"/>
              </a:lnSpc>
              <a:spcAft>
                <a:spcPts val="200"/>
              </a:spcAft>
              <a:defRPr sz="1200" b="1">
                <a:solidFill>
                  <a:srgbClr val="087E8B"/>
                </a:solidFill>
                <a:latin typeface="Arial"/>
              </a:defRPr>
            </a:pPr>
            <a:r>
              <a:t>12</a:t>
            </a:r>
          </a:p>
        </p:txBody>
      </p:sp>
      <p:sp>
        <p:nvSpPr>
          <p:cNvPr id="8" name="Text: Wenliang Du / SEED Labs — Race Condition Vuln"/>
          <p:cNvSpPr txBox="1"/>
          <p:nvPr/>
        </p:nvSpPr>
        <p:spPr>
          <a:xfrm>
            <a:off x="740664" y="2020824"/>
            <a:ext cx="10789920" cy="2386584"/>
          </a:xfrm>
          <a:prstGeom prst="rect">
            <a:avLst/>
          </a:prstGeom>
          <a:noFill/>
        </p:spPr>
        <p:txBody>
          <a:bodyPr wrap="square" lIns="0" rIns="0" tIns="0" bIns="0">
            <a:spAutoFit/>
          </a:bodyPr>
          <a:lstStyle/>
          <a:p>
            <a:pPr>
              <a:lnSpc>
                <a:spcPct val="105000"/>
              </a:lnSpc>
              <a:spcAft>
                <a:spcPts val="600"/>
              </a:spcAft>
              <a:defRPr sz="2200" b="0">
                <a:solidFill>
                  <a:srgbClr val="142A43"/>
                </a:solidFill>
                <a:latin typeface="Arial"/>
              </a:defRPr>
            </a:pPr>
            <a:r>
              <a:t>Wenliang Du / SEED Labs — Race Condition Vulnerability Lab (2006–2020)</a:t>
            </a:r>
          </a:p>
          <a:p>
            <a:pPr>
              <a:lnSpc>
                <a:spcPct val="105000"/>
              </a:lnSpc>
              <a:spcAft>
                <a:spcPts val="600"/>
              </a:spcAft>
              <a:defRPr sz="2200" b="0">
                <a:solidFill>
                  <a:srgbClr val="142A43"/>
                </a:solidFill>
                <a:latin typeface="Arial"/>
              </a:defRPr>
            </a:pPr>
            <a:r>
              <a:t>seedsecuritylabs.org/Labs_20.04/Software/Race_Condition/</a:t>
            </a:r>
          </a:p>
          <a:p>
            <a:pPr>
              <a:lnSpc>
                <a:spcPct val="105000"/>
              </a:lnSpc>
              <a:spcAft>
                <a:spcPts val="600"/>
              </a:spcAft>
              <a:defRPr sz="2200" b="0">
                <a:solidFill>
                  <a:srgbClr val="142A43"/>
                </a:solidFill>
                <a:latin typeface="Arial"/>
              </a:defRPr>
            </a:pPr>
            <a:r>
              <a:t>Linux kernel filesystem sysctl documentation; access(2), rename(2), open(2)</a:t>
            </a:r>
          </a:p>
          <a:p>
            <a:pPr>
              <a:lnSpc>
                <a:spcPct val="105000"/>
              </a:lnSpc>
              <a:spcAft>
                <a:spcPts val="600"/>
              </a:spcAft>
              <a:defRPr sz="2200" b="0">
                <a:solidFill>
                  <a:srgbClr val="142A43"/>
                </a:solidFill>
                <a:latin typeface="Arial"/>
              </a:defRPr>
            </a:pPr>
            <a:r>
              <a:t>Supplied Member 5 allocation and our VM logs / S01–S15 evidence</a:t>
            </a:r>
          </a:p>
        </p:txBody>
      </p:sp>
      <p:sp>
        <p:nvSpPr>
          <p:cNvPr id="9" name="Text: REPORT.pdf: analysis and full results     LIV"/>
          <p:cNvSpPr txBox="1"/>
          <p:nvPr/>
        </p:nvSpPr>
        <p:spPr>
          <a:xfrm>
            <a:off x="740664" y="4764024"/>
            <a:ext cx="10789920" cy="594360"/>
          </a:xfrm>
          <a:prstGeom prst="rect">
            <a:avLst/>
          </a:prstGeom>
          <a:noFill/>
        </p:spPr>
        <p:txBody>
          <a:bodyPr wrap="square" lIns="0" rIns="0" tIns="0" bIns="0">
            <a:spAutoFit/>
          </a:bodyPr>
          <a:lstStyle/>
          <a:p>
            <a:pPr>
              <a:lnSpc>
                <a:spcPct val="105000"/>
              </a:lnSpc>
              <a:spcAft>
                <a:spcPts val="600"/>
              </a:spcAft>
              <a:defRPr sz="2000" b="1">
                <a:solidFill>
                  <a:srgbClr val="087E8B"/>
                </a:solidFill>
                <a:latin typeface="Arial"/>
              </a:defRPr>
            </a:pPr>
            <a:r>
              <a:t>REPORT.pdf: analysis and full results     LIVE_DEMO.pdf: exact A/B command order</a:t>
            </a:r>
          </a:p>
        </p:txBody>
      </p:sp>
      <p:sp>
        <p:nvSpPr>
          <p:cNvPr id="10" name="Text: CC BY-NC-SA 4.0 attribution retained. AI-assi"/>
          <p:cNvSpPr txBox="1"/>
          <p:nvPr/>
        </p:nvSpPr>
        <p:spPr>
          <a:xfrm>
            <a:off x="740664" y="5541264"/>
            <a:ext cx="10789920" cy="502920"/>
          </a:xfrm>
          <a:prstGeom prst="rect">
            <a:avLst/>
          </a:prstGeom>
          <a:noFill/>
        </p:spPr>
        <p:txBody>
          <a:bodyPr wrap="square" lIns="0" rIns="0" tIns="0" bIns="0">
            <a:spAutoFit/>
          </a:bodyPr>
          <a:lstStyle/>
          <a:p>
            <a:pPr>
              <a:lnSpc>
                <a:spcPct val="105000"/>
              </a:lnSpc>
              <a:spcAft>
                <a:spcPts val="200"/>
              </a:spcAft>
              <a:defRPr sz="1600" b="0">
                <a:solidFill>
                  <a:srgbClr val="526175"/>
                </a:solidFill>
                <a:latin typeface="Arial"/>
              </a:defRPr>
            </a:pPr>
            <a:r>
              <a:t>CC BY-NC-SA 4.0 attribution retained. AI-assisted orchestration/document preparation is disclosed in the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Race condition — findings and live demonstration</dc:title>
  <dc:subject>Findings interpretation with terminal-demo transitions at slides 3, 5 and 7</dc:subject>
  <dc:creator>Member 5 — ISSD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