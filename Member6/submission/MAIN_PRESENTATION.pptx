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Dirty COW, CVE-2016-5195, as a historical local kernel race. Copy-on-write should keep a process's private changes separate from the original file. This vulnerability can break that boundary and modify data an ordinary user cannot normally write. Member 5's example was in a deliberately privileged application; here the vulnerable component is the kernel. Explain this before the live demonstration. The fresh work took place on 9 October 2026 in the separate SEED12 guest. Suggested 40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the normal lane first: read-only-opened file, writable private mapping, private copy changes and backing file stays intact. Then trace the attack: target O_RDONLY, PROT_READ plus MAP_PRIVATE, one worker repeatedly writing its own /proc/self/mem and another repeatedly discarding mapping state with MADV_DONTNEED. The kernel's concurrent COW/page handling is the vulnerable boundary. pwrite's offset is a virtual address in this process; the program did not gain ordinary file-write permission. The diagram is conceptual, not a measured kernel trace. Suggested 50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actual environment: Ubuntu 12.04.2, i686/32-bit, kernel 3.5.0-37-generic, package 3.5.0-37.58~precise1 from linux-lts-quantal, seed UID 1000. The directory name Labs_20.04 does not change the official requirement for the old image. The programs were built on guest ext4 and remained seed-owned 0755; no Set-UID installation was used. Point to S04: root:root 0644, original digits and Permission denied. Its normal file protection works. These are recorded observations, with the actual full environment in S02. Suggested 45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already-prepared same Ubuntu terminal and LIVE_COMMANDS. Show id, permissions and the original file. Attempt the ordinary write, then run cow_control and reread the file/hash. Only after that baseline passes, run the supplied wrapper with the new label and 15-second limit. Describe the actual result and verify complete bytes/metadata. Do not promise a win. If this run times out or is partial, preserve it and show recorded S07 from 9 October, explicitly labelled recorded. The original fresh-t1-01 used a 30-second bound and measured 0 integer seconds; no finer time or kernel attempt count was measured. Return to slide 5. Suggested 90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clearly: this is recorded Task 2 evidence from 9 October. Charlie began at UID 1001 and GID 1002. The sole fresh-t2-01 race, run as seed, changed only the four-character UID field to 0000; all other file bytes and mode/owner stayed the same. The first authentication failed for an unestablished reason. The retry was another non-sudo su - charlie, followed by actual id, id -u = 0 and whoami root. The numeric UID is the privilege proof; GID remained 1002. The proof shell was exited before full restoration and a new UID-1001 login. Use backup slides 8/9 for the exact diff or restoration, or the labelled native-recording fallback if time allows. Suggested 50 seconds with the static proof; full video needs extra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all four allocation themes: patch the kernel and boot the fixed version; maintain a supported updated OS; limit unnecessary local accounts/untrusted code execution; monitor account integrity, unexpected numeric UID-0 entries and privileged sessions. Monitoring aids detection and does not repair COW. Standard target permissions were already restrictive. Member 5's symlink protection or removing unrelated Set-UID bits cannot fix this kernel bug. The optional patched comparison was not performed; discussion only. Our final full baseline and fresh UID-1001 login passed; no test shell/attacker or dummy remained, and evidence was exported before normal shutdown. Close with private changes must remain private. Suggested 60 seconds. Run LIVE_DEMO Part 3 after the live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if the new live race does not succeed or the lecturer asks for complete backing-file verification. S07 is an actual 9 October framebuffer excerpt. It shows the full before/after diff, fresh cat, root:root 0644 and 19 bytes, complete expected-byte comparison returning 0 and the original elapsed reading. The attacker was already stopped. This recorded result does not change or replace the outcome of a later live attempt.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both complete charlie lines in the diff: 1001 became 0000; the GID remains 1002 and other fields match. The verifier compared all 2040 bytes, not just this displayed line. Metadata remained root:root 0644. The numeric UID-0 query found root and charlie after the attack. Explain why a broad search for a number or a one-byte overwrite would be unsuitable, and why the actual original UID was discovered rather than assumed. The two original zero positions stay zero; four is the field width, not the number of necessarily different bytes.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S11, after proof shell PID 3392 had ended and been checked absent. The protected full-file comparison and original hash pass. A new non-sudo charlie login reports UID 1001, GID 1002 and whoami charlie, then exits to seed. Restoring a database does not revoke credentials already held by a process. S13 separately establishes no experiment/su/root shell, original root-only UID-0 list, absent dummy and ordinary binaries. Both transcripts and the final archive were closed and verified before shutdown.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Attribute the task/exploit pattern to Wenliang Du / SEED Labs, Copyright 2017, CC BY-NC-SA 4.0. The report includes the official task/source, historical VM manual, Linux memory-interface manuals, vendor CVE information and lecturer allocation. The four supplied C/build/trial files were unchanged. GPT-6 Astra through OpenCode helped with public guest command delivery, genuine captures, verification and document preparation; the user supplied host settings views and entered passwords interactively. The folder name does not identify the model used. No oral delivery or upload has occurred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5216" y="585216"/>
            <a:ext cx="128016" cy="54864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MEMBER 6 — ISSD"/>
          <p:cNvSpPr txBox="1"/>
          <p:nvPr/>
        </p:nvSpPr>
        <p:spPr>
          <a:xfrm>
            <a:off x="950976" y="658368"/>
            <a:ext cx="10058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600" b="1">
                <a:solidFill>
                  <a:srgbClr val="79DDD7"/>
                </a:solidFill>
                <a:latin typeface="Liberation Sans"/>
              </a:defRPr>
            </a:pPr>
            <a:r>
              <a:t>MEMBER 6 — ISSD</a:t>
            </a:r>
          </a:p>
        </p:txBody>
      </p:sp>
      <p:sp>
        <p:nvSpPr>
          <p:cNvPr id="4" name="Text: Private should stay private."/>
          <p:cNvSpPr txBox="1"/>
          <p:nvPr/>
        </p:nvSpPr>
        <p:spPr>
          <a:xfrm>
            <a:off x="941832" y="1472184"/>
            <a:ext cx="103784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4800" b="1">
                <a:solidFill>
                  <a:srgbClr val="FFFFFF"/>
                </a:solidFill>
                <a:latin typeface="Liberation Sans"/>
              </a:defRPr>
            </a:pPr>
            <a:r>
              <a:t>Private should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4800" b="1">
                <a:solidFill>
                  <a:srgbClr val="FFFFFF"/>
                </a:solidFill>
                <a:latin typeface="Liberation Sans"/>
              </a:defRPr>
            </a:pPr>
            <a:r>
              <a:t>stay private.</a:t>
            </a:r>
          </a:p>
        </p:txBody>
      </p:sp>
      <p:sp>
        <p:nvSpPr>
          <p:cNvPr id="5" name="Text: Dirty COW • CVE-2016-5195"/>
          <p:cNvSpPr txBox="1"/>
          <p:nvPr/>
        </p:nvSpPr>
        <p:spPr>
          <a:xfrm>
            <a:off x="969264" y="3383280"/>
            <a:ext cx="99669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2900" b="0">
                <a:solidFill>
                  <a:srgbClr val="FFFFFF"/>
                </a:solidFill>
                <a:latin typeface="Liberation Sans"/>
              </a:defRPr>
            </a:pPr>
            <a:r>
              <a:t>Dirty COW • CVE-2016-5195</a:t>
            </a:r>
          </a:p>
        </p:txBody>
      </p:sp>
      <p:sp>
        <p:nvSpPr>
          <p:cNvPr id="6" name="Text: A local kernel race that changed protected fi"/>
          <p:cNvSpPr txBox="1"/>
          <p:nvPr/>
        </p:nvSpPr>
        <p:spPr>
          <a:xfrm>
            <a:off x="978408" y="4142232"/>
            <a:ext cx="973836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2400" b="0">
                <a:solidFill>
                  <a:srgbClr val="DDE9F4"/>
                </a:solidFill>
                <a:latin typeface="Liberation Sans"/>
              </a:defRPr>
            </a:pPr>
            <a:r>
              <a:t>A local kernel race that changed protected file bytes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400" b="0">
                <a:solidFill>
                  <a:srgbClr val="DDE9F4"/>
                </a:solidFill>
                <a:latin typeface="Liberation Sans"/>
              </a:defRPr>
            </a:pPr>
            <a:r>
              <a:t>and enabled a fresh UID-0 login.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0976" y="5431536"/>
            <a:ext cx="10222992" cy="557784"/>
          </a:xfrm>
          <a:prstGeom prst="roundRect">
            <a:avLst>
              <a:gd name="adj" fmla="val 8000"/>
            </a:avLst>
          </a:prstGeom>
          <a:solidFill>
            <a:srgbClr val="203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COW  →  LIVE DUMMY DEMO  →  RECORDED ACCOUNT "/>
          <p:cNvSpPr txBox="1"/>
          <p:nvPr/>
        </p:nvSpPr>
        <p:spPr>
          <a:xfrm>
            <a:off x="1179576" y="5559552"/>
            <a:ext cx="972921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600" b="1">
                <a:solidFill>
                  <a:srgbClr val="8DE4DF"/>
                </a:solidFill>
                <a:latin typeface="Liberation Sans"/>
              </a:defRPr>
            </a:pPr>
            <a:r>
              <a:t>COW  →  LIVE DUMMY DEMO  →  RECORDED ACCOUNT PROOF  →  DEFENCES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09728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ISSD  /  MEMBER 6  /  MECHANISM"/>
          <p:cNvSpPr txBox="1"/>
          <p:nvPr/>
        </p:nvSpPr>
        <p:spPr>
          <a:xfrm>
            <a:off x="502920" y="283464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000" b="1">
                <a:solidFill>
                  <a:srgbClr val="087E8B"/>
                </a:solidFill>
                <a:latin typeface="Liberation Sans"/>
              </a:defRPr>
            </a:pPr>
            <a:r>
              <a:t>ISSD  /  MEMBER 6  /  MECHANISM</a:t>
            </a:r>
          </a:p>
        </p:txBody>
      </p:sp>
      <p:sp>
        <p:nvSpPr>
          <p:cNvPr id="4" name="Text: Where private isolation breaks"/>
          <p:cNvSpPr txBox="1"/>
          <p:nvPr/>
        </p:nvSpPr>
        <p:spPr>
          <a:xfrm>
            <a:off x="502920" y="694944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3200" b="1">
                <a:solidFill>
                  <a:srgbClr val="142A43"/>
                </a:solidFill>
                <a:latin typeface="Liberation Sans"/>
              </a:defRPr>
            </a:pPr>
            <a:r>
              <a:t>Where private isolation breaks</a:t>
            </a:r>
          </a:p>
        </p:txBody>
      </p:sp>
      <p:sp>
        <p:nvSpPr>
          <p:cNvPr id="5" name="Text: The control and the exploit use different mem"/>
          <p:cNvSpPr txBox="1"/>
          <p:nvPr/>
        </p:nvSpPr>
        <p:spPr>
          <a:xfrm>
            <a:off x="521207" y="1353312"/>
            <a:ext cx="1097280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700" b="0">
                <a:solidFill>
                  <a:srgbClr val="526175"/>
                </a:solidFill>
                <a:latin typeface="Liberation Sans"/>
              </a:defRPr>
            </a:pPr>
            <a:r>
              <a:t>The control and the exploit use different memory-write paths.</a:t>
            </a:r>
          </a:p>
        </p:txBody>
      </p:sp>
      <p:sp>
        <p:nvSpPr>
          <p:cNvPr id="6" name="Text: SEED Dirty COW • Wenliang Du / SEED Labs • Re"/>
          <p:cNvSpPr txBox="1"/>
          <p:nvPr/>
        </p:nvSpPr>
        <p:spPr>
          <a:xfrm>
            <a:off x="512064" y="6464808"/>
            <a:ext cx="1051560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900" b="0">
                <a:solidFill>
                  <a:srgbClr val="526175"/>
                </a:solidFill>
                <a:latin typeface="Liberation Sans"/>
              </a:defRPr>
            </a:pPr>
            <a:r>
              <a:t>SEED Dirty COW • Wenliang Du / SEED Labs • Recorded findings: 9 Oct 2026</a:t>
            </a:r>
          </a:p>
        </p:txBody>
      </p:sp>
      <p:sp>
        <p:nvSpPr>
          <p:cNvPr id="7" name="Text: 2"/>
          <p:cNvSpPr txBox="1"/>
          <p:nvPr/>
        </p:nvSpPr>
        <p:spPr>
          <a:xfrm>
            <a:off x="11155680" y="6419088"/>
            <a:ext cx="50292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200" b="1">
                <a:solidFill>
                  <a:srgbClr val="087E8B"/>
                </a:solidFill>
                <a:latin typeface="Liberation San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" y="2011680"/>
            <a:ext cx="5431536" cy="3447288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: Normal COW control"/>
          <p:cNvSpPr txBox="1"/>
          <p:nvPr/>
        </p:nvSpPr>
        <p:spPr>
          <a:xfrm>
            <a:off x="822960" y="2240280"/>
            <a:ext cx="491032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2700" b="1">
                <a:solidFill>
                  <a:srgbClr val="087E8B"/>
                </a:solidFill>
                <a:latin typeface="Liberation Sans"/>
              </a:defRPr>
            </a:pPr>
            <a:r>
              <a:t>Normal COW control</a:t>
            </a:r>
          </a:p>
        </p:txBody>
      </p:sp>
      <p:sp>
        <p:nvSpPr>
          <p:cNvPr id="10" name="Text: O_RDONLY file Writable MAP_PRIVATE mapping me"/>
          <p:cNvSpPr txBox="1"/>
          <p:nvPr/>
        </p:nvSpPr>
        <p:spPr>
          <a:xfrm>
            <a:off x="832104" y="2834640"/>
            <a:ext cx="4791456" cy="1426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2200" b="0">
                <a:solidFill>
                  <a:srgbClr val="152436"/>
                </a:solidFill>
                <a:latin typeface="Liberation Sans"/>
              </a:defRPr>
            </a:pPr>
            <a:r>
              <a:t>O_RDONLY file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200" b="0">
                <a:solidFill>
                  <a:srgbClr val="152436"/>
                </a:solidFill>
                <a:latin typeface="Liberation Sans"/>
              </a:defRPr>
            </a:pPr>
            <a:r>
              <a:t>Writable MAP_PRIVATE mapping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200" b="0">
                <a:solidFill>
                  <a:srgbClr val="152436"/>
                </a:solidFill>
                <a:latin typeface="Liberation Sans"/>
              </a:defRPr>
            </a:pPr>
            <a:r>
              <a:t>memcpy changes a private copy</a:t>
            </a:r>
          </a:p>
        </p:txBody>
      </p:sp>
      <p:sp>
        <p:nvSpPr>
          <p:cNvPr id="11" name="Text: Backing file unchanged"/>
          <p:cNvSpPr txBox="1"/>
          <p:nvPr/>
        </p:nvSpPr>
        <p:spPr>
          <a:xfrm>
            <a:off x="832104" y="4690872"/>
            <a:ext cx="4818888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2400" b="1">
                <a:solidFill>
                  <a:srgbClr val="087E8B"/>
                </a:solidFill>
                <a:latin typeface="Liberation Sans"/>
              </a:defRPr>
            </a:pPr>
            <a:r>
              <a:t>Backing file unchanged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011680"/>
            <a:ext cx="5422392" cy="3447288"/>
          </a:xfrm>
          <a:prstGeom prst="roundRect">
            <a:avLst>
              <a:gd name="adj" fmla="val 8000"/>
            </a:avLst>
          </a:prstGeom>
          <a:solidFill>
            <a:srgbClr val="14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Dirty COW race"/>
          <p:cNvSpPr txBox="1"/>
          <p:nvPr/>
        </p:nvSpPr>
        <p:spPr>
          <a:xfrm>
            <a:off x="6483096" y="2240280"/>
            <a:ext cx="491947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2700" b="1">
                <a:solidFill>
                  <a:srgbClr val="8DE4DF"/>
                </a:solidFill>
                <a:latin typeface="Liberation Sans"/>
              </a:defRPr>
            </a:pPr>
            <a:r>
              <a:t>Dirty COW race</a:t>
            </a:r>
          </a:p>
        </p:txBody>
      </p:sp>
      <p:sp>
        <p:nvSpPr>
          <p:cNvPr id="14" name="Text: O_RDONLY + read-only MAP_PRIVATE Writer: pwri"/>
          <p:cNvSpPr txBox="1"/>
          <p:nvPr/>
        </p:nvSpPr>
        <p:spPr>
          <a:xfrm>
            <a:off x="6492240" y="2834640"/>
            <a:ext cx="4791456" cy="1453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2100" b="0">
                <a:solidFill>
                  <a:srgbClr val="FFFFFF"/>
                </a:solidFill>
                <a:latin typeface="Liberation Sans"/>
              </a:defRPr>
            </a:pPr>
            <a:r>
              <a:t>O_RDONLY + read-only MAP_PRIVATE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100" b="0">
                <a:solidFill>
                  <a:srgbClr val="FFFFFF"/>
                </a:solidFill>
                <a:latin typeface="Liberation Sans"/>
              </a:defRPr>
            </a:pPr>
            <a:r>
              <a:t>Writer: pwrite to /proc/self/mem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100" b="0">
                <a:solidFill>
                  <a:srgbClr val="FFFFFF"/>
                </a:solidFill>
                <a:latin typeface="Liberation Sans"/>
              </a:defRPr>
            </a:pPr>
            <a:r>
              <a:t>Discard: MADV_DONTNEED</a:t>
            </a:r>
          </a:p>
        </p:txBody>
      </p:sp>
      <p:sp>
        <p:nvSpPr>
          <p:cNvPr id="15" name="Text: Vulnerable kernel → file changes"/>
          <p:cNvSpPr txBox="1"/>
          <p:nvPr/>
        </p:nvSpPr>
        <p:spPr>
          <a:xfrm>
            <a:off x="6492240" y="4690872"/>
            <a:ext cx="480974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2200" b="1">
                <a:solidFill>
                  <a:srgbClr val="F6CE84"/>
                </a:solidFill>
                <a:latin typeface="Liberation Sans"/>
              </a:defRPr>
            </a:pPr>
            <a:r>
              <a:t>Vulnerable kernel → file changes</a:t>
            </a:r>
          </a:p>
        </p:txBody>
      </p:sp>
      <p:sp>
        <p:nvSpPr>
          <p:cNvPr id="16" name="Text: pwrite uses a virtual process address. The ra"/>
          <p:cNvSpPr txBox="1"/>
          <p:nvPr/>
        </p:nvSpPr>
        <p:spPr>
          <a:xfrm>
            <a:off x="749808" y="5788152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800" b="0">
                <a:solidFill>
                  <a:srgbClr val="526175"/>
                </a:solidFill>
                <a:latin typeface="Liberation Sans"/>
              </a:defRPr>
            </a:pPr>
            <a:r>
              <a:t>pwrite uses a virtual process address. The race is inside kernel COW/page handling.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09728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ISSD  /  MEMBER 6  /  ENVIRONMENT"/>
          <p:cNvSpPr txBox="1"/>
          <p:nvPr/>
        </p:nvSpPr>
        <p:spPr>
          <a:xfrm>
            <a:off x="502920" y="283464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000" b="1">
                <a:solidFill>
                  <a:srgbClr val="087E8B"/>
                </a:solidFill>
                <a:latin typeface="Liberation Sans"/>
              </a:defRPr>
            </a:pPr>
            <a:r>
              <a:t>ISSD  /  MEMBER 6  /  ENVIRONMENT</a:t>
            </a:r>
          </a:p>
        </p:txBody>
      </p:sp>
      <p:sp>
        <p:nvSpPr>
          <p:cNvPr id="4" name="Text: Normal file permissions were already restrict"/>
          <p:cNvSpPr txBox="1"/>
          <p:nvPr/>
        </p:nvSpPr>
        <p:spPr>
          <a:xfrm>
            <a:off x="502920" y="694944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3200" b="1">
                <a:solidFill>
                  <a:srgbClr val="142A43"/>
                </a:solidFill>
                <a:latin typeface="Liberation Sans"/>
              </a:defRPr>
            </a:pPr>
            <a:r>
              <a:t>Normal file permissions were already restrictive</a:t>
            </a:r>
          </a:p>
        </p:txBody>
      </p:sp>
      <p:sp>
        <p:nvSpPr>
          <p:cNvPr id="5" name="Text: Recorded environment: Ubuntu 12.04.2 • i686 /"/>
          <p:cNvSpPr txBox="1"/>
          <p:nvPr/>
        </p:nvSpPr>
        <p:spPr>
          <a:xfrm>
            <a:off x="521207" y="1353312"/>
            <a:ext cx="1097280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700" b="0">
                <a:solidFill>
                  <a:srgbClr val="526175"/>
                </a:solidFill>
                <a:latin typeface="Liberation Sans"/>
              </a:defRPr>
            </a:pPr>
            <a:r>
              <a:t>Recorded environment: Ubuntu 12.04.2 • i686 / 32-bit • kernel 3.5.0-37-generic</a:t>
            </a:r>
          </a:p>
        </p:txBody>
      </p:sp>
      <p:sp>
        <p:nvSpPr>
          <p:cNvPr id="6" name="Text: SEED Dirty COW • Wenliang Du / SEED Labs • Re"/>
          <p:cNvSpPr txBox="1"/>
          <p:nvPr/>
        </p:nvSpPr>
        <p:spPr>
          <a:xfrm>
            <a:off x="512064" y="6464808"/>
            <a:ext cx="1051560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900" b="0">
                <a:solidFill>
                  <a:srgbClr val="526175"/>
                </a:solidFill>
                <a:latin typeface="Liberation Sans"/>
              </a:defRPr>
            </a:pPr>
            <a:r>
              <a:t>SEED Dirty COW • Wenliang Du / SEED Labs • Recorded findings: 9 Oct 2026</a:t>
            </a:r>
          </a:p>
        </p:txBody>
      </p:sp>
      <p:sp>
        <p:nvSpPr>
          <p:cNvPr id="7" name="Text: 3"/>
          <p:cNvSpPr txBox="1"/>
          <p:nvPr/>
        </p:nvSpPr>
        <p:spPr>
          <a:xfrm>
            <a:off x="11155680" y="6419088"/>
            <a:ext cx="50292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200" b="1">
                <a:solidFill>
                  <a:srgbClr val="087E8B"/>
                </a:solidFill>
                <a:latin typeface="Liberation Sans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" y="1947672"/>
            <a:ext cx="11009376" cy="594360"/>
          </a:xfrm>
          <a:prstGeom prst="roundRect">
            <a:avLst>
              <a:gd name="adj" fmla="val 8000"/>
            </a:avLst>
          </a:prstGeom>
          <a:solidFill>
            <a:srgbClr val="14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: seed UID 1000   |   root:root 0644 target   |"/>
          <p:cNvSpPr txBox="1"/>
          <p:nvPr/>
        </p:nvSpPr>
        <p:spPr>
          <a:xfrm>
            <a:off x="786384" y="2093976"/>
            <a:ext cx="10570464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900" b="1">
                <a:solidFill>
                  <a:srgbClr val="FFFFFF"/>
                </a:solidFill>
                <a:latin typeface="Liberation Sans"/>
              </a:defRPr>
            </a:pPr>
            <a:r>
              <a:t>seed UID 1000   |   root:root 0644 target   |   seed-owned 0755 binaries   |   native ext4</a:t>
            </a:r>
          </a:p>
        </p:txBody>
      </p:sp>
      <p:pic>
        <p:nvPicPr>
          <p:cNvPr id="10" name="Picture 9" descr="report-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770632"/>
            <a:ext cx="10799064" cy="3121116"/>
          </a:xfrm>
          <a:prstGeom prst="rect">
            <a:avLst/>
          </a:prstGeom>
        </p:spPr>
      </p:pic>
      <p:sp>
        <p:nvSpPr>
          <p:cNvPr id="11" name="Text: Actual S04 excerpt. Package: 3.5.0-37.58~prec"/>
          <p:cNvSpPr txBox="1"/>
          <p:nvPr/>
        </p:nvSpPr>
        <p:spPr>
          <a:xfrm>
            <a:off x="758952" y="6044184"/>
            <a:ext cx="10652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300" b="0">
                <a:solidFill>
                  <a:srgbClr val="526175"/>
                </a:solidFill>
                <a:latin typeface="Liberation Sans"/>
              </a:defRPr>
            </a:pPr>
            <a:r>
              <a:t>Actual S04 excerpt. Package: 3.5.0-37.58~precise1 / linux-lts-quantal. No Set-UID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09728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ISSD  /  MEMBER 6  /  LIVE DEMO"/>
          <p:cNvSpPr txBox="1"/>
          <p:nvPr/>
        </p:nvSpPr>
        <p:spPr>
          <a:xfrm>
            <a:off x="502920" y="283464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000" b="1">
                <a:solidFill>
                  <a:srgbClr val="087E8B"/>
                </a:solidFill>
                <a:latin typeface="Liberation Sans"/>
              </a:defRPr>
            </a:pPr>
            <a:r>
              <a:t>ISSD  /  MEMBER 6  /  LIVE DEMO</a:t>
            </a:r>
          </a:p>
        </p:txBody>
      </p:sp>
      <p:sp>
        <p:nvSpPr>
          <p:cNvPr id="4" name="Text: Switch to the live dummy demonstration"/>
          <p:cNvSpPr txBox="1"/>
          <p:nvPr/>
        </p:nvSpPr>
        <p:spPr>
          <a:xfrm>
            <a:off x="502920" y="694944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3200" b="1">
                <a:solidFill>
                  <a:srgbClr val="142A43"/>
                </a:solidFill>
                <a:latin typeface="Liberation Sans"/>
              </a:defRPr>
            </a:pPr>
            <a:r>
              <a:t>Switch to the live dummy demonstration</a:t>
            </a:r>
          </a:p>
        </p:txBody>
      </p:sp>
      <p:sp>
        <p:nvSpPr>
          <p:cNvPr id="5" name="Text: Prepare Part 0 first. Use the same guest term"/>
          <p:cNvSpPr txBox="1"/>
          <p:nvPr/>
        </p:nvSpPr>
        <p:spPr>
          <a:xfrm>
            <a:off x="521207" y="1353312"/>
            <a:ext cx="1097280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700" b="0">
                <a:solidFill>
                  <a:srgbClr val="526175"/>
                </a:solidFill>
                <a:latin typeface="Liberation Sans"/>
              </a:defRPr>
            </a:pPr>
            <a:r>
              <a:t>Prepare Part 0 first. Use the same guest terminal and a new run label.</a:t>
            </a:r>
          </a:p>
        </p:txBody>
      </p:sp>
      <p:sp>
        <p:nvSpPr>
          <p:cNvPr id="6" name="Text: SEED Dirty COW • Wenliang Du / SEED Labs • Re"/>
          <p:cNvSpPr txBox="1"/>
          <p:nvPr/>
        </p:nvSpPr>
        <p:spPr>
          <a:xfrm>
            <a:off x="512064" y="6464808"/>
            <a:ext cx="1051560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900" b="0">
                <a:solidFill>
                  <a:srgbClr val="526175"/>
                </a:solidFill>
                <a:latin typeface="Liberation Sans"/>
              </a:defRPr>
            </a:pPr>
            <a:r>
              <a:t>SEED Dirty COW • Wenliang Du / SEED Labs • Recorded findings: 9 Oct 2026</a:t>
            </a:r>
          </a:p>
        </p:txBody>
      </p:sp>
      <p:sp>
        <p:nvSpPr>
          <p:cNvPr id="7" name="Text: 4"/>
          <p:cNvSpPr txBox="1"/>
          <p:nvPr/>
        </p:nvSpPr>
        <p:spPr>
          <a:xfrm>
            <a:off x="11155680" y="6419088"/>
            <a:ext cx="50292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200" b="1">
                <a:solidFill>
                  <a:srgbClr val="087E8B"/>
                </a:solidFill>
                <a:latin typeface="Liberation Sans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2075688"/>
            <a:ext cx="3575304" cy="2459736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: 1  Protection"/>
          <p:cNvSpPr txBox="1"/>
          <p:nvPr/>
        </p:nvSpPr>
        <p:spPr>
          <a:xfrm>
            <a:off x="804672" y="2322576"/>
            <a:ext cx="313639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2500" b="1">
                <a:solidFill>
                  <a:srgbClr val="087E8B"/>
                </a:solidFill>
                <a:latin typeface="Liberation Sans"/>
              </a:defRPr>
            </a:pPr>
            <a:r>
              <a:t>1  Protection</a:t>
            </a:r>
          </a:p>
        </p:txBody>
      </p:sp>
      <p:sp>
        <p:nvSpPr>
          <p:cNvPr id="10" name="Text: id • permissions • original file Ordinary wri"/>
          <p:cNvSpPr txBox="1"/>
          <p:nvPr/>
        </p:nvSpPr>
        <p:spPr>
          <a:xfrm>
            <a:off x="804672" y="3017520"/>
            <a:ext cx="3099816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2100" b="0">
                <a:solidFill>
                  <a:srgbClr val="152436"/>
                </a:solidFill>
                <a:latin typeface="Liberation Sans"/>
              </a:defRPr>
            </a:pPr>
            <a:r>
              <a:t>id • permissions • original file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100" b="0">
                <a:solidFill>
                  <a:srgbClr val="152436"/>
                </a:solidFill>
                <a:latin typeface="Liberation Sans"/>
              </a:defRPr>
            </a:pPr>
            <a:r>
              <a:t>Ordinary write should be denied.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2075688"/>
            <a:ext cx="3575304" cy="2459736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2  Normal COW"/>
          <p:cNvSpPr txBox="1"/>
          <p:nvPr/>
        </p:nvSpPr>
        <p:spPr>
          <a:xfrm>
            <a:off x="4617720" y="2322576"/>
            <a:ext cx="313639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2500" b="1">
                <a:solidFill>
                  <a:srgbClr val="087E8B"/>
                </a:solidFill>
                <a:latin typeface="Liberation Sans"/>
              </a:defRPr>
            </a:pPr>
            <a:r>
              <a:t>2  Normal COW</a:t>
            </a:r>
          </a:p>
        </p:txBody>
      </p:sp>
      <p:sp>
        <p:nvSpPr>
          <p:cNvPr id="13" name="Text: ./cow_control Private stars; backing file ori"/>
          <p:cNvSpPr txBox="1"/>
          <p:nvPr/>
        </p:nvSpPr>
        <p:spPr>
          <a:xfrm>
            <a:off x="4617720" y="3017520"/>
            <a:ext cx="3099816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2100" b="0">
                <a:solidFill>
                  <a:srgbClr val="152436"/>
                </a:solidFill>
                <a:latin typeface="Liberation Sans"/>
              </a:defRPr>
            </a:pPr>
            <a:r>
              <a:t>./cow_control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100" b="0">
                <a:solidFill>
                  <a:srgbClr val="152436"/>
                </a:solidFill>
                <a:latin typeface="Liberation Sans"/>
              </a:defRPr>
            </a:pPr>
            <a:r>
              <a:t>Private stars; backing file original.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11312" y="2075688"/>
            <a:ext cx="3575304" cy="2459736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3  Bounded race"/>
          <p:cNvSpPr txBox="1"/>
          <p:nvPr/>
        </p:nvSpPr>
        <p:spPr>
          <a:xfrm>
            <a:off x="8430768" y="2322576"/>
            <a:ext cx="313639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2500" b="1">
                <a:solidFill>
                  <a:srgbClr val="087E8B"/>
                </a:solidFill>
                <a:latin typeface="Liberation Sans"/>
              </a:defRPr>
            </a:pPr>
            <a:r>
              <a:t>3  Bounded race</a:t>
            </a:r>
          </a:p>
        </p:txBody>
      </p:sp>
      <p:sp>
        <p:nvSpPr>
          <p:cNvPr id="16" name="Text: 15-second classroom trial Read and verify the"/>
          <p:cNvSpPr txBox="1"/>
          <p:nvPr/>
        </p:nvSpPr>
        <p:spPr>
          <a:xfrm>
            <a:off x="8430768" y="3017520"/>
            <a:ext cx="3099816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2100" b="0">
                <a:solidFill>
                  <a:srgbClr val="152436"/>
                </a:solidFill>
                <a:latin typeface="Liberation Sans"/>
              </a:defRPr>
            </a:pPr>
            <a:r>
              <a:t>15-second classroom trial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100" b="0">
                <a:solidFill>
                  <a:srgbClr val="152436"/>
                </a:solidFill>
                <a:latin typeface="Liberation Sans"/>
              </a:defRPr>
            </a:pPr>
            <a:r>
              <a:t>Read and verify the whole file.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928616"/>
            <a:ext cx="10963656" cy="603504"/>
          </a:xfrm>
          <a:prstGeom prst="roundRect">
            <a:avLst>
              <a:gd name="adj" fmla="val 8000"/>
            </a:avLst>
          </a:prstGeom>
          <a:solidFill>
            <a:srgbClr val="14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bash run_trial.sh dummy 15 &quot;$RUN&quot;"/>
          <p:cNvSpPr txBox="1"/>
          <p:nvPr/>
        </p:nvSpPr>
        <p:spPr>
          <a:xfrm>
            <a:off x="877824" y="5084064"/>
            <a:ext cx="103967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2400" b="0">
                <a:solidFill>
                  <a:srgbClr val="FFFFFF"/>
                </a:solidFill>
                <a:latin typeface="Liberation Mono"/>
              </a:defRPr>
            </a:pPr>
            <a:r>
              <a:t>bash run_trial.sh dummy 15 "$RUN"</a:t>
            </a:r>
          </a:p>
        </p:txBody>
      </p:sp>
      <p:sp>
        <p:nvSpPr>
          <p:cNvPr id="19" name="Text: Timing miss? Preserve it and show recorded S0"/>
          <p:cNvSpPr txBox="1"/>
          <p:nvPr/>
        </p:nvSpPr>
        <p:spPr>
          <a:xfrm>
            <a:off x="768096" y="5806440"/>
            <a:ext cx="1071676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600" b="0">
                <a:solidFill>
                  <a:srgbClr val="526175"/>
                </a:solidFill>
                <a:latin typeface="Liberation Sans"/>
              </a:defRPr>
            </a:pPr>
            <a:r>
              <a:t>Timing miss? Preserve it and show recorded S07: exact success, 0 integer seconds / 30-second bound.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09728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ISSD  /  MEMBER 6  /  ACCOUNT IMPACT"/>
          <p:cNvSpPr txBox="1"/>
          <p:nvPr/>
        </p:nvSpPr>
        <p:spPr>
          <a:xfrm>
            <a:off x="502920" y="283464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000" b="1">
                <a:solidFill>
                  <a:srgbClr val="087E8B"/>
                </a:solidFill>
                <a:latin typeface="Liberation Sans"/>
              </a:defRPr>
            </a:pPr>
            <a:r>
              <a:t>ISSD  /  MEMBER 6  /  ACCOUNT IMPACT</a:t>
            </a:r>
          </a:p>
        </p:txBody>
      </p:sp>
      <p:sp>
        <p:nvSpPr>
          <p:cNvPr id="4" name="Text: Recorded file change → fresh UID-0 login"/>
          <p:cNvSpPr txBox="1"/>
          <p:nvPr/>
        </p:nvSpPr>
        <p:spPr>
          <a:xfrm>
            <a:off x="502920" y="694944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3200" b="1">
                <a:solidFill>
                  <a:srgbClr val="142A43"/>
                </a:solidFill>
                <a:latin typeface="Liberation Sans"/>
              </a:defRPr>
            </a:pPr>
            <a:r>
              <a:t>Recorded file change → fresh UID-0 login</a:t>
            </a:r>
          </a:p>
        </p:txBody>
      </p:sp>
      <p:sp>
        <p:nvSpPr>
          <p:cNvPr id="5" name="Text: Task 2: only charlie’s UID field changed. All"/>
          <p:cNvSpPr txBox="1"/>
          <p:nvPr/>
        </p:nvSpPr>
        <p:spPr>
          <a:xfrm>
            <a:off x="521207" y="1353312"/>
            <a:ext cx="1097280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700" b="0">
                <a:solidFill>
                  <a:srgbClr val="526175"/>
                </a:solidFill>
                <a:latin typeface="Liberation Sans"/>
              </a:defRPr>
            </a:pPr>
            <a:r>
              <a:t>Task 2: only charlie’s UID field changed. All other bytes and root:root 0644 were retained.</a:t>
            </a:r>
          </a:p>
        </p:txBody>
      </p:sp>
      <p:sp>
        <p:nvSpPr>
          <p:cNvPr id="6" name="Text: SEED Dirty COW • Wenliang Du / SEED Labs • Re"/>
          <p:cNvSpPr txBox="1"/>
          <p:nvPr/>
        </p:nvSpPr>
        <p:spPr>
          <a:xfrm>
            <a:off x="512064" y="6464808"/>
            <a:ext cx="1051560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900" b="0">
                <a:solidFill>
                  <a:srgbClr val="526175"/>
                </a:solidFill>
                <a:latin typeface="Liberation Sans"/>
              </a:defRPr>
            </a:pPr>
            <a:r>
              <a:t>SEED Dirty COW • Wenliang Du / SEED Labs • Recorded findings: 9 Oct 2026</a:t>
            </a:r>
          </a:p>
        </p:txBody>
      </p:sp>
      <p:sp>
        <p:nvSpPr>
          <p:cNvPr id="7" name="Text: 5"/>
          <p:cNvSpPr txBox="1"/>
          <p:nvPr/>
        </p:nvSpPr>
        <p:spPr>
          <a:xfrm>
            <a:off x="11155680" y="6419088"/>
            <a:ext cx="50292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200" b="1">
                <a:solidFill>
                  <a:srgbClr val="087E8B"/>
                </a:solidFill>
                <a:latin typeface="Liberation Sans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965960"/>
            <a:ext cx="10972800" cy="521207"/>
          </a:xfrm>
          <a:prstGeom prst="roundRect">
            <a:avLst>
              <a:gd name="adj" fmla="val 8000"/>
            </a:avLst>
          </a:prstGeom>
          <a:solidFill>
            <a:srgbClr val="14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: Original UID 1001   →   field 0000   →   fres"/>
          <p:cNvSpPr txBox="1"/>
          <p:nvPr/>
        </p:nvSpPr>
        <p:spPr>
          <a:xfrm>
            <a:off x="868680" y="2084831"/>
            <a:ext cx="103967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900" b="1">
                <a:solidFill>
                  <a:srgbClr val="FFFFFF"/>
                </a:solidFill>
                <a:latin typeface="Liberation Sans"/>
              </a:defRPr>
            </a:pPr>
            <a:r>
              <a:t>Original UID 1001   →   field 0000   →   fresh non-sudo login: UID 0   |   GID stays 1002</a:t>
            </a:r>
          </a:p>
        </p:txBody>
      </p:sp>
      <p:pic>
        <p:nvPicPr>
          <p:cNvPr id="10" name="Picture 9" descr="slide-S10-pro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255" y="2715768"/>
            <a:ext cx="8605008" cy="3099816"/>
          </a:xfrm>
          <a:prstGeom prst="rect">
            <a:avLst/>
          </a:prstGeom>
        </p:spPr>
      </p:pic>
      <p:sp>
        <p:nvSpPr>
          <p:cNvPr id="11" name="Text: S10 excerpt, 9 Oct 2026. First authentication"/>
          <p:cNvSpPr txBox="1"/>
          <p:nvPr/>
        </p:nvSpPr>
        <p:spPr>
          <a:xfrm>
            <a:off x="768096" y="6007608"/>
            <a:ext cx="1071676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300" b="0">
                <a:solidFill>
                  <a:srgbClr val="526175"/>
                </a:solidFill>
                <a:latin typeface="Liberation Sans"/>
              </a:defRPr>
            </a:pPr>
            <a:r>
              <a:t>S10 excerpt, 9 Oct 2026. First authentication failed; retry succeeded. Full original and recordings retained.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09728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ISSD  /  MEMBER 6  /  DEFENCES"/>
          <p:cNvSpPr txBox="1"/>
          <p:nvPr/>
        </p:nvSpPr>
        <p:spPr>
          <a:xfrm>
            <a:off x="502920" y="283464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000" b="1">
                <a:solidFill>
                  <a:srgbClr val="087E8B"/>
                </a:solidFill>
                <a:latin typeface="Liberation Sans"/>
              </a:defRPr>
            </a:pPr>
            <a:r>
              <a:t>ISSD  /  MEMBER 6  /  DEFENCES</a:t>
            </a:r>
          </a:p>
        </p:txBody>
      </p:sp>
      <p:sp>
        <p:nvSpPr>
          <p:cNvPr id="4" name="Text: Fix the kernel; verify the restored state"/>
          <p:cNvSpPr txBox="1"/>
          <p:nvPr/>
        </p:nvSpPr>
        <p:spPr>
          <a:xfrm>
            <a:off x="502920" y="694944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3200" b="1">
                <a:solidFill>
                  <a:srgbClr val="142A43"/>
                </a:solidFill>
                <a:latin typeface="Liberation Sans"/>
              </a:defRPr>
            </a:pPr>
            <a:r>
              <a:t>Fix the kernel; verify the restored state</a:t>
            </a:r>
          </a:p>
        </p:txBody>
      </p:sp>
      <p:sp>
        <p:nvSpPr>
          <p:cNvPr id="5" name="Text: All four required countermeasure themes. Opti"/>
          <p:cNvSpPr txBox="1"/>
          <p:nvPr/>
        </p:nvSpPr>
        <p:spPr>
          <a:xfrm>
            <a:off x="521207" y="1353312"/>
            <a:ext cx="1097280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700" b="0">
                <a:solidFill>
                  <a:srgbClr val="526175"/>
                </a:solidFill>
                <a:latin typeface="Liberation Sans"/>
              </a:defRPr>
            </a:pPr>
            <a:r>
              <a:t>All four required countermeasure themes. Optional patched comparison: not performed; discussion only.</a:t>
            </a:r>
          </a:p>
        </p:txBody>
      </p:sp>
      <p:sp>
        <p:nvSpPr>
          <p:cNvPr id="6" name="Text: SEED Dirty COW • Wenliang Du / SEED Labs • Re"/>
          <p:cNvSpPr txBox="1"/>
          <p:nvPr/>
        </p:nvSpPr>
        <p:spPr>
          <a:xfrm>
            <a:off x="512064" y="6464808"/>
            <a:ext cx="1051560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900" b="0">
                <a:solidFill>
                  <a:srgbClr val="526175"/>
                </a:solidFill>
                <a:latin typeface="Liberation Sans"/>
              </a:defRPr>
            </a:pPr>
            <a:r>
              <a:t>SEED Dirty COW • Wenliang Du / SEED Labs • Recorded findings: 9 Oct 2026</a:t>
            </a:r>
          </a:p>
        </p:txBody>
      </p:sp>
      <p:sp>
        <p:nvSpPr>
          <p:cNvPr id="7" name="Text: 6"/>
          <p:cNvSpPr txBox="1"/>
          <p:nvPr/>
        </p:nvSpPr>
        <p:spPr>
          <a:xfrm>
            <a:off x="11155680" y="6419088"/>
            <a:ext cx="50292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200" b="1">
                <a:solidFill>
                  <a:srgbClr val="087E8B"/>
                </a:solidFill>
                <a:latin typeface="Liberation Sans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048256"/>
            <a:ext cx="5266944" cy="1426464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: Patch the kernel"/>
          <p:cNvSpPr txBox="1"/>
          <p:nvPr/>
        </p:nvSpPr>
        <p:spPr>
          <a:xfrm>
            <a:off x="832104" y="2212848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2400" b="1">
                <a:solidFill>
                  <a:srgbClr val="087E8B"/>
                </a:solidFill>
                <a:latin typeface="Liberation Sans"/>
              </a:defRPr>
            </a:pPr>
            <a:r>
              <a:t>Patch the kernel</a:t>
            </a:r>
          </a:p>
        </p:txBody>
      </p:sp>
      <p:sp>
        <p:nvSpPr>
          <p:cNvPr id="10" name="Text: Install the vendor fix and confirm the fixed "/>
          <p:cNvSpPr txBox="1"/>
          <p:nvPr/>
        </p:nvSpPr>
        <p:spPr>
          <a:xfrm>
            <a:off x="832104" y="2651760"/>
            <a:ext cx="4764024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900" b="0">
                <a:solidFill>
                  <a:srgbClr val="152436"/>
                </a:solidFill>
                <a:latin typeface="Liberation Sans"/>
              </a:defRPr>
            </a:pPr>
            <a:r>
              <a:t>Install the vendor fix and confirm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900" b="0">
                <a:solidFill>
                  <a:srgbClr val="152436"/>
                </a:solidFill>
                <a:latin typeface="Liberation Sans"/>
              </a:defRPr>
            </a:pPr>
            <a:r>
              <a:t>the fixed kernel is actually booted.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18504" y="2048256"/>
            <a:ext cx="5266944" cy="1426464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Maintain updates"/>
          <p:cNvSpPr txBox="1"/>
          <p:nvPr/>
        </p:nvSpPr>
        <p:spPr>
          <a:xfrm>
            <a:off x="6537960" y="2212848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2400" b="1">
                <a:solidFill>
                  <a:srgbClr val="087E8B"/>
                </a:solidFill>
                <a:latin typeface="Liberation Sans"/>
              </a:defRPr>
            </a:pPr>
            <a:r>
              <a:t>Maintain updates</a:t>
            </a:r>
          </a:p>
        </p:txBody>
      </p:sp>
      <p:sp>
        <p:nvSpPr>
          <p:cNvPr id="13" name="Text: Use a supported OS and track package-family b"/>
          <p:cNvSpPr txBox="1"/>
          <p:nvPr/>
        </p:nvSpPr>
        <p:spPr>
          <a:xfrm>
            <a:off x="6537960" y="2651760"/>
            <a:ext cx="4764024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900" b="0">
                <a:solidFill>
                  <a:srgbClr val="152436"/>
                </a:solidFill>
                <a:latin typeface="Liberation Sans"/>
              </a:defRPr>
            </a:pPr>
            <a:r>
              <a:t>Use a supported OS and track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900" b="0">
                <a:solidFill>
                  <a:srgbClr val="152436"/>
                </a:solidFill>
                <a:latin typeface="Liberation Sans"/>
              </a:defRPr>
            </a:pPr>
            <a:r>
              <a:t>package-family backports.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3621024"/>
            <a:ext cx="5266944" cy="1426464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Limit local execution"/>
          <p:cNvSpPr txBox="1"/>
          <p:nvPr/>
        </p:nvSpPr>
        <p:spPr>
          <a:xfrm>
            <a:off x="832104" y="3785615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2400" b="1">
                <a:solidFill>
                  <a:srgbClr val="087E8B"/>
                </a:solidFill>
                <a:latin typeface="Liberation Sans"/>
              </a:defRPr>
            </a:pPr>
            <a:r>
              <a:t>Limit local execution</a:t>
            </a:r>
          </a:p>
        </p:txBody>
      </p:sp>
      <p:sp>
        <p:nvSpPr>
          <p:cNvPr id="16" name="Text: Reduce unnecessary local access and untrusted"/>
          <p:cNvSpPr txBox="1"/>
          <p:nvPr/>
        </p:nvSpPr>
        <p:spPr>
          <a:xfrm>
            <a:off x="832104" y="4224528"/>
            <a:ext cx="4764024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900" b="0">
                <a:solidFill>
                  <a:srgbClr val="152436"/>
                </a:solidFill>
                <a:latin typeface="Liberation Sans"/>
              </a:defRPr>
            </a:pPr>
            <a:r>
              <a:t>Reduce unnecessary local access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900" b="0">
                <a:solidFill>
                  <a:srgbClr val="152436"/>
                </a:solidFill>
                <a:latin typeface="Liberation Sans"/>
              </a:defRPr>
            </a:pPr>
            <a:r>
              <a:t>and untrusted code execution.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18504" y="3621024"/>
            <a:ext cx="5266944" cy="1426464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Monitor escalation"/>
          <p:cNvSpPr txBox="1"/>
          <p:nvPr/>
        </p:nvSpPr>
        <p:spPr>
          <a:xfrm>
            <a:off x="6537960" y="3785615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2400" b="1">
                <a:solidFill>
                  <a:srgbClr val="087E8B"/>
                </a:solidFill>
                <a:latin typeface="Liberation Sans"/>
              </a:defRPr>
            </a:pPr>
            <a:r>
              <a:t>Monitor escalation</a:t>
            </a:r>
          </a:p>
        </p:txBody>
      </p:sp>
      <p:sp>
        <p:nvSpPr>
          <p:cNvPr id="19" name="Text: Check account integrity, numeric UID-0 entrie"/>
          <p:cNvSpPr txBox="1"/>
          <p:nvPr/>
        </p:nvSpPr>
        <p:spPr>
          <a:xfrm>
            <a:off x="6537960" y="4224528"/>
            <a:ext cx="4764024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900" b="0">
                <a:solidFill>
                  <a:srgbClr val="152436"/>
                </a:solidFill>
                <a:latin typeface="Liberation Sans"/>
              </a:defRPr>
            </a:pPr>
            <a:r>
              <a:t>Check account integrity, numeric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900" b="0">
                <a:solidFill>
                  <a:srgbClr val="152436"/>
                </a:solidFill>
                <a:latin typeface="Liberation Sans"/>
              </a:defRPr>
            </a:pPr>
            <a:r>
              <a:t>UID-0 entries and privileged sessions.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" y="5431536"/>
            <a:ext cx="10936224" cy="694944"/>
          </a:xfrm>
          <a:prstGeom prst="roundRect">
            <a:avLst>
              <a:gd name="adj" fmla="val 8000"/>
            </a:avLst>
          </a:prstGeom>
          <a:solidFill>
            <a:srgbClr val="14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Verified afterward: old root shell ended • ex"/>
          <p:cNvSpPr txBox="1"/>
          <p:nvPr/>
        </p:nvSpPr>
        <p:spPr>
          <a:xfrm>
            <a:off x="850392" y="5605272"/>
            <a:ext cx="104333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Verified afterward: old root shell ended • exact baseline • new UID 1001 login • cleanup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09728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ISSD  /  MEMBER 6  /  BACKUP — DUMMY RESULT"/>
          <p:cNvSpPr txBox="1"/>
          <p:nvPr/>
        </p:nvSpPr>
        <p:spPr>
          <a:xfrm>
            <a:off x="502920" y="283464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000" b="1">
                <a:solidFill>
                  <a:srgbClr val="087E8B"/>
                </a:solidFill>
                <a:latin typeface="Liberation Sans"/>
              </a:defRPr>
            </a:pPr>
            <a:r>
              <a:t>ISSD  /  MEMBER 6  /  BACKUP — DUMMY RESULT</a:t>
            </a:r>
          </a:p>
        </p:txBody>
      </p:sp>
      <p:sp>
        <p:nvSpPr>
          <p:cNvPr id="4" name="Text: Recorded Task 1: the actual backing file chan"/>
          <p:cNvSpPr txBox="1"/>
          <p:nvPr/>
        </p:nvSpPr>
        <p:spPr>
          <a:xfrm>
            <a:off x="502920" y="694944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3200" b="1">
                <a:solidFill>
                  <a:srgbClr val="142A43"/>
                </a:solidFill>
                <a:latin typeface="Liberation Sans"/>
              </a:defRPr>
            </a:pPr>
            <a:r>
              <a:t>Recorded Task 1: the actual backing file changed</a:t>
            </a:r>
          </a:p>
        </p:txBody>
      </p:sp>
      <p:sp>
        <p:nvSpPr>
          <p:cNvPr id="5" name="Text: fresh-t1-01 • 30-second limit • 0 integer ela"/>
          <p:cNvSpPr txBox="1"/>
          <p:nvPr/>
        </p:nvSpPr>
        <p:spPr>
          <a:xfrm>
            <a:off x="521207" y="1353312"/>
            <a:ext cx="1097280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700" b="0">
                <a:solidFill>
                  <a:srgbClr val="526175"/>
                </a:solidFill>
                <a:latin typeface="Liberation Sans"/>
              </a:defRPr>
            </a:pPr>
            <a:r>
              <a:t>fresh-t1-01 • 30-second limit • 0 integer elapsed seconds • no finer runtime or attempt count measured</a:t>
            </a:r>
          </a:p>
        </p:txBody>
      </p:sp>
      <p:sp>
        <p:nvSpPr>
          <p:cNvPr id="6" name="Text: SEED Dirty COW • Wenliang Du / SEED Labs • Re"/>
          <p:cNvSpPr txBox="1"/>
          <p:nvPr/>
        </p:nvSpPr>
        <p:spPr>
          <a:xfrm>
            <a:off x="512064" y="6464808"/>
            <a:ext cx="1051560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900" b="0">
                <a:solidFill>
                  <a:srgbClr val="526175"/>
                </a:solidFill>
                <a:latin typeface="Liberation Sans"/>
              </a:defRPr>
            </a:pPr>
            <a:r>
              <a:t>SEED Dirty COW • Wenliang Du / SEED Labs • Recorded findings: 9 Oct 2026</a:t>
            </a:r>
          </a:p>
        </p:txBody>
      </p:sp>
      <p:sp>
        <p:nvSpPr>
          <p:cNvPr id="7" name="Text: 7"/>
          <p:cNvSpPr txBox="1"/>
          <p:nvPr/>
        </p:nvSpPr>
        <p:spPr>
          <a:xfrm>
            <a:off x="11155680" y="6419088"/>
            <a:ext cx="50292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200" b="1">
                <a:solidFill>
                  <a:srgbClr val="087E8B"/>
                </a:solidFill>
                <a:latin typeface="Liberation Sans"/>
              </a:defRPr>
            </a:pPr>
            <a:r>
              <a:t>7</a:t>
            </a:r>
          </a:p>
        </p:txBody>
      </p:sp>
      <p:pic>
        <p:nvPicPr>
          <p:cNvPr id="8" name="Picture 7" descr="report-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399" y="2011680"/>
            <a:ext cx="10381297" cy="3977639"/>
          </a:xfrm>
          <a:prstGeom prst="rect">
            <a:avLst/>
          </a:prstGeom>
        </p:spPr>
      </p:pic>
      <p:sp>
        <p:nvSpPr>
          <p:cNvPr id="9" name="Text: S07 readability excerpt: complete diff, fresh"/>
          <p:cNvSpPr txBox="1"/>
          <p:nvPr/>
        </p:nvSpPr>
        <p:spPr>
          <a:xfrm>
            <a:off x="786384" y="6053328"/>
            <a:ext cx="106070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300" b="0">
                <a:solidFill>
                  <a:srgbClr val="526175"/>
                </a:solidFill>
                <a:latin typeface="Liberation Sans"/>
              </a:defRPr>
            </a:pPr>
            <a:r>
              <a:t>S07 readability excerpt: complete diff, fresh read, root:root 0644 / 19 bytes and exact-byte comparison.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09728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ISSD  /  MEMBER 6  /  BACKUP — ACCOUNT DIFF"/>
          <p:cNvSpPr txBox="1"/>
          <p:nvPr/>
        </p:nvSpPr>
        <p:spPr>
          <a:xfrm>
            <a:off x="502920" y="283464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000" b="1">
                <a:solidFill>
                  <a:srgbClr val="087E8B"/>
                </a:solidFill>
                <a:latin typeface="Liberation Sans"/>
              </a:defRPr>
            </a:pPr>
            <a:r>
              <a:t>ISSD  /  MEMBER 6  /  BACKUP — ACCOUNT DIFF</a:t>
            </a:r>
          </a:p>
        </p:txBody>
      </p:sp>
      <p:sp>
        <p:nvSpPr>
          <p:cNvPr id="4" name="Text: Recorded Task 2: exact UID-only replacement"/>
          <p:cNvSpPr txBox="1"/>
          <p:nvPr/>
        </p:nvSpPr>
        <p:spPr>
          <a:xfrm>
            <a:off x="502920" y="694944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3200" b="1">
                <a:solidFill>
                  <a:srgbClr val="142A43"/>
                </a:solidFill>
                <a:latin typeface="Liberation Sans"/>
              </a:defRPr>
            </a:pPr>
            <a:r>
              <a:t>Recorded Task 2: exact UID-only replacement</a:t>
            </a:r>
          </a:p>
        </p:txBody>
      </p:sp>
      <p:sp>
        <p:nvSpPr>
          <p:cNvPr id="5" name="Text: One ordinary-seed trial. 2040 bytes before an"/>
          <p:cNvSpPr txBox="1"/>
          <p:nvPr/>
        </p:nvSpPr>
        <p:spPr>
          <a:xfrm>
            <a:off x="521207" y="1353312"/>
            <a:ext cx="1097280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700" b="0">
                <a:solidFill>
                  <a:srgbClr val="526175"/>
                </a:solidFill>
                <a:latin typeface="Liberation Sans"/>
              </a:defRPr>
            </a:pPr>
            <a:r>
              <a:t>One ordinary-seed trial. 2040 bytes before and after; four-character UID field at byte offset 2002.</a:t>
            </a:r>
          </a:p>
        </p:txBody>
      </p:sp>
      <p:sp>
        <p:nvSpPr>
          <p:cNvPr id="6" name="Text: SEED Dirty COW • Wenliang Du / SEED Labs • Re"/>
          <p:cNvSpPr txBox="1"/>
          <p:nvPr/>
        </p:nvSpPr>
        <p:spPr>
          <a:xfrm>
            <a:off x="512064" y="6464808"/>
            <a:ext cx="1051560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900" b="0">
                <a:solidFill>
                  <a:srgbClr val="526175"/>
                </a:solidFill>
                <a:latin typeface="Liberation Sans"/>
              </a:defRPr>
            </a:pPr>
            <a:r>
              <a:t>SEED Dirty COW • Wenliang Du / SEED Labs • Recorded findings: 9 Oct 2026</a:t>
            </a:r>
          </a:p>
        </p:txBody>
      </p:sp>
      <p:sp>
        <p:nvSpPr>
          <p:cNvPr id="7" name="Text: 8"/>
          <p:cNvSpPr txBox="1"/>
          <p:nvPr/>
        </p:nvSpPr>
        <p:spPr>
          <a:xfrm>
            <a:off x="11155680" y="6419088"/>
            <a:ext cx="50292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200" b="1">
                <a:solidFill>
                  <a:srgbClr val="087E8B"/>
                </a:solidFill>
                <a:latin typeface="Liberation Sans"/>
              </a:defRPr>
            </a:pPr>
            <a:r>
              <a:t>8</a:t>
            </a:r>
          </a:p>
        </p:txBody>
      </p:sp>
      <p:pic>
        <p:nvPicPr>
          <p:cNvPr id="8" name="Picture 7" descr="report-S09-di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916" y="1984248"/>
            <a:ext cx="10133407" cy="4041648"/>
          </a:xfrm>
          <a:prstGeom prst="rect">
            <a:avLst/>
          </a:prstGeom>
        </p:spPr>
      </p:pic>
      <p:sp>
        <p:nvSpPr>
          <p:cNvPr id="9" name="Text: S09b: live file equals the saved after-copy; "/>
          <p:cNvSpPr txBox="1"/>
          <p:nvPr/>
        </p:nvSpPr>
        <p:spPr>
          <a:xfrm>
            <a:off x="786384" y="6062472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300" b="0">
                <a:solidFill>
                  <a:srgbClr val="526175"/>
                </a:solidFill>
                <a:latin typeface="Liberation Sans"/>
              </a:defRPr>
            </a:pPr>
            <a:r>
              <a:t>S09b: live file equals the saved after-copy; full-file verification separately confirms no other changes.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09728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ISSD  /  MEMBER 6  /  BACKUP — RESTORATION"/>
          <p:cNvSpPr txBox="1"/>
          <p:nvPr/>
        </p:nvSpPr>
        <p:spPr>
          <a:xfrm>
            <a:off x="502920" y="283464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000" b="1">
                <a:solidFill>
                  <a:srgbClr val="087E8B"/>
                </a:solidFill>
                <a:latin typeface="Liberation Sans"/>
              </a:defRPr>
            </a:pPr>
            <a:r>
              <a:t>ISSD  /  MEMBER 6  /  BACKUP — RESTORATION</a:t>
            </a:r>
          </a:p>
        </p:txBody>
      </p:sp>
      <p:sp>
        <p:nvSpPr>
          <p:cNvPr id="4" name="Text: Restoration is a fresh-login check too"/>
          <p:cNvSpPr txBox="1"/>
          <p:nvPr/>
        </p:nvSpPr>
        <p:spPr>
          <a:xfrm>
            <a:off x="502920" y="694944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3200" b="1">
                <a:solidFill>
                  <a:srgbClr val="142A43"/>
                </a:solidFill>
                <a:latin typeface="Liberation Sans"/>
              </a:defRPr>
            </a:pPr>
            <a:r>
              <a:t>Restoration is a fresh-login check too</a:t>
            </a:r>
          </a:p>
        </p:txBody>
      </p:sp>
      <p:sp>
        <p:nvSpPr>
          <p:cNvPr id="5" name="Text: Proof shell PID 3392 was exited first. Exact "/>
          <p:cNvSpPr txBox="1"/>
          <p:nvPr/>
        </p:nvSpPr>
        <p:spPr>
          <a:xfrm>
            <a:off x="521207" y="1353312"/>
            <a:ext cx="1097280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700" b="0">
                <a:solidFill>
                  <a:srgbClr val="526175"/>
                </a:solidFill>
                <a:latin typeface="Liberation Sans"/>
              </a:defRPr>
            </a:pPr>
            <a:r>
              <a:t>Proof shell PID 3392 was exited first. Exact normal bytes and a new ordinary login both passed.</a:t>
            </a:r>
          </a:p>
        </p:txBody>
      </p:sp>
      <p:sp>
        <p:nvSpPr>
          <p:cNvPr id="6" name="Text: SEED Dirty COW • Wenliang Du / SEED Labs • Re"/>
          <p:cNvSpPr txBox="1"/>
          <p:nvPr/>
        </p:nvSpPr>
        <p:spPr>
          <a:xfrm>
            <a:off x="512064" y="6464808"/>
            <a:ext cx="1051560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900" b="0">
                <a:solidFill>
                  <a:srgbClr val="526175"/>
                </a:solidFill>
                <a:latin typeface="Liberation Sans"/>
              </a:defRPr>
            </a:pPr>
            <a:r>
              <a:t>SEED Dirty COW • Wenliang Du / SEED Labs • Recorded findings: 9 Oct 2026</a:t>
            </a:r>
          </a:p>
        </p:txBody>
      </p:sp>
      <p:sp>
        <p:nvSpPr>
          <p:cNvPr id="7" name="Text: 9"/>
          <p:cNvSpPr txBox="1"/>
          <p:nvPr/>
        </p:nvSpPr>
        <p:spPr>
          <a:xfrm>
            <a:off x="11155680" y="6419088"/>
            <a:ext cx="50292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200" b="1">
                <a:solidFill>
                  <a:srgbClr val="087E8B"/>
                </a:solidFill>
                <a:latin typeface="Liberation Sans"/>
              </a:defRPr>
            </a:pPr>
            <a:r>
              <a:t>9</a:t>
            </a:r>
          </a:p>
        </p:txBody>
      </p:sp>
      <p:pic>
        <p:nvPicPr>
          <p:cNvPr id="8" name="Picture 7" descr="report-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880" y="1956816"/>
            <a:ext cx="9118046" cy="4050791"/>
          </a:xfrm>
          <a:prstGeom prst="rect">
            <a:avLst/>
          </a:prstGeom>
        </p:spPr>
      </p:pic>
      <p:sp>
        <p:nvSpPr>
          <p:cNvPr id="9" name="Text: S11 excerpt. Existing process credentials sur"/>
          <p:cNvSpPr txBox="1"/>
          <p:nvPr/>
        </p:nvSpPr>
        <p:spPr>
          <a:xfrm>
            <a:off x="795528" y="6071616"/>
            <a:ext cx="10561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300" b="0">
                <a:solidFill>
                  <a:srgbClr val="526175"/>
                </a:solidFill>
                <a:latin typeface="Liberation Sans"/>
              </a:defRPr>
            </a:pPr>
            <a:r>
              <a:t>S11 excerpt. Existing process credentials survive file edits; close privileged shells before restoration.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09728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ISSD  /  MEMBER 6  /  BACKUP — REFERENCES"/>
          <p:cNvSpPr txBox="1"/>
          <p:nvPr/>
        </p:nvSpPr>
        <p:spPr>
          <a:xfrm>
            <a:off x="502920" y="283464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000" b="1">
                <a:solidFill>
                  <a:srgbClr val="087E8B"/>
                </a:solidFill>
                <a:latin typeface="Liberation Sans"/>
              </a:defRPr>
            </a:pPr>
            <a:r>
              <a:t>ISSD  /  MEMBER 6  /  BACKUP — REFERENCES</a:t>
            </a:r>
          </a:p>
        </p:txBody>
      </p:sp>
      <p:sp>
        <p:nvSpPr>
          <p:cNvPr id="4" name="Text: Sources, evidence and assistance"/>
          <p:cNvSpPr txBox="1"/>
          <p:nvPr/>
        </p:nvSpPr>
        <p:spPr>
          <a:xfrm>
            <a:off x="502920" y="694944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3200" b="1">
                <a:solidFill>
                  <a:srgbClr val="142A43"/>
                </a:solidFill>
                <a:latin typeface="Liberation Sans"/>
              </a:defRPr>
            </a:pPr>
            <a:r>
              <a:t>Sources, evidence and assistance</a:t>
            </a:r>
          </a:p>
        </p:txBody>
      </p:sp>
      <p:sp>
        <p:nvSpPr>
          <p:cNvPr id="5" name="Text: Completed practical evidence is distinct from"/>
          <p:cNvSpPr txBox="1"/>
          <p:nvPr/>
        </p:nvSpPr>
        <p:spPr>
          <a:xfrm>
            <a:off x="521207" y="1353312"/>
            <a:ext cx="1097280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700" b="0">
                <a:solidFill>
                  <a:srgbClr val="526175"/>
                </a:solidFill>
                <a:latin typeface="Liberation Sans"/>
              </a:defRPr>
            </a:pPr>
            <a:r>
              <a:t>Completed practical evidence is distinct from the future classroom demonstration.</a:t>
            </a:r>
          </a:p>
        </p:txBody>
      </p:sp>
      <p:sp>
        <p:nvSpPr>
          <p:cNvPr id="6" name="Text: SEED Dirty COW • Wenliang Du / SEED Labs • Re"/>
          <p:cNvSpPr txBox="1"/>
          <p:nvPr/>
        </p:nvSpPr>
        <p:spPr>
          <a:xfrm>
            <a:off x="512064" y="6464808"/>
            <a:ext cx="1051560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900" b="0">
                <a:solidFill>
                  <a:srgbClr val="526175"/>
                </a:solidFill>
                <a:latin typeface="Liberation Sans"/>
              </a:defRPr>
            </a:pPr>
            <a:r>
              <a:t>SEED Dirty COW • Wenliang Du / SEED Labs • Recorded findings: 9 Oct 2026</a:t>
            </a:r>
          </a:p>
        </p:txBody>
      </p:sp>
      <p:sp>
        <p:nvSpPr>
          <p:cNvPr id="7" name="Text: 10"/>
          <p:cNvSpPr txBox="1"/>
          <p:nvPr/>
        </p:nvSpPr>
        <p:spPr>
          <a:xfrm>
            <a:off x="11155680" y="6419088"/>
            <a:ext cx="50292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200" b="1">
                <a:solidFill>
                  <a:srgbClr val="087E8B"/>
                </a:solidFill>
                <a:latin typeface="Liberation Sans"/>
              </a:defRPr>
            </a:pPr>
            <a:r>
              <a:t>10</a:t>
            </a:r>
          </a:p>
        </p:txBody>
      </p:sp>
      <p:sp>
        <p:nvSpPr>
          <p:cNvPr id="8" name="Text: Wenliang Du / SEED Labs — Dirty COW Attack La"/>
          <p:cNvSpPr txBox="1"/>
          <p:nvPr/>
        </p:nvSpPr>
        <p:spPr>
          <a:xfrm>
            <a:off x="777240" y="2066543"/>
            <a:ext cx="10661904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2200" b="0">
                <a:solidFill>
                  <a:srgbClr val="142A43"/>
                </a:solidFill>
                <a:latin typeface="Liberation Sans"/>
              </a:defRPr>
            </a:pPr>
            <a:r>
              <a:t>Wenliang Du / SEED Labs — Dirty COW Attack Lab (2017)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200" b="0">
                <a:solidFill>
                  <a:srgbClr val="142A43"/>
                </a:solidFill>
                <a:latin typeface="Liberation Sans"/>
              </a:defRPr>
            </a:pPr>
            <a:r>
              <a:t>seedsecuritylabs.org/Labs_20.04/Software/Dirty_COW/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200" b="0">
                <a:solidFill>
                  <a:srgbClr val="142A43"/>
                </a:solidFill>
                <a:latin typeface="Liberation Sans"/>
              </a:defRPr>
            </a:pPr>
            <a:r>
              <a:t>Historical SEED12 manual • mmap(2) • madvise(2) • proc_pid_mem(5)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200" b="0">
                <a:solidFill>
                  <a:srgbClr val="142A43"/>
                </a:solidFill>
                <a:latin typeface="Liberation Sans"/>
              </a:defRPr>
            </a:pPr>
            <a:r>
              <a:t>Ubuntu CVE-2016-5195 information • supplied Member 6 allocation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90288"/>
            <a:ext cx="10780776" cy="740664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REPORT.pdf   |   LIVE_DEMO.pdf   |   SLIDE_NO"/>
          <p:cNvSpPr txBox="1"/>
          <p:nvPr/>
        </p:nvSpPr>
        <p:spPr>
          <a:xfrm>
            <a:off x="950976" y="4782312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800" b="1">
                <a:solidFill>
                  <a:srgbClr val="087E8B"/>
                </a:solidFill>
                <a:latin typeface="Liberation Sans"/>
              </a:defRPr>
            </a:pPr>
            <a:r>
              <a:t>REPORT.pdf   |   LIVE_DEMO.pdf   |   SLIDE_NOTES.pdf   |   video/TASK2_FALLBACK.mp4</a:t>
            </a:r>
          </a:p>
        </p:txBody>
      </p:sp>
      <p:sp>
        <p:nvSpPr>
          <p:cNvPr id="11" name="Text: CC BY-NC-SA 4.0 attribution retained. GPT-6 A"/>
          <p:cNvSpPr txBox="1"/>
          <p:nvPr/>
        </p:nvSpPr>
        <p:spPr>
          <a:xfrm>
            <a:off x="795528" y="5586984"/>
            <a:ext cx="1057960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500" b="0">
                <a:solidFill>
                  <a:srgbClr val="526175"/>
                </a:solidFill>
                <a:latin typeface="Liberation Sans"/>
              </a:defRPr>
            </a:pPr>
            <a:r>
              <a:t>CC BY-NC-SA 4.0 attribution retained. GPT-6 Astra / OpenCode assisted execution and preparation;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500" b="0">
                <a:solidFill>
                  <a:srgbClr val="526175"/>
                </a:solidFill>
                <a:latin typeface="Liberation Sans"/>
              </a:defRPr>
            </a:pPr>
            <a:r>
              <a:t>authentication was interactive. No oral rehearsal or course upload is claimed.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Dirty COW — findings and live demonstration</dc:title>
  <dc:subject>Six main slides plus four evidence/reference backups; recorded findings 9 October 2026</dc:subject>
  <dc:creator>Member 6 — ISSD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